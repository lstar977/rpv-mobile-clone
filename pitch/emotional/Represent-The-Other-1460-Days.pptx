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aloud. Let it sit while you greet the room, then begin with the school gym.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hopeful thing I have ever seen happens in a school gym, every four years. People line up to vote — and everybody in that line knows it probably changes nothing. They show up anyway. Billions of them, around the world. Each carrying the same small, stubborn hope: maybe this time, my life gets a little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doors close. And the next morning, every single one of them goes back to being a spectator — for four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all know what those four years feel like, because we live them. Everything gets more expensive. Everything gets harder. Groceries, rent, a house your kids will never afford. Maybe it is incompetence, maybe it is malice — honestly, it does not matter which. The result is identical: decisions land on your life, and nobody asked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when you try to be heard, every door ends the same way. Write your representative — form letter. Sign a petition — could be bots. Go to a protest — a loud minority, waved off. Every channel a person has leads to the same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this slide. Then: You get one day every four years. We built the other one thousand, four hundred and sixty.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 is live on the App Store right now. But forget the technology — we have had this technology for twenty-five years. Here is what it actually is: a mom in Calgary deciding whether her kid’s school gets built, from her kitchen table, on a Tuesday night. Verified as one real person, counted once, on a public record. And a feeling most people have never had: being asked. Being asked feels like being respected.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time this city dared to ask its people one question — the 2018 Olympic plebiscite — the vote cost 2.2 million dollars, the process took the better part of three years, and the infrastructure was dismantled the next day. On Represent, that question is free, and it closes by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am I doing this? Because I believe something our entire system quietly does not: when people get the chance to decide for themselves, they choose good. Not every person, not every time. But the majority, over time, chooses good. Every civilization that collapsed, collapsed on decisions ordinary people would never have made — and in every one of them, the good people were the majority. They just never had an instrument. Everything about how we are governed assumes people cannot be trusted with decisions. Represent is the opposite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asking anyone to fund an app. We are asking them to help prove that the majority chooses good — because if that is true, everything about how we govern ourselves changes. Every generation before us wanted this. We are the first one that can actually build it. It exists. It is live. It is small. Help us make it inevitable.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01 / 10</a:t>
            </a:r>
            <a:endParaRPr lang="en-US" sz="1000" dirty="0"/>
          </a:p>
        </p:txBody>
      </p:sp>
      <p:pic>
        <p:nvPicPr>
          <p:cNvPr id="5" name="Image 0" descr="preencoded.png">    </p:cNvPr>
          <p:cNvPicPr>
            <a:picLocks noChangeAspect="1"/>
          </p:cNvPicPr>
          <p:nvPr/>
        </p:nvPicPr>
        <p:blipFill>
          <a:blip r:embed="rId1"/>
          <a:stretch>
            <a:fillRect/>
          </a:stretch>
        </p:blipFill>
        <p:spPr>
          <a:xfrm>
            <a:off x="822960" y="1371600"/>
            <a:ext cx="777240" cy="777240"/>
          </a:xfrm>
          <a:prstGeom prst="rect">
            <a:avLst/>
          </a:prstGeom>
        </p:spPr>
      </p:pic>
      <p:sp>
        <p:nvSpPr>
          <p:cNvPr id="6" name="Text 2"/>
          <p:cNvSpPr txBox="1"/>
          <p:nvPr/>
        </p:nvSpPr>
        <p:spPr>
          <a:xfrm>
            <a:off x="822960" y="2514600"/>
            <a:ext cx="10545775" cy="2926080"/>
          </a:xfrm>
          <a:prstGeom prst="rect">
            <a:avLst/>
          </a:prstGeom>
          <a:noFill/>
          <a:ln/>
        </p:spPr>
        <p:txBody>
          <a:bodyPr wrap="square" lIns="0" tIns="0" rIns="0" bIns="0" rtlCol="0" anchor="t"/>
          <a:lstStyle/>
          <a:p>
            <a:pPr algn="l" indent="0" marL="0">
              <a:lnSpc>
                <a:spcPct val="118000"/>
              </a:lnSpc>
              <a:buNone/>
            </a:pPr>
            <a:r>
              <a:rPr lang="en-US" sz="5200" dirty="0">
                <a:solidFill>
                  <a:srgbClr val="F4F5F6"/>
                </a:solidFill>
                <a:latin typeface="Cambria" pitchFamily="34" charset="0"/>
                <a:ea typeface="Cambria" pitchFamily="34" charset="-122"/>
                <a:cs typeface="Cambria" pitchFamily="34" charset="-120"/>
              </a:rPr>
              <a:t>A bet on the goodness</a:t>
            </a:r>
            <a:endParaRPr lang="en-US" sz="5200" dirty="0"/>
          </a:p>
          <a:p>
            <a:pPr algn="l" indent="0" marL="0">
              <a:lnSpc>
                <a:spcPct val="118000"/>
              </a:lnSpc>
              <a:buNone/>
            </a:pPr>
            <a:r>
              <a:rPr lang="en-US" sz="5200" dirty="0">
                <a:solidFill>
                  <a:srgbClr val="F4F5F6"/>
                </a:solidFill>
                <a:latin typeface="Cambria" pitchFamily="34" charset="0"/>
                <a:ea typeface="Cambria" pitchFamily="34" charset="-122"/>
                <a:cs typeface="Cambria" pitchFamily="34" charset="-120"/>
              </a:rPr>
              <a:t>of ordinary people.</a:t>
            </a:r>
            <a:endParaRPr lang="en-US" sz="5200" dirty="0"/>
          </a:p>
        </p:txBody>
      </p:sp>
      <p:sp>
        <p:nvSpPr>
          <p:cNvPr id="7" name="Text 3"/>
          <p:cNvSpPr txBox="1"/>
          <p:nvPr/>
        </p:nvSpPr>
        <p:spPr>
          <a:xfrm>
            <a:off x="822960" y="5074920"/>
            <a:ext cx="7315200" cy="292608"/>
          </a:xfrm>
          <a:prstGeom prst="rect">
            <a:avLst/>
          </a:prstGeom>
          <a:noFill/>
          <a:ln/>
        </p:spPr>
        <p:txBody>
          <a:bodyPr wrap="square" lIns="0" tIns="0" rIns="0" bIns="0" rtlCol="0" anchor="ctr"/>
          <a:lstStyle/>
          <a:p>
            <a:pPr indent="0" marL="0">
              <a:buNone/>
            </a:pPr>
            <a:r>
              <a:rPr lang="en-US" sz="1200" spc="400" kern="0" dirty="0">
                <a:solidFill>
                  <a:srgbClr val="7A7D7E"/>
                </a:solidFill>
                <a:latin typeface="Courier New" pitchFamily="34" charset="0"/>
                <a:ea typeface="Courier New" pitchFamily="34" charset="-122"/>
                <a:cs typeface="Courier New" pitchFamily="34" charset="-120"/>
              </a:rPr>
              <a:t>REPRESENT · A PITCH BY LANCE MORRISON</a:t>
            </a:r>
            <a:endParaRPr lang="en-US" sz="1200" dirty="0"/>
          </a:p>
        </p:txBody>
      </p:sp>
      <p:sp>
        <p:nvSpPr>
          <p:cNvPr id="8" name="Shape 4"/>
          <p:cNvSpPr/>
          <p:nvPr/>
        </p:nvSpPr>
        <p:spPr>
          <a:xfrm>
            <a:off x="822960" y="5623560"/>
            <a:ext cx="155448" cy="155448"/>
          </a:xfrm>
          <a:prstGeom prst="ellipse">
            <a:avLst/>
          </a:prstGeom>
          <a:solidFill>
            <a:srgbClr val="EABA58"/>
          </a:solidFill>
          <a:ln/>
        </p:spPr>
      </p:sp>
      <p:sp>
        <p:nvSpPr>
          <p:cNvPr id="9" name="Shape 5"/>
          <p:cNvSpPr/>
          <p:nvPr/>
        </p:nvSpPr>
        <p:spPr>
          <a:xfrm>
            <a:off x="1106424" y="5623560"/>
            <a:ext cx="155448" cy="155448"/>
          </a:xfrm>
          <a:prstGeom prst="ellipse">
            <a:avLst/>
          </a:prstGeom>
          <a:solidFill>
            <a:srgbClr val="EABA58"/>
          </a:solidFill>
          <a:ln/>
        </p:spPr>
      </p:sp>
      <p:sp>
        <p:nvSpPr>
          <p:cNvPr id="10" name="Shape 6"/>
          <p:cNvSpPr/>
          <p:nvPr/>
        </p:nvSpPr>
        <p:spPr>
          <a:xfrm>
            <a:off x="1389888" y="5623560"/>
            <a:ext cx="155448" cy="155448"/>
          </a:xfrm>
          <a:prstGeom prst="ellipse">
            <a:avLst/>
          </a:prstGeom>
          <a:solidFill>
            <a:srgbClr val="EABA58"/>
          </a:solidFill>
          <a:ln/>
        </p:spPr>
      </p:sp>
      <p:sp>
        <p:nvSpPr>
          <p:cNvPr id="11" name="Shape 7"/>
          <p:cNvSpPr/>
          <p:nvPr/>
        </p:nvSpPr>
        <p:spPr>
          <a:xfrm>
            <a:off x="1673352" y="5623560"/>
            <a:ext cx="155448" cy="155448"/>
          </a:xfrm>
          <a:prstGeom prst="ellipse">
            <a:avLst/>
          </a:prstGeom>
          <a:solidFill>
            <a:srgbClr val="EABA58"/>
          </a:solidFill>
          <a:ln/>
        </p:spPr>
      </p:sp>
      <p:sp>
        <p:nvSpPr>
          <p:cNvPr id="12" name="Shape 8"/>
          <p:cNvSpPr/>
          <p:nvPr/>
        </p:nvSpPr>
        <p:spPr>
          <a:xfrm>
            <a:off x="1956816" y="5623560"/>
            <a:ext cx="155448" cy="155448"/>
          </a:xfrm>
          <a:prstGeom prst="ellipse">
            <a:avLst/>
          </a:prstGeom>
          <a:solidFill>
            <a:srgbClr val="EABA58"/>
          </a:solidFill>
          <a:ln/>
        </p:spPr>
      </p:sp>
      <p:sp>
        <p:nvSpPr>
          <p:cNvPr id="13" name="Shape 9"/>
          <p:cNvSpPr/>
          <p:nvPr/>
        </p:nvSpPr>
        <p:spPr>
          <a:xfrm>
            <a:off x="2240280" y="5623560"/>
            <a:ext cx="155448" cy="155448"/>
          </a:xfrm>
          <a:prstGeom prst="ellipse">
            <a:avLst/>
          </a:prstGeom>
          <a:solidFill>
            <a:srgbClr val="EABA58"/>
          </a:solidFill>
          <a:ln/>
        </p:spPr>
      </p:sp>
      <p:sp>
        <p:nvSpPr>
          <p:cNvPr id="14" name="Shape 10"/>
          <p:cNvSpPr/>
          <p:nvPr/>
        </p:nvSpPr>
        <p:spPr>
          <a:xfrm>
            <a:off x="2523744" y="5623560"/>
            <a:ext cx="155448" cy="155448"/>
          </a:xfrm>
          <a:prstGeom prst="ellipse">
            <a:avLst/>
          </a:prstGeom>
          <a:solidFill>
            <a:srgbClr val="EABA58"/>
          </a:solidFill>
          <a:ln/>
        </p:spPr>
      </p:sp>
      <p:sp>
        <p:nvSpPr>
          <p:cNvPr id="15" name="Shape 11"/>
          <p:cNvSpPr/>
          <p:nvPr/>
        </p:nvSpPr>
        <p:spPr>
          <a:xfrm>
            <a:off x="2807208" y="5623560"/>
            <a:ext cx="155448" cy="155448"/>
          </a:xfrm>
          <a:prstGeom prst="ellipse">
            <a:avLst/>
          </a:prstGeom>
          <a:solidFill>
            <a:srgbClr val="EABA58"/>
          </a:solidFill>
          <a:ln/>
        </p:spPr>
      </p:sp>
      <p:sp>
        <p:nvSpPr>
          <p:cNvPr id="16" name="Shape 12"/>
          <p:cNvSpPr/>
          <p:nvPr/>
        </p:nvSpPr>
        <p:spPr>
          <a:xfrm>
            <a:off x="3090672" y="5623560"/>
            <a:ext cx="155448" cy="155448"/>
          </a:xfrm>
          <a:prstGeom prst="ellipse">
            <a:avLst/>
          </a:prstGeom>
          <a:solidFill>
            <a:srgbClr val="EABA58"/>
          </a:solidFill>
          <a:ln/>
        </p:spPr>
      </p:sp>
      <p:sp>
        <p:nvSpPr>
          <p:cNvPr id="17" name="Shape 13"/>
          <p:cNvSpPr/>
          <p:nvPr/>
        </p:nvSpPr>
        <p:spPr>
          <a:xfrm>
            <a:off x="3374136" y="5623560"/>
            <a:ext cx="155448" cy="155448"/>
          </a:xfrm>
          <a:prstGeom prst="ellipse">
            <a:avLst/>
          </a:prstGeom>
          <a:solidFill>
            <a:srgbClr val="EABA5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02 / 10</a:t>
            </a:r>
            <a:endParaRPr lang="en-US" sz="1000" dirty="0"/>
          </a:p>
        </p:txBody>
      </p:sp>
      <p:sp>
        <p:nvSpPr>
          <p:cNvPr id="5" name="Text 2"/>
          <p:cNvSpPr txBox="1"/>
          <p:nvPr/>
        </p:nvSpPr>
        <p:spPr>
          <a:xfrm>
            <a:off x="822960" y="1234440"/>
            <a:ext cx="10545775" cy="310896"/>
          </a:xfrm>
          <a:prstGeom prst="rect">
            <a:avLst/>
          </a:prstGeom>
          <a:noFill/>
          <a:ln/>
        </p:spPr>
        <p:txBody>
          <a:bodyPr wrap="square" lIns="0" tIns="0" rIns="0" bIns="0" rtlCol="0" anchor="ctr"/>
          <a:lstStyle/>
          <a:p>
            <a:pPr algn="l" indent="0" marL="0">
              <a:buNone/>
            </a:pPr>
            <a:r>
              <a:rPr lang="en-US" sz="1300" spc="500" kern="0" dirty="0">
                <a:solidFill>
                  <a:srgbClr val="EABA58"/>
                </a:solidFill>
                <a:latin typeface="Courier New" pitchFamily="34" charset="0"/>
                <a:ea typeface="Courier New" pitchFamily="34" charset="-122"/>
                <a:cs typeface="Courier New" pitchFamily="34" charset="-120"/>
              </a:rPr>
              <a:t>EVERY FOUR YEARS</a:t>
            </a:r>
            <a:endParaRPr lang="en-US" sz="1300" dirty="0"/>
          </a:p>
        </p:txBody>
      </p:sp>
      <p:sp>
        <p:nvSpPr>
          <p:cNvPr id="6" name="Text 3"/>
          <p:cNvSpPr txBox="1"/>
          <p:nvPr/>
        </p:nvSpPr>
        <p:spPr>
          <a:xfrm>
            <a:off x="822960" y="1920240"/>
            <a:ext cx="10545775" cy="2926080"/>
          </a:xfrm>
          <a:prstGeom prst="rect">
            <a:avLst/>
          </a:prstGeom>
          <a:noFill/>
          <a:ln/>
        </p:spPr>
        <p:txBody>
          <a:bodyPr wrap="square" lIns="0" tIns="0" rIns="0" bIns="0" rtlCol="0" anchor="t"/>
          <a:lstStyle/>
          <a:p>
            <a:pPr algn="l" indent="0" marL="0">
              <a:lnSpc>
                <a:spcPct val="118000"/>
              </a:lnSpc>
              <a:buNone/>
            </a:pPr>
            <a:r>
              <a:rPr lang="en-US" sz="4200" dirty="0">
                <a:solidFill>
                  <a:srgbClr val="F4F5F6"/>
                </a:solidFill>
                <a:latin typeface="Cambria" pitchFamily="34" charset="0"/>
                <a:ea typeface="Cambria" pitchFamily="34" charset="-122"/>
                <a:cs typeface="Cambria" pitchFamily="34" charset="-120"/>
              </a:rPr>
              <a:t>Everybody in that line knows it changes nothing.</a:t>
            </a:r>
            <a:endParaRPr lang="en-US" sz="4200" dirty="0"/>
          </a:p>
          <a:p>
            <a:pPr algn="l" indent="0" marL="0">
              <a:lnSpc>
                <a:spcPct val="118000"/>
              </a:lnSpc>
              <a:buNone/>
            </a:pPr>
            <a:r>
              <a:rPr lang="en-US" sz="4200" dirty="0">
                <a:solidFill>
                  <a:srgbClr val="EABA58"/>
                </a:solidFill>
                <a:latin typeface="Cambria" pitchFamily="34" charset="0"/>
                <a:ea typeface="Cambria" pitchFamily="34" charset="-122"/>
                <a:cs typeface="Cambria" pitchFamily="34" charset="-120"/>
              </a:rPr>
              <a:t>They show up anyway.</a:t>
            </a:r>
            <a:endParaRPr lang="en-US" sz="4200" dirty="0"/>
          </a:p>
        </p:txBody>
      </p:sp>
      <p:sp>
        <p:nvSpPr>
          <p:cNvPr id="7" name="Shape 4"/>
          <p:cNvSpPr/>
          <p:nvPr/>
        </p:nvSpPr>
        <p:spPr>
          <a:xfrm>
            <a:off x="822960" y="5120640"/>
            <a:ext cx="155448" cy="155448"/>
          </a:xfrm>
          <a:prstGeom prst="ellipse">
            <a:avLst/>
          </a:prstGeom>
          <a:solidFill>
            <a:srgbClr val="EABA58"/>
          </a:solidFill>
          <a:ln/>
        </p:spPr>
      </p:sp>
      <p:sp>
        <p:nvSpPr>
          <p:cNvPr id="8" name="Shape 5"/>
          <p:cNvSpPr/>
          <p:nvPr/>
        </p:nvSpPr>
        <p:spPr>
          <a:xfrm>
            <a:off x="1106424" y="5120640"/>
            <a:ext cx="155448" cy="155448"/>
          </a:xfrm>
          <a:prstGeom prst="ellipse">
            <a:avLst/>
          </a:prstGeom>
          <a:solidFill>
            <a:srgbClr val="3A3F40"/>
          </a:solidFill>
          <a:ln/>
        </p:spPr>
      </p:sp>
      <p:sp>
        <p:nvSpPr>
          <p:cNvPr id="9" name="Shape 6"/>
          <p:cNvSpPr/>
          <p:nvPr/>
        </p:nvSpPr>
        <p:spPr>
          <a:xfrm>
            <a:off x="1389888" y="5120640"/>
            <a:ext cx="155448" cy="155448"/>
          </a:xfrm>
          <a:prstGeom prst="ellipse">
            <a:avLst/>
          </a:prstGeom>
          <a:solidFill>
            <a:srgbClr val="3A3F40"/>
          </a:solidFill>
          <a:ln/>
        </p:spPr>
      </p:sp>
      <p:sp>
        <p:nvSpPr>
          <p:cNvPr id="10" name="Shape 7"/>
          <p:cNvSpPr/>
          <p:nvPr/>
        </p:nvSpPr>
        <p:spPr>
          <a:xfrm>
            <a:off x="1673352" y="5120640"/>
            <a:ext cx="155448" cy="155448"/>
          </a:xfrm>
          <a:prstGeom prst="ellipse">
            <a:avLst/>
          </a:prstGeom>
          <a:solidFill>
            <a:srgbClr val="3A3F40"/>
          </a:solidFill>
          <a:ln/>
        </p:spPr>
      </p:sp>
      <p:sp>
        <p:nvSpPr>
          <p:cNvPr id="11" name="Shape 8"/>
          <p:cNvSpPr/>
          <p:nvPr/>
        </p:nvSpPr>
        <p:spPr>
          <a:xfrm>
            <a:off x="1956816" y="5120640"/>
            <a:ext cx="155448" cy="155448"/>
          </a:xfrm>
          <a:prstGeom prst="ellipse">
            <a:avLst/>
          </a:prstGeom>
          <a:solidFill>
            <a:srgbClr val="3A3F40"/>
          </a:solidFill>
          <a:ln/>
        </p:spPr>
      </p:sp>
      <p:sp>
        <p:nvSpPr>
          <p:cNvPr id="12" name="Shape 9"/>
          <p:cNvSpPr/>
          <p:nvPr/>
        </p:nvSpPr>
        <p:spPr>
          <a:xfrm>
            <a:off x="2240280" y="5120640"/>
            <a:ext cx="155448" cy="155448"/>
          </a:xfrm>
          <a:prstGeom prst="ellipse">
            <a:avLst/>
          </a:prstGeom>
          <a:solidFill>
            <a:srgbClr val="3A3F40"/>
          </a:solidFill>
          <a:ln/>
        </p:spPr>
      </p:sp>
      <p:sp>
        <p:nvSpPr>
          <p:cNvPr id="13" name="Shape 10"/>
          <p:cNvSpPr/>
          <p:nvPr/>
        </p:nvSpPr>
        <p:spPr>
          <a:xfrm>
            <a:off x="2523744" y="5120640"/>
            <a:ext cx="155448" cy="155448"/>
          </a:xfrm>
          <a:prstGeom prst="ellipse">
            <a:avLst/>
          </a:prstGeom>
          <a:solidFill>
            <a:srgbClr val="3A3F40"/>
          </a:solidFill>
          <a:ln/>
        </p:spPr>
      </p:sp>
      <p:sp>
        <p:nvSpPr>
          <p:cNvPr id="14" name="Shape 11"/>
          <p:cNvSpPr/>
          <p:nvPr/>
        </p:nvSpPr>
        <p:spPr>
          <a:xfrm>
            <a:off x="2807208" y="5120640"/>
            <a:ext cx="155448" cy="155448"/>
          </a:xfrm>
          <a:prstGeom prst="ellipse">
            <a:avLst/>
          </a:prstGeom>
          <a:solidFill>
            <a:srgbClr val="3A3F40"/>
          </a:solidFill>
          <a:ln/>
        </p:spPr>
      </p:sp>
      <p:sp>
        <p:nvSpPr>
          <p:cNvPr id="15" name="Shape 12"/>
          <p:cNvSpPr/>
          <p:nvPr/>
        </p:nvSpPr>
        <p:spPr>
          <a:xfrm>
            <a:off x="3090672" y="5120640"/>
            <a:ext cx="155448" cy="155448"/>
          </a:xfrm>
          <a:prstGeom prst="ellipse">
            <a:avLst/>
          </a:prstGeom>
          <a:solidFill>
            <a:srgbClr val="3A3F40"/>
          </a:solidFill>
          <a:ln/>
        </p:spPr>
      </p:sp>
      <p:sp>
        <p:nvSpPr>
          <p:cNvPr id="16" name="Shape 13"/>
          <p:cNvSpPr/>
          <p:nvPr/>
        </p:nvSpPr>
        <p:spPr>
          <a:xfrm>
            <a:off x="3374136" y="5120640"/>
            <a:ext cx="155448" cy="155448"/>
          </a:xfrm>
          <a:prstGeom prst="ellipse">
            <a:avLst/>
          </a:prstGeom>
          <a:solidFill>
            <a:srgbClr val="3A3F4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03 / 10</a:t>
            </a:r>
            <a:endParaRPr lang="en-US" sz="1000" dirty="0"/>
          </a:p>
        </p:txBody>
      </p:sp>
      <p:sp>
        <p:nvSpPr>
          <p:cNvPr id="5" name="Text 2"/>
          <p:cNvSpPr txBox="1"/>
          <p:nvPr/>
        </p:nvSpPr>
        <p:spPr>
          <a:xfrm>
            <a:off x="822960" y="1554480"/>
            <a:ext cx="3108960" cy="2377440"/>
          </a:xfrm>
          <a:prstGeom prst="rect">
            <a:avLst/>
          </a:prstGeom>
          <a:noFill/>
          <a:ln/>
        </p:spPr>
        <p:txBody>
          <a:bodyPr wrap="square" lIns="0" tIns="0" rIns="0" bIns="0" rtlCol="0" anchor="ctr"/>
          <a:lstStyle/>
          <a:p>
            <a:pPr algn="l" indent="0" marL="0">
              <a:buNone/>
            </a:pPr>
            <a:r>
              <a:rPr lang="en-US" sz="15000" dirty="0">
                <a:solidFill>
                  <a:srgbClr val="EABA58"/>
                </a:solidFill>
                <a:latin typeface="Cambria" pitchFamily="34" charset="0"/>
                <a:ea typeface="Cambria" pitchFamily="34" charset="-122"/>
                <a:cs typeface="Cambria" pitchFamily="34" charset="-120"/>
              </a:rPr>
              <a:t>1</a:t>
            </a:r>
            <a:endParaRPr lang="en-US" sz="15000" dirty="0"/>
          </a:p>
        </p:txBody>
      </p:sp>
      <p:sp>
        <p:nvSpPr>
          <p:cNvPr id="6" name="Text 3"/>
          <p:cNvSpPr txBox="1"/>
          <p:nvPr/>
        </p:nvSpPr>
        <p:spPr>
          <a:xfrm>
            <a:off x="877824" y="3977640"/>
            <a:ext cx="3657600" cy="310896"/>
          </a:xfrm>
          <a:prstGeom prst="rect">
            <a:avLst/>
          </a:prstGeom>
          <a:noFill/>
          <a:ln/>
        </p:spPr>
        <p:txBody>
          <a:bodyPr wrap="square" lIns="0" tIns="0" rIns="0" bIns="0" rtlCol="0" anchor="ctr"/>
          <a:lstStyle/>
          <a:p>
            <a:pPr indent="0" marL="0">
              <a:buNone/>
            </a:pPr>
            <a:r>
              <a:rPr lang="en-US" sz="1300" spc="400" kern="0" dirty="0">
                <a:solidFill>
                  <a:srgbClr val="B8BABB"/>
                </a:solidFill>
                <a:latin typeface="Courier New" pitchFamily="34" charset="0"/>
                <a:ea typeface="Courier New" pitchFamily="34" charset="-122"/>
                <a:cs typeface="Courier New" pitchFamily="34" charset="-120"/>
              </a:rPr>
              <a:t>DAY WITH A VOICE</a:t>
            </a:r>
            <a:endParaRPr lang="en-US" sz="1300" dirty="0"/>
          </a:p>
        </p:txBody>
      </p:sp>
      <p:sp>
        <p:nvSpPr>
          <p:cNvPr id="7" name="Text 4"/>
          <p:cNvSpPr txBox="1"/>
          <p:nvPr/>
        </p:nvSpPr>
        <p:spPr>
          <a:xfrm>
            <a:off x="5852160" y="1554480"/>
            <a:ext cx="5486400" cy="2377440"/>
          </a:xfrm>
          <a:prstGeom prst="rect">
            <a:avLst/>
          </a:prstGeom>
          <a:noFill/>
          <a:ln/>
        </p:spPr>
        <p:txBody>
          <a:bodyPr wrap="square" lIns="0" tIns="0" rIns="0" bIns="0" rtlCol="0" anchor="ctr"/>
          <a:lstStyle/>
          <a:p>
            <a:pPr algn="l" indent="0" marL="0">
              <a:buNone/>
            </a:pPr>
            <a:r>
              <a:rPr lang="en-US" sz="15000" dirty="0">
                <a:solidFill>
                  <a:srgbClr val="7A7D7E"/>
                </a:solidFill>
                <a:latin typeface="Cambria" pitchFamily="34" charset="0"/>
                <a:ea typeface="Cambria" pitchFamily="34" charset="-122"/>
                <a:cs typeface="Cambria" pitchFamily="34" charset="-120"/>
              </a:rPr>
              <a:t>1,460</a:t>
            </a:r>
            <a:endParaRPr lang="en-US" sz="15000" dirty="0"/>
          </a:p>
        </p:txBody>
      </p:sp>
      <p:sp>
        <p:nvSpPr>
          <p:cNvPr id="8" name="Text 5"/>
          <p:cNvSpPr txBox="1"/>
          <p:nvPr/>
        </p:nvSpPr>
        <p:spPr>
          <a:xfrm>
            <a:off x="5907024" y="3977640"/>
            <a:ext cx="4572000" cy="310896"/>
          </a:xfrm>
          <a:prstGeom prst="rect">
            <a:avLst/>
          </a:prstGeom>
          <a:noFill/>
          <a:ln/>
        </p:spPr>
        <p:txBody>
          <a:bodyPr wrap="square" lIns="0" tIns="0" rIns="0" bIns="0" rtlCol="0" anchor="ctr"/>
          <a:lstStyle/>
          <a:p>
            <a:pPr indent="0" marL="0">
              <a:buNone/>
            </a:pPr>
            <a:r>
              <a:rPr lang="en-US" sz="1300" spc="400" kern="0" dirty="0">
                <a:solidFill>
                  <a:srgbClr val="7A7D7E"/>
                </a:solidFill>
                <a:latin typeface="Courier New" pitchFamily="34" charset="0"/>
                <a:ea typeface="Courier New" pitchFamily="34" charset="-122"/>
                <a:cs typeface="Courier New" pitchFamily="34" charset="-120"/>
              </a:rPr>
              <a:t>DAYS AS A SPECTATOR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04 / 10</a:t>
            </a:r>
            <a:endParaRPr lang="en-US" sz="1000" dirty="0"/>
          </a:p>
        </p:txBody>
      </p:sp>
      <p:sp>
        <p:nvSpPr>
          <p:cNvPr id="5" name="Text 2"/>
          <p:cNvSpPr txBox="1"/>
          <p:nvPr/>
        </p:nvSpPr>
        <p:spPr>
          <a:xfrm>
            <a:off x="822960" y="1234440"/>
            <a:ext cx="10545775" cy="310896"/>
          </a:xfrm>
          <a:prstGeom prst="rect">
            <a:avLst/>
          </a:prstGeom>
          <a:noFill/>
          <a:ln/>
        </p:spPr>
        <p:txBody>
          <a:bodyPr wrap="square" lIns="0" tIns="0" rIns="0" bIns="0" rtlCol="0" anchor="ctr"/>
          <a:lstStyle/>
          <a:p>
            <a:pPr algn="l" indent="0" marL="0">
              <a:buNone/>
            </a:pPr>
            <a:r>
              <a:rPr lang="en-US" sz="1300" spc="500" kern="0" dirty="0">
                <a:solidFill>
                  <a:srgbClr val="EABA58"/>
                </a:solidFill>
                <a:latin typeface="Courier New" pitchFamily="34" charset="0"/>
                <a:ea typeface="Courier New" pitchFamily="34" charset="-122"/>
                <a:cs typeface="Courier New" pitchFamily="34" charset="-120"/>
              </a:rPr>
              <a:t>THE FOUR YEARS IN BETWEEN</a:t>
            </a:r>
            <a:endParaRPr lang="en-US" sz="1300" dirty="0"/>
          </a:p>
        </p:txBody>
      </p:sp>
      <p:sp>
        <p:nvSpPr>
          <p:cNvPr id="6" name="Text 3"/>
          <p:cNvSpPr txBox="1"/>
          <p:nvPr/>
        </p:nvSpPr>
        <p:spPr>
          <a:xfrm>
            <a:off x="822960" y="1920240"/>
            <a:ext cx="10545775" cy="2926080"/>
          </a:xfrm>
          <a:prstGeom prst="rect">
            <a:avLst/>
          </a:prstGeom>
          <a:noFill/>
          <a:ln/>
        </p:spPr>
        <p:txBody>
          <a:bodyPr wrap="square" lIns="0" tIns="0" rIns="0" bIns="0" rtlCol="0" anchor="t"/>
          <a:lstStyle/>
          <a:p>
            <a:pPr algn="l" indent="0" marL="0">
              <a:lnSpc>
                <a:spcPct val="118000"/>
              </a:lnSpc>
              <a:buNone/>
            </a:pPr>
            <a:r>
              <a:rPr lang="en-US" sz="4200" dirty="0">
                <a:solidFill>
                  <a:srgbClr val="F4F5F6"/>
                </a:solidFill>
                <a:latin typeface="Cambria" pitchFamily="34" charset="0"/>
                <a:ea typeface="Cambria" pitchFamily="34" charset="-122"/>
                <a:cs typeface="Cambria" pitchFamily="34" charset="-120"/>
              </a:rPr>
              <a:t>Everything gets more expensive.</a:t>
            </a:r>
            <a:endParaRPr lang="en-US" sz="4200" dirty="0"/>
          </a:p>
          <a:p>
            <a:pPr algn="l" indent="0" marL="0">
              <a:lnSpc>
                <a:spcPct val="118000"/>
              </a:lnSpc>
              <a:buNone/>
            </a:pPr>
            <a:r>
              <a:rPr lang="en-US" sz="4200" dirty="0">
                <a:solidFill>
                  <a:srgbClr val="F4F5F6"/>
                </a:solidFill>
                <a:latin typeface="Cambria" pitchFamily="34" charset="0"/>
                <a:ea typeface="Cambria" pitchFamily="34" charset="-122"/>
                <a:cs typeface="Cambria" pitchFamily="34" charset="-120"/>
              </a:rPr>
              <a:t>Everything gets harder.</a:t>
            </a:r>
            <a:endParaRPr lang="en-US" sz="4200" dirty="0"/>
          </a:p>
          <a:p>
            <a:pPr algn="l" indent="0" marL="0">
              <a:lnSpc>
                <a:spcPct val="118000"/>
              </a:lnSpc>
              <a:buNone/>
            </a:pPr>
            <a:r>
              <a:rPr lang="en-US" sz="4200" dirty="0">
                <a:solidFill>
                  <a:srgbClr val="EABA58"/>
                </a:solidFill>
                <a:latin typeface="Cambria" pitchFamily="34" charset="0"/>
                <a:ea typeface="Cambria" pitchFamily="34" charset="-122"/>
                <a:cs typeface="Cambria" pitchFamily="34" charset="-120"/>
              </a:rPr>
              <a:t>And nobody asked you.</a:t>
            </a:r>
            <a:endParaRPr lang="en-US" sz="4200" dirty="0"/>
          </a:p>
        </p:txBody>
      </p:sp>
      <p:sp>
        <p:nvSpPr>
          <p:cNvPr id="7" name="Shape 4"/>
          <p:cNvSpPr/>
          <p:nvPr/>
        </p:nvSpPr>
        <p:spPr>
          <a:xfrm>
            <a:off x="822960" y="5120640"/>
            <a:ext cx="155448" cy="155448"/>
          </a:xfrm>
          <a:prstGeom prst="ellipse">
            <a:avLst/>
          </a:prstGeom>
          <a:solidFill>
            <a:srgbClr val="3A3F40"/>
          </a:solidFill>
          <a:ln/>
        </p:spPr>
      </p:sp>
      <p:sp>
        <p:nvSpPr>
          <p:cNvPr id="8" name="Shape 5"/>
          <p:cNvSpPr/>
          <p:nvPr/>
        </p:nvSpPr>
        <p:spPr>
          <a:xfrm>
            <a:off x="1106424" y="5120640"/>
            <a:ext cx="155448" cy="155448"/>
          </a:xfrm>
          <a:prstGeom prst="ellipse">
            <a:avLst/>
          </a:prstGeom>
          <a:solidFill>
            <a:srgbClr val="3A3F40"/>
          </a:solidFill>
          <a:ln/>
        </p:spPr>
      </p:sp>
      <p:sp>
        <p:nvSpPr>
          <p:cNvPr id="9" name="Shape 6"/>
          <p:cNvSpPr/>
          <p:nvPr/>
        </p:nvSpPr>
        <p:spPr>
          <a:xfrm>
            <a:off x="1389888" y="5120640"/>
            <a:ext cx="155448" cy="155448"/>
          </a:xfrm>
          <a:prstGeom prst="ellipse">
            <a:avLst/>
          </a:prstGeom>
          <a:solidFill>
            <a:srgbClr val="3A3F40"/>
          </a:solidFill>
          <a:ln/>
        </p:spPr>
      </p:sp>
      <p:sp>
        <p:nvSpPr>
          <p:cNvPr id="10" name="Shape 7"/>
          <p:cNvSpPr/>
          <p:nvPr/>
        </p:nvSpPr>
        <p:spPr>
          <a:xfrm>
            <a:off x="1673352" y="5120640"/>
            <a:ext cx="155448" cy="155448"/>
          </a:xfrm>
          <a:prstGeom prst="ellipse">
            <a:avLst/>
          </a:prstGeom>
          <a:solidFill>
            <a:srgbClr val="3A3F40"/>
          </a:solidFill>
          <a:ln/>
        </p:spPr>
      </p:sp>
      <p:sp>
        <p:nvSpPr>
          <p:cNvPr id="11" name="Shape 8"/>
          <p:cNvSpPr/>
          <p:nvPr/>
        </p:nvSpPr>
        <p:spPr>
          <a:xfrm>
            <a:off x="1956816" y="5120640"/>
            <a:ext cx="155448" cy="155448"/>
          </a:xfrm>
          <a:prstGeom prst="ellipse">
            <a:avLst/>
          </a:prstGeom>
          <a:solidFill>
            <a:srgbClr val="3A3F40"/>
          </a:solidFill>
          <a:ln/>
        </p:spPr>
      </p:sp>
      <p:sp>
        <p:nvSpPr>
          <p:cNvPr id="12" name="Shape 9"/>
          <p:cNvSpPr/>
          <p:nvPr/>
        </p:nvSpPr>
        <p:spPr>
          <a:xfrm>
            <a:off x="2240280" y="5120640"/>
            <a:ext cx="155448" cy="155448"/>
          </a:xfrm>
          <a:prstGeom prst="ellipse">
            <a:avLst/>
          </a:prstGeom>
          <a:solidFill>
            <a:srgbClr val="3A3F40"/>
          </a:solidFill>
          <a:ln/>
        </p:spPr>
      </p:sp>
      <p:sp>
        <p:nvSpPr>
          <p:cNvPr id="13" name="Shape 10"/>
          <p:cNvSpPr/>
          <p:nvPr/>
        </p:nvSpPr>
        <p:spPr>
          <a:xfrm>
            <a:off x="2523744" y="5120640"/>
            <a:ext cx="155448" cy="155448"/>
          </a:xfrm>
          <a:prstGeom prst="ellipse">
            <a:avLst/>
          </a:prstGeom>
          <a:solidFill>
            <a:srgbClr val="3A3F40"/>
          </a:solidFill>
          <a:ln/>
        </p:spPr>
      </p:sp>
      <p:sp>
        <p:nvSpPr>
          <p:cNvPr id="14" name="Shape 11"/>
          <p:cNvSpPr/>
          <p:nvPr/>
        </p:nvSpPr>
        <p:spPr>
          <a:xfrm>
            <a:off x="2807208" y="5120640"/>
            <a:ext cx="155448" cy="155448"/>
          </a:xfrm>
          <a:prstGeom prst="ellipse">
            <a:avLst/>
          </a:prstGeom>
          <a:solidFill>
            <a:srgbClr val="3A3F40"/>
          </a:solidFill>
          <a:ln/>
        </p:spPr>
      </p:sp>
      <p:sp>
        <p:nvSpPr>
          <p:cNvPr id="15" name="Shape 12"/>
          <p:cNvSpPr/>
          <p:nvPr/>
        </p:nvSpPr>
        <p:spPr>
          <a:xfrm>
            <a:off x="3090672" y="5120640"/>
            <a:ext cx="155448" cy="155448"/>
          </a:xfrm>
          <a:prstGeom prst="ellipse">
            <a:avLst/>
          </a:prstGeom>
          <a:solidFill>
            <a:srgbClr val="3A3F40"/>
          </a:solidFill>
          <a:ln/>
        </p:spPr>
      </p:sp>
      <p:sp>
        <p:nvSpPr>
          <p:cNvPr id="16" name="Shape 13"/>
          <p:cNvSpPr/>
          <p:nvPr/>
        </p:nvSpPr>
        <p:spPr>
          <a:xfrm>
            <a:off x="3374136" y="5120640"/>
            <a:ext cx="155448" cy="155448"/>
          </a:xfrm>
          <a:prstGeom prst="ellipse">
            <a:avLst/>
          </a:prstGeom>
          <a:solidFill>
            <a:srgbClr val="3A3F4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05 / 10</a:t>
            </a:r>
            <a:endParaRPr lang="en-US" sz="1000" dirty="0"/>
          </a:p>
        </p:txBody>
      </p:sp>
      <p:sp>
        <p:nvSpPr>
          <p:cNvPr id="5" name="Text 2"/>
          <p:cNvSpPr txBox="1"/>
          <p:nvPr/>
        </p:nvSpPr>
        <p:spPr>
          <a:xfrm>
            <a:off x="822960" y="1645920"/>
            <a:ext cx="10545775" cy="2926080"/>
          </a:xfrm>
          <a:prstGeom prst="rect">
            <a:avLst/>
          </a:prstGeom>
          <a:noFill/>
          <a:ln/>
        </p:spPr>
        <p:txBody>
          <a:bodyPr wrap="square" lIns="0" tIns="0" rIns="0" bIns="0" rtlCol="0" anchor="t"/>
          <a:lstStyle/>
          <a:p>
            <a:pPr algn="l" indent="0" marL="0">
              <a:lnSpc>
                <a:spcPct val="118000"/>
              </a:lnSpc>
              <a:buNone/>
            </a:pPr>
            <a:r>
              <a:rPr lang="en-US" sz="4200" dirty="0">
                <a:solidFill>
                  <a:srgbClr val="F4F5F6"/>
                </a:solidFill>
                <a:latin typeface="Cambria" pitchFamily="34" charset="0"/>
                <a:ea typeface="Cambria" pitchFamily="34" charset="-122"/>
                <a:cs typeface="Cambria" pitchFamily="34" charset="-120"/>
              </a:rPr>
              <a:t>You are the opinion of one.</a:t>
            </a:r>
            <a:endParaRPr lang="en-US" sz="4200" dirty="0"/>
          </a:p>
          <a:p>
            <a:pPr algn="l" indent="0" marL="0">
              <a:lnSpc>
                <a:spcPct val="118000"/>
              </a:lnSpc>
              <a:buNone/>
            </a:pPr>
            <a:r>
              <a:rPr lang="en-US" sz="4200" dirty="0">
                <a:solidFill>
                  <a:srgbClr val="B8BABB"/>
                </a:solidFill>
                <a:latin typeface="Cambria" pitchFamily="34" charset="0"/>
                <a:ea typeface="Cambria" pitchFamily="34" charset="-122"/>
                <a:cs typeface="Cambria" pitchFamily="34" charset="-120"/>
              </a:rPr>
              <a:t>And the opinion of one is nothing.</a:t>
            </a:r>
            <a:endParaRPr lang="en-US" sz="4200" dirty="0"/>
          </a:p>
        </p:txBody>
      </p:sp>
      <p:sp>
        <p:nvSpPr>
          <p:cNvPr id="6" name="Text 3"/>
          <p:cNvSpPr txBox="1"/>
          <p:nvPr/>
        </p:nvSpPr>
        <p:spPr>
          <a:xfrm>
            <a:off x="822960" y="3977640"/>
            <a:ext cx="4206240" cy="329184"/>
          </a:xfrm>
          <a:prstGeom prst="rect">
            <a:avLst/>
          </a:prstGeom>
          <a:noFill/>
          <a:ln/>
        </p:spPr>
        <p:txBody>
          <a:bodyPr wrap="square" lIns="0" tIns="0" rIns="0" bIns="0" rtlCol="0" anchor="ctr"/>
          <a:lstStyle/>
          <a:p>
            <a:pPr indent="0" marL="0">
              <a:buNone/>
            </a:pPr>
            <a:r>
              <a:rPr lang="en-US" sz="1300" spc="200" kern="0" dirty="0">
                <a:solidFill>
                  <a:srgbClr val="B8BABB"/>
                </a:solidFill>
                <a:latin typeface="Courier New" pitchFamily="34" charset="0"/>
                <a:ea typeface="Courier New" pitchFamily="34" charset="-122"/>
                <a:cs typeface="Courier New" pitchFamily="34" charset="-120"/>
              </a:rPr>
              <a:t>WRITE YOUR REPRESENTATIVE</a:t>
            </a:r>
            <a:endParaRPr lang="en-US" sz="1300" dirty="0"/>
          </a:p>
        </p:txBody>
      </p:sp>
      <p:sp>
        <p:nvSpPr>
          <p:cNvPr id="7" name="Text 4"/>
          <p:cNvSpPr txBox="1"/>
          <p:nvPr/>
        </p:nvSpPr>
        <p:spPr>
          <a:xfrm>
            <a:off x="5394960" y="3977640"/>
            <a:ext cx="5029200" cy="329184"/>
          </a:xfrm>
          <a:prstGeom prst="rect">
            <a:avLst/>
          </a:prstGeom>
          <a:noFill/>
          <a:ln/>
        </p:spPr>
        <p:txBody>
          <a:bodyPr wrap="square" lIns="0" tIns="0" rIns="0" bIns="0" rtlCol="0" anchor="ctr"/>
          <a:lstStyle/>
          <a:p>
            <a:pPr indent="0" marL="0">
              <a:buNone/>
            </a:pPr>
            <a:r>
              <a:rPr lang="en-US" sz="1300" spc="200" kern="0" dirty="0">
                <a:solidFill>
                  <a:srgbClr val="7A7D7E"/>
                </a:solidFill>
                <a:latin typeface="Courier New" pitchFamily="34" charset="0"/>
                <a:ea typeface="Courier New" pitchFamily="34" charset="-122"/>
                <a:cs typeface="Courier New" pitchFamily="34" charset="-120"/>
              </a:rPr>
              <a:t>A FORM LETTER</a:t>
            </a:r>
            <a:endParaRPr lang="en-US" sz="1300" dirty="0"/>
          </a:p>
        </p:txBody>
      </p:sp>
      <p:sp>
        <p:nvSpPr>
          <p:cNvPr id="8" name="Text 5"/>
          <p:cNvSpPr txBox="1"/>
          <p:nvPr/>
        </p:nvSpPr>
        <p:spPr>
          <a:xfrm>
            <a:off x="822960" y="4544568"/>
            <a:ext cx="4206240" cy="329184"/>
          </a:xfrm>
          <a:prstGeom prst="rect">
            <a:avLst/>
          </a:prstGeom>
          <a:noFill/>
          <a:ln/>
        </p:spPr>
        <p:txBody>
          <a:bodyPr wrap="square" lIns="0" tIns="0" rIns="0" bIns="0" rtlCol="0" anchor="ctr"/>
          <a:lstStyle/>
          <a:p>
            <a:pPr indent="0" marL="0">
              <a:buNone/>
            </a:pPr>
            <a:r>
              <a:rPr lang="en-US" sz="1300" spc="200" kern="0" dirty="0">
                <a:solidFill>
                  <a:srgbClr val="B8BABB"/>
                </a:solidFill>
                <a:latin typeface="Courier New" pitchFamily="34" charset="0"/>
                <a:ea typeface="Courier New" pitchFamily="34" charset="-122"/>
                <a:cs typeface="Courier New" pitchFamily="34" charset="-120"/>
              </a:rPr>
              <a:t>SIGN A PETITION</a:t>
            </a:r>
            <a:endParaRPr lang="en-US" sz="1300" dirty="0"/>
          </a:p>
        </p:txBody>
      </p:sp>
      <p:sp>
        <p:nvSpPr>
          <p:cNvPr id="9" name="Text 6"/>
          <p:cNvSpPr txBox="1"/>
          <p:nvPr/>
        </p:nvSpPr>
        <p:spPr>
          <a:xfrm>
            <a:off x="5394960" y="4544568"/>
            <a:ext cx="5029200" cy="329184"/>
          </a:xfrm>
          <a:prstGeom prst="rect">
            <a:avLst/>
          </a:prstGeom>
          <a:noFill/>
          <a:ln/>
        </p:spPr>
        <p:txBody>
          <a:bodyPr wrap="square" lIns="0" tIns="0" rIns="0" bIns="0" rtlCol="0" anchor="ctr"/>
          <a:lstStyle/>
          <a:p>
            <a:pPr indent="0" marL="0">
              <a:buNone/>
            </a:pPr>
            <a:r>
              <a:rPr lang="en-US" sz="1300" spc="200" kern="0" dirty="0">
                <a:solidFill>
                  <a:srgbClr val="7A7D7E"/>
                </a:solidFill>
                <a:latin typeface="Courier New" pitchFamily="34" charset="0"/>
                <a:ea typeface="Courier New" pitchFamily="34" charset="-122"/>
                <a:cs typeface="Courier New" pitchFamily="34" charset="-120"/>
              </a:rPr>
              <a:t>“COULD BE BOTS”</a:t>
            </a:r>
            <a:endParaRPr lang="en-US" sz="1300" dirty="0"/>
          </a:p>
        </p:txBody>
      </p:sp>
      <p:sp>
        <p:nvSpPr>
          <p:cNvPr id="10" name="Text 7"/>
          <p:cNvSpPr txBox="1"/>
          <p:nvPr/>
        </p:nvSpPr>
        <p:spPr>
          <a:xfrm>
            <a:off x="822960" y="5111496"/>
            <a:ext cx="4206240" cy="329184"/>
          </a:xfrm>
          <a:prstGeom prst="rect">
            <a:avLst/>
          </a:prstGeom>
          <a:noFill/>
          <a:ln/>
        </p:spPr>
        <p:txBody>
          <a:bodyPr wrap="square" lIns="0" tIns="0" rIns="0" bIns="0" rtlCol="0" anchor="ctr"/>
          <a:lstStyle/>
          <a:p>
            <a:pPr indent="0" marL="0">
              <a:buNone/>
            </a:pPr>
            <a:r>
              <a:rPr lang="en-US" sz="1300" spc="200" kern="0" dirty="0">
                <a:solidFill>
                  <a:srgbClr val="B8BABB"/>
                </a:solidFill>
                <a:latin typeface="Courier New" pitchFamily="34" charset="0"/>
                <a:ea typeface="Courier New" pitchFamily="34" charset="-122"/>
                <a:cs typeface="Courier New" pitchFamily="34" charset="-120"/>
              </a:rPr>
              <a:t>JOIN A PROTEST</a:t>
            </a:r>
            <a:endParaRPr lang="en-US" sz="1300" dirty="0"/>
          </a:p>
        </p:txBody>
      </p:sp>
      <p:sp>
        <p:nvSpPr>
          <p:cNvPr id="11" name="Text 8"/>
          <p:cNvSpPr txBox="1"/>
          <p:nvPr/>
        </p:nvSpPr>
        <p:spPr>
          <a:xfrm>
            <a:off x="5394960" y="5111496"/>
            <a:ext cx="5029200" cy="329184"/>
          </a:xfrm>
          <a:prstGeom prst="rect">
            <a:avLst/>
          </a:prstGeom>
          <a:noFill/>
          <a:ln/>
        </p:spPr>
        <p:txBody>
          <a:bodyPr wrap="square" lIns="0" tIns="0" rIns="0" bIns="0" rtlCol="0" anchor="ctr"/>
          <a:lstStyle/>
          <a:p>
            <a:pPr indent="0" marL="0">
              <a:buNone/>
            </a:pPr>
            <a:r>
              <a:rPr lang="en-US" sz="1300" spc="200" kern="0" dirty="0">
                <a:solidFill>
                  <a:srgbClr val="7A7D7E"/>
                </a:solidFill>
                <a:latin typeface="Courier New" pitchFamily="34" charset="0"/>
                <a:ea typeface="Courier New" pitchFamily="34" charset="-122"/>
                <a:cs typeface="Courier New" pitchFamily="34" charset="-120"/>
              </a:rPr>
              <a:t>“A LOUD MINORITY”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06 / 10</a:t>
            </a:r>
            <a:endParaRPr lang="en-US" sz="1000" dirty="0"/>
          </a:p>
        </p:txBody>
      </p:sp>
      <p:sp>
        <p:nvSpPr>
          <p:cNvPr id="5" name="Text 2"/>
          <p:cNvSpPr txBox="1"/>
          <p:nvPr/>
        </p:nvSpPr>
        <p:spPr>
          <a:xfrm>
            <a:off x="822960" y="2194560"/>
            <a:ext cx="10545775" cy="2926080"/>
          </a:xfrm>
          <a:prstGeom prst="rect">
            <a:avLst/>
          </a:prstGeom>
          <a:noFill/>
          <a:ln/>
        </p:spPr>
        <p:txBody>
          <a:bodyPr wrap="square" lIns="0" tIns="0" rIns="0" bIns="0" rtlCol="0" anchor="t"/>
          <a:lstStyle/>
          <a:p>
            <a:pPr algn="ctr" indent="0" marL="0">
              <a:lnSpc>
                <a:spcPct val="118000"/>
              </a:lnSpc>
              <a:buNone/>
            </a:pPr>
            <a:r>
              <a:rPr lang="en-US" sz="6600" dirty="0">
                <a:solidFill>
                  <a:srgbClr val="F4F5F6"/>
                </a:solidFill>
                <a:latin typeface="Cambria" pitchFamily="34" charset="0"/>
                <a:ea typeface="Cambria" pitchFamily="34" charset="-122"/>
                <a:cs typeface="Cambria" pitchFamily="34" charset="-120"/>
              </a:rPr>
              <a:t>We built the other</a:t>
            </a:r>
            <a:endParaRPr lang="en-US" sz="6600" dirty="0"/>
          </a:p>
          <a:p>
            <a:pPr algn="ctr" indent="0" marL="0">
              <a:lnSpc>
                <a:spcPct val="118000"/>
              </a:lnSpc>
              <a:buNone/>
            </a:pPr>
            <a:r>
              <a:rPr lang="en-US" sz="6600" dirty="0">
                <a:solidFill>
                  <a:srgbClr val="EABA58"/>
                </a:solidFill>
                <a:latin typeface="Cambria" pitchFamily="34" charset="0"/>
                <a:ea typeface="Cambria" pitchFamily="34" charset="-122"/>
                <a:cs typeface="Cambria" pitchFamily="34" charset="-120"/>
              </a:rPr>
              <a:t>1,460 days.</a:t>
            </a:r>
            <a:endParaRPr lang="en-US" sz="6600" dirty="0"/>
          </a:p>
        </p:txBody>
      </p:sp>
      <p:sp>
        <p:nvSpPr>
          <p:cNvPr id="6" name="Shape 3"/>
          <p:cNvSpPr/>
          <p:nvPr/>
        </p:nvSpPr>
        <p:spPr>
          <a:xfrm>
            <a:off x="4678528" y="5029200"/>
            <a:ext cx="155448" cy="155448"/>
          </a:xfrm>
          <a:prstGeom prst="ellipse">
            <a:avLst/>
          </a:prstGeom>
          <a:solidFill>
            <a:srgbClr val="EABA58"/>
          </a:solidFill>
          <a:ln/>
        </p:spPr>
      </p:sp>
      <p:sp>
        <p:nvSpPr>
          <p:cNvPr id="7" name="Shape 4"/>
          <p:cNvSpPr/>
          <p:nvPr/>
        </p:nvSpPr>
        <p:spPr>
          <a:xfrm>
            <a:off x="4961992" y="5029200"/>
            <a:ext cx="155448" cy="155448"/>
          </a:xfrm>
          <a:prstGeom prst="ellipse">
            <a:avLst/>
          </a:prstGeom>
          <a:solidFill>
            <a:srgbClr val="EABA58"/>
          </a:solidFill>
          <a:ln/>
        </p:spPr>
      </p:sp>
      <p:sp>
        <p:nvSpPr>
          <p:cNvPr id="8" name="Shape 5"/>
          <p:cNvSpPr/>
          <p:nvPr/>
        </p:nvSpPr>
        <p:spPr>
          <a:xfrm>
            <a:off x="5245456" y="5029200"/>
            <a:ext cx="155448" cy="155448"/>
          </a:xfrm>
          <a:prstGeom prst="ellipse">
            <a:avLst/>
          </a:prstGeom>
          <a:solidFill>
            <a:srgbClr val="EABA58"/>
          </a:solidFill>
          <a:ln/>
        </p:spPr>
      </p:sp>
      <p:sp>
        <p:nvSpPr>
          <p:cNvPr id="9" name="Shape 6"/>
          <p:cNvSpPr/>
          <p:nvPr/>
        </p:nvSpPr>
        <p:spPr>
          <a:xfrm>
            <a:off x="5528920" y="5029200"/>
            <a:ext cx="155448" cy="155448"/>
          </a:xfrm>
          <a:prstGeom prst="ellipse">
            <a:avLst/>
          </a:prstGeom>
          <a:solidFill>
            <a:srgbClr val="EABA58"/>
          </a:solidFill>
          <a:ln/>
        </p:spPr>
      </p:sp>
      <p:sp>
        <p:nvSpPr>
          <p:cNvPr id="10" name="Shape 7"/>
          <p:cNvSpPr/>
          <p:nvPr/>
        </p:nvSpPr>
        <p:spPr>
          <a:xfrm>
            <a:off x="5812384" y="5029200"/>
            <a:ext cx="155448" cy="155448"/>
          </a:xfrm>
          <a:prstGeom prst="ellipse">
            <a:avLst/>
          </a:prstGeom>
          <a:solidFill>
            <a:srgbClr val="EABA58"/>
          </a:solidFill>
          <a:ln/>
        </p:spPr>
      </p:sp>
      <p:sp>
        <p:nvSpPr>
          <p:cNvPr id="11" name="Shape 8"/>
          <p:cNvSpPr/>
          <p:nvPr/>
        </p:nvSpPr>
        <p:spPr>
          <a:xfrm>
            <a:off x="6095848" y="5029200"/>
            <a:ext cx="155448" cy="155448"/>
          </a:xfrm>
          <a:prstGeom prst="ellipse">
            <a:avLst/>
          </a:prstGeom>
          <a:solidFill>
            <a:srgbClr val="EABA58"/>
          </a:solidFill>
          <a:ln/>
        </p:spPr>
      </p:sp>
      <p:sp>
        <p:nvSpPr>
          <p:cNvPr id="12" name="Shape 9"/>
          <p:cNvSpPr/>
          <p:nvPr/>
        </p:nvSpPr>
        <p:spPr>
          <a:xfrm>
            <a:off x="6379312" y="5029200"/>
            <a:ext cx="155448" cy="155448"/>
          </a:xfrm>
          <a:prstGeom prst="ellipse">
            <a:avLst/>
          </a:prstGeom>
          <a:solidFill>
            <a:srgbClr val="EABA58"/>
          </a:solidFill>
          <a:ln/>
        </p:spPr>
      </p:sp>
      <p:sp>
        <p:nvSpPr>
          <p:cNvPr id="13" name="Shape 10"/>
          <p:cNvSpPr/>
          <p:nvPr/>
        </p:nvSpPr>
        <p:spPr>
          <a:xfrm>
            <a:off x="6662776" y="5029200"/>
            <a:ext cx="155448" cy="155448"/>
          </a:xfrm>
          <a:prstGeom prst="ellipse">
            <a:avLst/>
          </a:prstGeom>
          <a:solidFill>
            <a:srgbClr val="EABA58"/>
          </a:solidFill>
          <a:ln/>
        </p:spPr>
      </p:sp>
      <p:sp>
        <p:nvSpPr>
          <p:cNvPr id="14" name="Shape 11"/>
          <p:cNvSpPr/>
          <p:nvPr/>
        </p:nvSpPr>
        <p:spPr>
          <a:xfrm>
            <a:off x="6946240" y="5029200"/>
            <a:ext cx="155448" cy="155448"/>
          </a:xfrm>
          <a:prstGeom prst="ellipse">
            <a:avLst/>
          </a:prstGeom>
          <a:solidFill>
            <a:srgbClr val="EABA58"/>
          </a:solidFill>
          <a:ln/>
        </p:spPr>
      </p:sp>
      <p:sp>
        <p:nvSpPr>
          <p:cNvPr id="15" name="Shape 12"/>
          <p:cNvSpPr/>
          <p:nvPr/>
        </p:nvSpPr>
        <p:spPr>
          <a:xfrm>
            <a:off x="7229704" y="5029200"/>
            <a:ext cx="155448" cy="155448"/>
          </a:xfrm>
          <a:prstGeom prst="ellipse">
            <a:avLst/>
          </a:prstGeom>
          <a:solidFill>
            <a:srgbClr val="EABA5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07 / 10</a:t>
            </a:r>
            <a:endParaRPr lang="en-US" sz="1000" dirty="0"/>
          </a:p>
        </p:txBody>
      </p:sp>
      <p:sp>
        <p:nvSpPr>
          <p:cNvPr id="5" name="Text 2"/>
          <p:cNvSpPr txBox="1"/>
          <p:nvPr/>
        </p:nvSpPr>
        <p:spPr>
          <a:xfrm>
            <a:off x="822960" y="1234440"/>
            <a:ext cx="10545775" cy="310896"/>
          </a:xfrm>
          <a:prstGeom prst="rect">
            <a:avLst/>
          </a:prstGeom>
          <a:noFill/>
          <a:ln/>
        </p:spPr>
        <p:txBody>
          <a:bodyPr wrap="square" lIns="0" tIns="0" rIns="0" bIns="0" rtlCol="0" anchor="ctr"/>
          <a:lstStyle/>
          <a:p>
            <a:pPr algn="l" indent="0" marL="0">
              <a:buNone/>
            </a:pPr>
            <a:r>
              <a:rPr lang="en-US" sz="1300" spc="500" kern="0" dirty="0">
                <a:solidFill>
                  <a:srgbClr val="EABA58"/>
                </a:solidFill>
                <a:latin typeface="Courier New" pitchFamily="34" charset="0"/>
                <a:ea typeface="Courier New" pitchFamily="34" charset="-122"/>
                <a:cs typeface="Courier New" pitchFamily="34" charset="-120"/>
              </a:rPr>
              <a:t>WHAT IT ACTUALLY IS</a:t>
            </a:r>
            <a:endParaRPr lang="en-US" sz="1300" dirty="0"/>
          </a:p>
        </p:txBody>
      </p:sp>
      <p:sp>
        <p:nvSpPr>
          <p:cNvPr id="6" name="Text 3"/>
          <p:cNvSpPr txBox="1"/>
          <p:nvPr/>
        </p:nvSpPr>
        <p:spPr>
          <a:xfrm>
            <a:off x="822960" y="1920240"/>
            <a:ext cx="10545775" cy="2377440"/>
          </a:xfrm>
          <a:prstGeom prst="rect">
            <a:avLst/>
          </a:prstGeom>
          <a:noFill/>
          <a:ln/>
        </p:spPr>
        <p:txBody>
          <a:bodyPr wrap="square" lIns="0" tIns="0" rIns="0" bIns="0" rtlCol="0" anchor="t"/>
          <a:lstStyle/>
          <a:p>
            <a:pPr algn="l" indent="0" marL="0">
              <a:lnSpc>
                <a:spcPct val="118000"/>
              </a:lnSpc>
              <a:buNone/>
            </a:pPr>
            <a:r>
              <a:rPr lang="en-US" sz="3800" dirty="0">
                <a:solidFill>
                  <a:srgbClr val="F4F5F6"/>
                </a:solidFill>
                <a:latin typeface="Cambria" pitchFamily="34" charset="0"/>
                <a:ea typeface="Cambria" pitchFamily="34" charset="-122"/>
                <a:cs typeface="Cambria" pitchFamily="34" charset="-120"/>
              </a:rPr>
              <a:t>A mom in Calgary deciding whether her kid’s school gets built. From her kitchen table. </a:t>
            </a:r>
            <a:pPr algn="l" indent="0" marL="0">
              <a:lnSpc>
                <a:spcPct val="118000"/>
              </a:lnSpc>
              <a:buNone/>
            </a:pPr>
            <a:r>
              <a:rPr lang="en-US" sz="3800" dirty="0">
                <a:solidFill>
                  <a:srgbClr val="EABA58"/>
                </a:solidFill>
                <a:latin typeface="Cambria" pitchFamily="34" charset="0"/>
                <a:ea typeface="Cambria" pitchFamily="34" charset="-122"/>
                <a:cs typeface="Cambria" pitchFamily="34" charset="-120"/>
              </a:rPr>
              <a:t>Counted once.</a:t>
            </a:r>
            <a:endParaRPr lang="en-US" sz="3800" dirty="0"/>
          </a:p>
        </p:txBody>
      </p:sp>
      <p:sp>
        <p:nvSpPr>
          <p:cNvPr id="7" name="Text 4"/>
          <p:cNvSpPr txBox="1"/>
          <p:nvPr/>
        </p:nvSpPr>
        <p:spPr>
          <a:xfrm>
            <a:off x="822960" y="4572000"/>
            <a:ext cx="10545775" cy="329184"/>
          </a:xfrm>
          <a:prstGeom prst="rect">
            <a:avLst/>
          </a:prstGeom>
          <a:noFill/>
          <a:ln/>
        </p:spPr>
        <p:txBody>
          <a:bodyPr wrap="square" lIns="0" tIns="0" rIns="0" bIns="0" rtlCol="0" anchor="ctr"/>
          <a:lstStyle/>
          <a:p>
            <a:pPr indent="0" marL="0">
              <a:buNone/>
            </a:pPr>
            <a:r>
              <a:rPr lang="en-US" sz="1300" spc="300" kern="0" dirty="0">
                <a:solidFill>
                  <a:srgbClr val="B8BABB"/>
                </a:solidFill>
                <a:latin typeface="Courier New" pitchFamily="34" charset="0"/>
                <a:ea typeface="Courier New" pitchFamily="34" charset="-122"/>
                <a:cs typeface="Courier New" pitchFamily="34" charset="-120"/>
              </a:rPr>
              <a:t>ONE VERIFIED HUMAN   ·   ONE VOTE   ·   ON THE PUBLIC RECORD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08 / 10</a:t>
            </a:r>
            <a:endParaRPr lang="en-US" sz="1000" dirty="0"/>
          </a:p>
        </p:txBody>
      </p:sp>
      <p:sp>
        <p:nvSpPr>
          <p:cNvPr id="5" name="Text 2"/>
          <p:cNvSpPr txBox="1"/>
          <p:nvPr/>
        </p:nvSpPr>
        <p:spPr>
          <a:xfrm>
            <a:off x="822960" y="1234440"/>
            <a:ext cx="10545775" cy="310896"/>
          </a:xfrm>
          <a:prstGeom prst="rect">
            <a:avLst/>
          </a:prstGeom>
          <a:noFill/>
          <a:ln/>
        </p:spPr>
        <p:txBody>
          <a:bodyPr wrap="square" lIns="0" tIns="0" rIns="0" bIns="0" rtlCol="0" anchor="ctr"/>
          <a:lstStyle/>
          <a:p>
            <a:pPr algn="l" indent="0" marL="0">
              <a:buNone/>
            </a:pPr>
            <a:r>
              <a:rPr lang="en-US" sz="1300" spc="500" kern="0" dirty="0">
                <a:solidFill>
                  <a:srgbClr val="EABA58"/>
                </a:solidFill>
                <a:latin typeface="Courier New" pitchFamily="34" charset="0"/>
                <a:ea typeface="Courier New" pitchFamily="34" charset="-122"/>
                <a:cs typeface="Courier New" pitchFamily="34" charset="-120"/>
              </a:rPr>
              <a:t>THE LAST TIME CALGARY ASKED ITS PEOPLE A QUESTION</a:t>
            </a:r>
            <a:endParaRPr lang="en-US" sz="1300" dirty="0"/>
          </a:p>
        </p:txBody>
      </p:sp>
      <p:sp>
        <p:nvSpPr>
          <p:cNvPr id="6" name="Text 3"/>
          <p:cNvSpPr txBox="1"/>
          <p:nvPr/>
        </p:nvSpPr>
        <p:spPr>
          <a:xfrm>
            <a:off x="822960" y="1965960"/>
            <a:ext cx="3291840" cy="1097280"/>
          </a:xfrm>
          <a:prstGeom prst="rect">
            <a:avLst/>
          </a:prstGeom>
          <a:noFill/>
          <a:ln/>
        </p:spPr>
        <p:txBody>
          <a:bodyPr wrap="square" lIns="0" tIns="0" rIns="0" bIns="0" rtlCol="0" anchor="ctr"/>
          <a:lstStyle/>
          <a:p>
            <a:pPr indent="0" marL="0">
              <a:buNone/>
            </a:pPr>
            <a:r>
              <a:rPr lang="en-US" sz="5800" dirty="0">
                <a:solidFill>
                  <a:srgbClr val="F4F5F6"/>
                </a:solidFill>
                <a:latin typeface="Cambria" pitchFamily="34" charset="0"/>
                <a:ea typeface="Cambria" pitchFamily="34" charset="-122"/>
                <a:cs typeface="Cambria" pitchFamily="34" charset="-120"/>
              </a:rPr>
              <a:t>$2.2M</a:t>
            </a:r>
            <a:endParaRPr lang="en-US" sz="5800" dirty="0"/>
          </a:p>
        </p:txBody>
      </p:sp>
      <p:sp>
        <p:nvSpPr>
          <p:cNvPr id="7" name="Text 4"/>
          <p:cNvSpPr txBox="1"/>
          <p:nvPr/>
        </p:nvSpPr>
        <p:spPr>
          <a:xfrm>
            <a:off x="841248" y="3154680"/>
            <a:ext cx="3291840" cy="548640"/>
          </a:xfrm>
          <a:prstGeom prst="rect">
            <a:avLst/>
          </a:prstGeom>
          <a:noFill/>
          <a:ln/>
        </p:spPr>
        <p:txBody>
          <a:bodyPr wrap="square" lIns="0" tIns="0" rIns="0" bIns="0" rtlCol="0" anchor="ctr"/>
          <a:lstStyle/>
          <a:p>
            <a:pPr indent="0" marL="0">
              <a:buNone/>
            </a:pPr>
            <a:r>
              <a:rPr lang="en-US" sz="1200" spc="200" kern="0" dirty="0">
                <a:solidFill>
                  <a:srgbClr val="7A7D7E"/>
                </a:solidFill>
                <a:latin typeface="Courier New" pitchFamily="34" charset="0"/>
                <a:ea typeface="Courier New" pitchFamily="34" charset="-122"/>
                <a:cs typeface="Courier New" pitchFamily="34" charset="-120"/>
              </a:rPr>
              <a:t>TO RUN ONE VOTE</a:t>
            </a:r>
            <a:endParaRPr lang="en-US" sz="1200" dirty="0"/>
          </a:p>
        </p:txBody>
      </p:sp>
      <p:sp>
        <p:nvSpPr>
          <p:cNvPr id="8" name="Text 5"/>
          <p:cNvSpPr txBox="1"/>
          <p:nvPr/>
        </p:nvSpPr>
        <p:spPr>
          <a:xfrm>
            <a:off x="4434840" y="1965960"/>
            <a:ext cx="3291840" cy="1097280"/>
          </a:xfrm>
          <a:prstGeom prst="rect">
            <a:avLst/>
          </a:prstGeom>
          <a:noFill/>
          <a:ln/>
        </p:spPr>
        <p:txBody>
          <a:bodyPr wrap="square" lIns="0" tIns="0" rIns="0" bIns="0" rtlCol="0" anchor="ctr"/>
          <a:lstStyle/>
          <a:p>
            <a:pPr indent="0" marL="0">
              <a:buNone/>
            </a:pPr>
            <a:r>
              <a:rPr lang="en-US" sz="5800" dirty="0">
                <a:solidFill>
                  <a:srgbClr val="F4F5F6"/>
                </a:solidFill>
                <a:latin typeface="Cambria" pitchFamily="34" charset="0"/>
                <a:ea typeface="Cambria" pitchFamily="34" charset="-122"/>
                <a:cs typeface="Cambria" pitchFamily="34" charset="-120"/>
              </a:rPr>
              <a:t>3 YEARS</a:t>
            </a:r>
            <a:endParaRPr lang="en-US" sz="5800" dirty="0"/>
          </a:p>
        </p:txBody>
      </p:sp>
      <p:sp>
        <p:nvSpPr>
          <p:cNvPr id="9" name="Text 6"/>
          <p:cNvSpPr txBox="1"/>
          <p:nvPr/>
        </p:nvSpPr>
        <p:spPr>
          <a:xfrm>
            <a:off x="4453128" y="3154680"/>
            <a:ext cx="3291840" cy="548640"/>
          </a:xfrm>
          <a:prstGeom prst="rect">
            <a:avLst/>
          </a:prstGeom>
          <a:noFill/>
          <a:ln/>
        </p:spPr>
        <p:txBody>
          <a:bodyPr wrap="square" lIns="0" tIns="0" rIns="0" bIns="0" rtlCol="0" anchor="ctr"/>
          <a:lstStyle/>
          <a:p>
            <a:pPr indent="0" marL="0">
              <a:buNone/>
            </a:pPr>
            <a:r>
              <a:rPr lang="en-US" sz="1200" spc="200" kern="0" dirty="0">
                <a:solidFill>
                  <a:srgbClr val="7A7D7E"/>
                </a:solidFill>
                <a:latin typeface="Courier New" pitchFamily="34" charset="0"/>
                <a:ea typeface="Courier New" pitchFamily="34" charset="-122"/>
                <a:cs typeface="Courier New" pitchFamily="34" charset="-120"/>
              </a:rPr>
              <a:t>COMMITTEE TO ANSWER</a:t>
            </a:r>
            <a:endParaRPr lang="en-US" sz="1200" dirty="0"/>
          </a:p>
        </p:txBody>
      </p:sp>
      <p:sp>
        <p:nvSpPr>
          <p:cNvPr id="10" name="Text 7"/>
          <p:cNvSpPr txBox="1"/>
          <p:nvPr/>
        </p:nvSpPr>
        <p:spPr>
          <a:xfrm>
            <a:off x="8046720" y="1965960"/>
            <a:ext cx="3291840" cy="1097280"/>
          </a:xfrm>
          <a:prstGeom prst="rect">
            <a:avLst/>
          </a:prstGeom>
          <a:noFill/>
          <a:ln/>
        </p:spPr>
        <p:txBody>
          <a:bodyPr wrap="square" lIns="0" tIns="0" rIns="0" bIns="0" rtlCol="0" anchor="ctr"/>
          <a:lstStyle/>
          <a:p>
            <a:pPr indent="0" marL="0">
              <a:buNone/>
            </a:pPr>
            <a:r>
              <a:rPr lang="en-US" sz="5800" dirty="0">
                <a:solidFill>
                  <a:srgbClr val="F4F5F6"/>
                </a:solidFill>
                <a:latin typeface="Cambria" pitchFamily="34" charset="0"/>
                <a:ea typeface="Cambria" pitchFamily="34" charset="-122"/>
                <a:cs typeface="Cambria" pitchFamily="34" charset="-120"/>
              </a:rPr>
              <a:t>1 DAY</a:t>
            </a:r>
            <a:endParaRPr lang="en-US" sz="5800" dirty="0"/>
          </a:p>
        </p:txBody>
      </p:sp>
      <p:sp>
        <p:nvSpPr>
          <p:cNvPr id="11" name="Text 8"/>
          <p:cNvSpPr txBox="1"/>
          <p:nvPr/>
        </p:nvSpPr>
        <p:spPr>
          <a:xfrm>
            <a:off x="8065008" y="3154680"/>
            <a:ext cx="3291840" cy="548640"/>
          </a:xfrm>
          <a:prstGeom prst="rect">
            <a:avLst/>
          </a:prstGeom>
          <a:noFill/>
          <a:ln/>
        </p:spPr>
        <p:txBody>
          <a:bodyPr wrap="square" lIns="0" tIns="0" rIns="0" bIns="0" rtlCol="0" anchor="ctr"/>
          <a:lstStyle/>
          <a:p>
            <a:pPr indent="0" marL="0">
              <a:buNone/>
            </a:pPr>
            <a:r>
              <a:rPr lang="en-US" sz="1200" spc="200" kern="0" dirty="0">
                <a:solidFill>
                  <a:srgbClr val="7A7D7E"/>
                </a:solidFill>
                <a:latin typeface="Courier New" pitchFamily="34" charset="0"/>
                <a:ea typeface="Courier New" pitchFamily="34" charset="-122"/>
                <a:cs typeface="Courier New" pitchFamily="34" charset="-120"/>
              </a:rPr>
              <a:t>THEN IT WAS TAKEN APART</a:t>
            </a:r>
            <a:endParaRPr lang="en-US" sz="1200" dirty="0"/>
          </a:p>
        </p:txBody>
      </p:sp>
      <p:sp>
        <p:nvSpPr>
          <p:cNvPr id="12" name="Text 9"/>
          <p:cNvSpPr txBox="1"/>
          <p:nvPr/>
        </p:nvSpPr>
        <p:spPr>
          <a:xfrm>
            <a:off x="822960" y="4297680"/>
            <a:ext cx="10545775" cy="822960"/>
          </a:xfrm>
          <a:prstGeom prst="rect">
            <a:avLst/>
          </a:prstGeom>
          <a:noFill/>
          <a:ln/>
        </p:spPr>
        <p:txBody>
          <a:bodyPr wrap="square" lIns="0" tIns="0" rIns="0" bIns="0" rtlCol="0" anchor="ctr"/>
          <a:lstStyle/>
          <a:p>
            <a:pPr indent="0" marL="0">
              <a:buNone/>
            </a:pPr>
            <a:r>
              <a:rPr lang="en-US" sz="3200" dirty="0">
                <a:solidFill>
                  <a:srgbClr val="B8BABB"/>
                </a:solidFill>
                <a:latin typeface="Cambria" pitchFamily="34" charset="0"/>
                <a:ea typeface="Cambria" pitchFamily="34" charset="-122"/>
                <a:cs typeface="Cambria" pitchFamily="34" charset="-120"/>
              </a:rPr>
              <a:t>On Represent: </a:t>
            </a:r>
            <a:pPr indent="0" marL="0">
              <a:buNone/>
            </a:pPr>
            <a:r>
              <a:rPr lang="en-US" sz="3200" dirty="0">
                <a:solidFill>
                  <a:srgbClr val="EABA58"/>
                </a:solidFill>
                <a:latin typeface="Cambria" pitchFamily="34" charset="0"/>
                <a:ea typeface="Cambria" pitchFamily="34" charset="-122"/>
                <a:cs typeface="Cambria" pitchFamily="34" charset="-120"/>
              </a:rPr>
              <a:t>free, and answered by Friday.</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09 / 10</a:t>
            </a:r>
            <a:endParaRPr lang="en-US" sz="1000" dirty="0"/>
          </a:p>
        </p:txBody>
      </p:sp>
      <p:sp>
        <p:nvSpPr>
          <p:cNvPr id="5" name="Text 2"/>
          <p:cNvSpPr txBox="1"/>
          <p:nvPr/>
        </p:nvSpPr>
        <p:spPr>
          <a:xfrm>
            <a:off x="822960" y="2103120"/>
            <a:ext cx="10545775" cy="2926080"/>
          </a:xfrm>
          <a:prstGeom prst="rect">
            <a:avLst/>
          </a:prstGeom>
          <a:noFill/>
          <a:ln/>
        </p:spPr>
        <p:txBody>
          <a:bodyPr wrap="square" lIns="0" tIns="0" rIns="0" bIns="0" rtlCol="0" anchor="t"/>
          <a:lstStyle/>
          <a:p>
            <a:pPr algn="ctr" indent="0" marL="0">
              <a:lnSpc>
                <a:spcPct val="118000"/>
              </a:lnSpc>
              <a:buNone/>
            </a:pPr>
            <a:r>
              <a:rPr lang="en-US" sz="8000" dirty="0">
                <a:solidFill>
                  <a:srgbClr val="EABA58"/>
                </a:solidFill>
                <a:latin typeface="Cambria" pitchFamily="34" charset="0"/>
                <a:ea typeface="Cambria" pitchFamily="34" charset="-122"/>
                <a:cs typeface="Cambria" pitchFamily="34" charset="-120"/>
              </a:rPr>
              <a:t>The majority</a:t>
            </a:r>
            <a:endParaRPr lang="en-US" sz="8000" dirty="0"/>
          </a:p>
          <a:p>
            <a:pPr algn="ctr" indent="0" marL="0">
              <a:lnSpc>
                <a:spcPct val="118000"/>
              </a:lnSpc>
              <a:buNone/>
            </a:pPr>
            <a:r>
              <a:rPr lang="en-US" sz="8000" dirty="0">
                <a:solidFill>
                  <a:srgbClr val="EABA58"/>
                </a:solidFill>
                <a:latin typeface="Cambria" pitchFamily="34" charset="0"/>
                <a:ea typeface="Cambria" pitchFamily="34" charset="-122"/>
                <a:cs typeface="Cambria" pitchFamily="34" charset="-120"/>
              </a:rPr>
              <a:t>chooses good.</a:t>
            </a:r>
            <a:endParaRPr lang="en-US" sz="8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707"/>
        </a:solidFill>
      </p:bgPr>
    </p:bg>
    <p:spTree>
      <p:nvGrpSpPr>
        <p:cNvPr id="1" name=""/>
        <p:cNvGrpSpPr/>
        <p:nvPr/>
      </p:nvGrpSpPr>
      <p:grpSpPr>
        <a:xfrm>
          <a:off x="0" y="0"/>
          <a:ext cx="0" cy="0"/>
          <a:chOff x="0" y="0"/>
          <a:chExt cx="0" cy="0"/>
        </a:xfrm>
      </p:grpSpPr>
      <p:sp>
        <p:nvSpPr>
          <p:cNvPr id="2" name="Text 0"/>
          <p:cNvSpPr txBox="1"/>
          <p:nvPr/>
        </p:nvSpPr>
        <p:spPr>
          <a:xfrm>
            <a:off x="822960" y="6291072"/>
            <a:ext cx="2743200" cy="274320"/>
          </a:xfrm>
          <a:prstGeom prst="rect">
            <a:avLst/>
          </a:prstGeom>
          <a:noFill/>
          <a:ln/>
        </p:spPr>
        <p:txBody>
          <a:bodyPr wrap="square" lIns="0" tIns="0" rIns="0" bIns="0" rtlCol="0" anchor="ctr"/>
          <a:lstStyle/>
          <a:p>
            <a:pPr indent="0" marL="0">
              <a:buNone/>
            </a:pPr>
            <a:r>
              <a:rPr lang="en-US" sz="1000" spc="400" kern="0" dirty="0">
                <a:solidFill>
                  <a:srgbClr val="7A7D7E"/>
                </a:solidFill>
                <a:latin typeface="Courier New" pitchFamily="34" charset="0"/>
                <a:ea typeface="Courier New" pitchFamily="34" charset="-122"/>
                <a:cs typeface="Courier New" pitchFamily="34" charset="-120"/>
              </a:rPr>
              <a:t>REPRESENT</a:t>
            </a:r>
            <a:endParaRPr lang="en-US" sz="1000" dirty="0"/>
          </a:p>
        </p:txBody>
      </p:sp>
      <p:sp>
        <p:nvSpPr>
          <p:cNvPr id="3" name="Text 1"/>
          <p:cNvSpPr txBox="1"/>
          <p:nvPr/>
        </p:nvSpPr>
        <p:spPr>
          <a:xfrm>
            <a:off x="9539935" y="6291072"/>
            <a:ext cx="1828800" cy="274320"/>
          </a:xfrm>
          <a:prstGeom prst="rect">
            <a:avLst/>
          </a:prstGeom>
          <a:noFill/>
          <a:ln/>
        </p:spPr>
        <p:txBody>
          <a:bodyPr wrap="square" lIns="0" tIns="0" rIns="0" bIns="0" rtlCol="0" anchor="ctr"/>
          <a:lstStyle/>
          <a:p>
            <a:pPr algn="r" indent="0" marL="0">
              <a:buNone/>
            </a:pPr>
            <a:r>
              <a:rPr lang="en-US" sz="1000" spc="200" kern="0" dirty="0">
                <a:solidFill>
                  <a:srgbClr val="7A7D7E"/>
                </a:solidFill>
                <a:latin typeface="Courier New" pitchFamily="34" charset="0"/>
                <a:ea typeface="Courier New" pitchFamily="34" charset="-122"/>
                <a:cs typeface="Courier New" pitchFamily="34" charset="-120"/>
              </a:rPr>
              <a:t>10 / 10</a:t>
            </a:r>
            <a:endParaRPr lang="en-US" sz="1000" dirty="0"/>
          </a:p>
        </p:txBody>
      </p:sp>
      <p:pic>
        <p:nvPicPr>
          <p:cNvPr id="5" name="Image 0" descr="preencoded.png">    </p:cNvPr>
          <p:cNvPicPr>
            <a:picLocks noChangeAspect="1"/>
          </p:cNvPicPr>
          <p:nvPr/>
        </p:nvPicPr>
        <p:blipFill>
          <a:blip r:embed="rId1"/>
          <a:stretch>
            <a:fillRect/>
          </a:stretch>
        </p:blipFill>
        <p:spPr>
          <a:xfrm>
            <a:off x="5684368" y="1234440"/>
            <a:ext cx="822960" cy="822960"/>
          </a:xfrm>
          <a:prstGeom prst="rect">
            <a:avLst/>
          </a:prstGeom>
        </p:spPr>
      </p:pic>
      <p:sp>
        <p:nvSpPr>
          <p:cNvPr id="6" name="Text 2"/>
          <p:cNvSpPr txBox="1"/>
          <p:nvPr/>
        </p:nvSpPr>
        <p:spPr>
          <a:xfrm>
            <a:off x="822960" y="2377440"/>
            <a:ext cx="10545775" cy="2011680"/>
          </a:xfrm>
          <a:prstGeom prst="rect">
            <a:avLst/>
          </a:prstGeom>
          <a:noFill/>
          <a:ln/>
        </p:spPr>
        <p:txBody>
          <a:bodyPr wrap="square" lIns="0" tIns="0" rIns="0" bIns="0" rtlCol="0" anchor="t"/>
          <a:lstStyle/>
          <a:p>
            <a:pPr algn="ctr" indent="0" marL="0">
              <a:lnSpc>
                <a:spcPct val="118000"/>
              </a:lnSpc>
              <a:buNone/>
            </a:pPr>
            <a:r>
              <a:rPr lang="en-US" sz="4400" dirty="0">
                <a:solidFill>
                  <a:srgbClr val="F4F5F6"/>
                </a:solidFill>
                <a:latin typeface="Cambria" pitchFamily="34" charset="0"/>
                <a:ea typeface="Cambria" pitchFamily="34" charset="-122"/>
                <a:cs typeface="Cambria" pitchFamily="34" charset="-120"/>
              </a:rPr>
              <a:t>Every generation wanted this.</a:t>
            </a:r>
            <a:endParaRPr lang="en-US" sz="4400" dirty="0"/>
          </a:p>
          <a:p>
            <a:pPr algn="ctr" indent="0" marL="0">
              <a:lnSpc>
                <a:spcPct val="118000"/>
              </a:lnSpc>
              <a:buNone/>
            </a:pPr>
            <a:r>
              <a:rPr lang="en-US" sz="4400" dirty="0">
                <a:solidFill>
                  <a:srgbClr val="EABA58"/>
                </a:solidFill>
                <a:latin typeface="Cambria" pitchFamily="34" charset="0"/>
                <a:ea typeface="Cambria" pitchFamily="34" charset="-122"/>
                <a:cs typeface="Cambria" pitchFamily="34" charset="-120"/>
              </a:rPr>
              <a:t>We’re the first that can build it.</a:t>
            </a:r>
            <a:endParaRPr lang="en-US" sz="4400" dirty="0"/>
          </a:p>
        </p:txBody>
      </p:sp>
      <p:sp>
        <p:nvSpPr>
          <p:cNvPr id="7" name="Text 3"/>
          <p:cNvSpPr txBox="1"/>
          <p:nvPr/>
        </p:nvSpPr>
        <p:spPr>
          <a:xfrm>
            <a:off x="822960" y="4892040"/>
            <a:ext cx="10545775" cy="329184"/>
          </a:xfrm>
          <a:prstGeom prst="rect">
            <a:avLst/>
          </a:prstGeom>
          <a:noFill/>
          <a:ln/>
        </p:spPr>
        <p:txBody>
          <a:bodyPr wrap="square" lIns="0" tIns="0" rIns="0" bIns="0" rtlCol="0" anchor="ctr"/>
          <a:lstStyle/>
          <a:p>
            <a:pPr algn="ctr" indent="0" marL="0">
              <a:buNone/>
            </a:pPr>
            <a:r>
              <a:rPr lang="en-US" sz="1300" spc="300" kern="0" dirty="0">
                <a:solidFill>
                  <a:srgbClr val="B8BABB"/>
                </a:solidFill>
                <a:latin typeface="Courier New" pitchFamily="34" charset="0"/>
                <a:ea typeface="Courier New" pitchFamily="34" charset="-122"/>
                <a:cs typeface="Courier New" pitchFamily="34" charset="-120"/>
              </a:rPr>
              <a:t>LIVE ON THE APP STORE   ·   REPRESENTVOTE.COM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Represent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 — The Other 1,460 Days</dc:title>
  <dc:subject>PptxGenJS Presentation</dc:subject>
  <dc:creator>Lance Morrison</dc:creator>
  <cp:lastModifiedBy>Lance Morrison</cp:lastModifiedBy>
  <cp:revision>1</cp:revision>
  <dcterms:created xsi:type="dcterms:W3CDTF">2026-08-30T00:35:49Z</dcterms:created>
  <dcterms:modified xsi:type="dcterms:W3CDTF">2026-08-30T00:35:49Z</dcterms:modified>
</cp:coreProperties>
</file>