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Allocation</c:v>
                </c:pt>
              </c:strCache>
            </c:strRef>
          </c:tx>
          <c:spPr>
            <a:solidFill>
              <a:srgbClr val="C99A38"/>
            </a:solidFill>
            <a:effectLst/>
          </c:spPr>
          <c:invertIfNegative val="0"/>
          <c:dLbls>
            <c:numFmt formatCode="$#,##0,&quot;k&quot;" sourceLinked="0"/>
            <c:txPr>
              <a:bodyPr/>
              <a:lstStyle/>
              <a:p>
                <a:pPr>
                  <a:defRPr b="0" i="0" strike="noStrike" sz="1000" u="none">
                    <a:solidFill>
                      <a:srgbClr val="18151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Paid advertising</c:v>
                  </c:pt>
                  <c:pt idx="1">
                    <c:v>Founder salaries</c:v>
                  </c:pt>
                  <c:pt idx="2">
                    <c:v>Content &amp; brand</c:v>
                  </c:pt>
                  <c:pt idx="3">
                    <c:v>Creators</c:v>
                  </c:pt>
                  <c:pt idx="4">
                    <c:v>First hire</c:v>
                  </c:pt>
                  <c:pt idx="5">
                    <c:v>Everything else</c:v>
                  </c:pt>
                </c:lvl>
              </c:multiLvlStrCache>
            </c:multiLvlStrRef>
          </c:cat>
          <c:val>
            <c:numRef>
              <c:f>Sheet1!$B$2:$B$7</c:f>
              <c:numCache>
                <c:formatCode>General</c:formatCode>
                <c:ptCount val="6"/>
                <c:pt idx="0">
                  <c:v>442000</c:v>
                </c:pt>
                <c:pt idx="1">
                  <c:v>270000</c:v>
                </c:pt>
                <c:pt idx="2">
                  <c:v>65000</c:v>
                </c:pt>
                <c:pt idx="3">
                  <c:v>43000</c:v>
                </c:pt>
                <c:pt idx="4">
                  <c:v>40000</c:v>
                </c:pt>
                <c:pt idx="5">
                  <c:v>140000</c:v>
                </c:pt>
              </c:numCache>
            </c:numRef>
          </c:val>
        </c:ser>
        <c:dLbls>
          <c:numFmt formatCode="$#,##0,&quot;k&quot;" sourceLinked="0"/>
          <c:txPr>
            <a:bodyPr/>
            <a:lstStyle/>
            <a:p>
              <a:pPr>
                <a:defRPr b="0" i="0" strike="noStrike" sz="1000" u="none">
                  <a:solidFill>
                    <a:srgbClr val="18151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8151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line: today there is no way to prove that an online expression of public opinion came from real, distinct people. Represent is the infrastructure that fixes that. The product is already built and live — this raise funds getting users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petition is the clearest proof the problem is real and expensive. Every online consultation, poll and petition has the same flaw.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the technical risk is already retired. The money is not being asked for to find out whether this can be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slide. Its credibility is the point — it is what makes every other number in the deck believable. Confirm the ballot count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1325880"/>
            <a:ext cx="1051560" cy="1051560"/>
          </a:xfrm>
          <a:prstGeom prst="rect">
            <a:avLst/>
          </a:prstGeom>
        </p:spPr>
      </p:pic>
      <p:sp>
        <p:nvSpPr>
          <p:cNvPr id="3" name="Text 0"/>
          <p:cNvSpPr/>
          <p:nvPr/>
        </p:nvSpPr>
        <p:spPr>
          <a:xfrm>
            <a:off x="685800" y="2697480"/>
            <a:ext cx="10058400" cy="868680"/>
          </a:xfrm>
          <a:prstGeom prst="rect">
            <a:avLst/>
          </a:prstGeom>
          <a:noFill/>
          <a:ln/>
        </p:spPr>
        <p:txBody>
          <a:bodyPr wrap="square" lIns="0" tIns="0" rIns="0" bIns="0" rtlCol="0" anchor="ctr"/>
          <a:lstStyle/>
          <a:p>
            <a:pPr indent="0" marL="0">
              <a:buNone/>
            </a:pPr>
            <a:r>
              <a:rPr lang="en-US" sz="5400" b="1" spc="1100" kern="0" dirty="0">
                <a:solidFill>
                  <a:srgbClr val="F4F5F6"/>
                </a:solidFill>
                <a:latin typeface="Cambria" pitchFamily="34" charset="0"/>
                <a:ea typeface="Cambria" pitchFamily="34" charset="-122"/>
                <a:cs typeface="Cambria" pitchFamily="34" charset="-120"/>
              </a:rPr>
              <a:t>REPRESENT</a:t>
            </a:r>
            <a:endParaRPr lang="en-US" sz="5400" dirty="0"/>
          </a:p>
        </p:txBody>
      </p:sp>
      <p:sp>
        <p:nvSpPr>
          <p:cNvPr id="4" name="Text 1"/>
          <p:cNvSpPr/>
          <p:nvPr/>
        </p:nvSpPr>
        <p:spPr>
          <a:xfrm>
            <a:off x="685800" y="3611880"/>
            <a:ext cx="9144000" cy="457200"/>
          </a:xfrm>
          <a:prstGeom prst="rect">
            <a:avLst/>
          </a:prstGeom>
          <a:noFill/>
          <a:ln/>
        </p:spPr>
        <p:txBody>
          <a:bodyPr wrap="square" lIns="0" tIns="0" rIns="0" bIns="0" rtlCol="0" anchor="ctr"/>
          <a:lstStyle/>
          <a:p>
            <a:pPr indent="0" marL="0">
              <a:buNone/>
            </a:pPr>
            <a:r>
              <a:rPr lang="en-US" sz="2200" i="1" dirty="0">
                <a:solidFill>
                  <a:srgbClr val="EABA58"/>
                </a:solidFill>
                <a:latin typeface="Cambria" pitchFamily="34" charset="0"/>
                <a:ea typeface="Cambria" pitchFamily="34" charset="-122"/>
                <a:cs typeface="Cambria" pitchFamily="34" charset="-120"/>
              </a:rPr>
              <a:t>The infrastructure layer for verified public consensus.</a:t>
            </a:r>
            <a:endParaRPr lang="en-US" sz="2200" dirty="0"/>
          </a:p>
        </p:txBody>
      </p:sp>
      <p:sp>
        <p:nvSpPr>
          <p:cNvPr id="5" name="Shape 2"/>
          <p:cNvSpPr/>
          <p:nvPr/>
        </p:nvSpPr>
        <p:spPr>
          <a:xfrm>
            <a:off x="685800" y="4343400"/>
            <a:ext cx="118872" cy="118872"/>
          </a:xfrm>
          <a:prstGeom prst="ellipse">
            <a:avLst/>
          </a:prstGeom>
          <a:solidFill>
            <a:srgbClr val="EABA58"/>
          </a:solidFill>
          <a:ln/>
        </p:spPr>
      </p:sp>
      <p:sp>
        <p:nvSpPr>
          <p:cNvPr id="6" name="Shape 3"/>
          <p:cNvSpPr/>
          <p:nvPr/>
        </p:nvSpPr>
        <p:spPr>
          <a:xfrm>
            <a:off x="873252" y="4343400"/>
            <a:ext cx="118872" cy="118872"/>
          </a:xfrm>
          <a:prstGeom prst="ellipse">
            <a:avLst/>
          </a:prstGeom>
          <a:solidFill>
            <a:srgbClr val="EABA58"/>
          </a:solidFill>
          <a:ln/>
        </p:spPr>
      </p:sp>
      <p:sp>
        <p:nvSpPr>
          <p:cNvPr id="7" name="Shape 4"/>
          <p:cNvSpPr/>
          <p:nvPr/>
        </p:nvSpPr>
        <p:spPr>
          <a:xfrm>
            <a:off x="1060704" y="4343400"/>
            <a:ext cx="118872" cy="118872"/>
          </a:xfrm>
          <a:prstGeom prst="ellipse">
            <a:avLst/>
          </a:prstGeom>
          <a:solidFill>
            <a:srgbClr val="EABA58"/>
          </a:solidFill>
          <a:ln/>
        </p:spPr>
      </p:sp>
      <p:sp>
        <p:nvSpPr>
          <p:cNvPr id="8" name="Shape 5"/>
          <p:cNvSpPr/>
          <p:nvPr/>
        </p:nvSpPr>
        <p:spPr>
          <a:xfrm>
            <a:off x="1248156" y="4343400"/>
            <a:ext cx="118872" cy="118872"/>
          </a:xfrm>
          <a:prstGeom prst="ellipse">
            <a:avLst/>
          </a:prstGeom>
          <a:solidFill>
            <a:srgbClr val="EABA58"/>
          </a:solidFill>
          <a:ln/>
        </p:spPr>
      </p:sp>
      <p:sp>
        <p:nvSpPr>
          <p:cNvPr id="9" name="Shape 6"/>
          <p:cNvSpPr/>
          <p:nvPr/>
        </p:nvSpPr>
        <p:spPr>
          <a:xfrm>
            <a:off x="1435608" y="4343400"/>
            <a:ext cx="118872" cy="118872"/>
          </a:xfrm>
          <a:prstGeom prst="ellipse">
            <a:avLst/>
          </a:prstGeom>
          <a:solidFill>
            <a:srgbClr val="EABA58"/>
          </a:solidFill>
          <a:ln/>
        </p:spPr>
      </p:sp>
      <p:sp>
        <p:nvSpPr>
          <p:cNvPr id="10" name="Shape 7"/>
          <p:cNvSpPr/>
          <p:nvPr/>
        </p:nvSpPr>
        <p:spPr>
          <a:xfrm>
            <a:off x="1623060" y="4343400"/>
            <a:ext cx="118872" cy="118872"/>
          </a:xfrm>
          <a:prstGeom prst="ellipse">
            <a:avLst/>
          </a:prstGeom>
          <a:solidFill>
            <a:srgbClr val="EABA58"/>
          </a:solidFill>
          <a:ln/>
        </p:spPr>
      </p:sp>
      <p:sp>
        <p:nvSpPr>
          <p:cNvPr id="11" name="Shape 8"/>
          <p:cNvSpPr/>
          <p:nvPr/>
        </p:nvSpPr>
        <p:spPr>
          <a:xfrm>
            <a:off x="1810512" y="4343400"/>
            <a:ext cx="118872" cy="118872"/>
          </a:xfrm>
          <a:prstGeom prst="ellipse">
            <a:avLst/>
          </a:prstGeom>
          <a:solidFill>
            <a:srgbClr val="EABA58"/>
          </a:solidFill>
          <a:ln/>
        </p:spPr>
      </p:sp>
      <p:sp>
        <p:nvSpPr>
          <p:cNvPr id="12" name="Shape 9"/>
          <p:cNvSpPr/>
          <p:nvPr/>
        </p:nvSpPr>
        <p:spPr>
          <a:xfrm>
            <a:off x="1997964" y="4343400"/>
            <a:ext cx="118872" cy="118872"/>
          </a:xfrm>
          <a:prstGeom prst="ellipse">
            <a:avLst/>
          </a:prstGeom>
          <a:solidFill>
            <a:srgbClr val="2A2F2F"/>
          </a:solidFill>
          <a:ln/>
        </p:spPr>
      </p:sp>
      <p:sp>
        <p:nvSpPr>
          <p:cNvPr id="13" name="Shape 10"/>
          <p:cNvSpPr/>
          <p:nvPr/>
        </p:nvSpPr>
        <p:spPr>
          <a:xfrm>
            <a:off x="2185416" y="4343400"/>
            <a:ext cx="118872" cy="118872"/>
          </a:xfrm>
          <a:prstGeom prst="ellipse">
            <a:avLst/>
          </a:prstGeom>
          <a:solidFill>
            <a:srgbClr val="2A2F2F"/>
          </a:solidFill>
          <a:ln/>
        </p:spPr>
      </p:sp>
      <p:sp>
        <p:nvSpPr>
          <p:cNvPr id="14" name="Shape 11"/>
          <p:cNvSpPr/>
          <p:nvPr/>
        </p:nvSpPr>
        <p:spPr>
          <a:xfrm>
            <a:off x="2372868" y="4343400"/>
            <a:ext cx="118872" cy="118872"/>
          </a:xfrm>
          <a:prstGeom prst="ellipse">
            <a:avLst/>
          </a:prstGeom>
          <a:solidFill>
            <a:srgbClr val="2A2F2F"/>
          </a:solidFill>
          <a:ln/>
        </p:spPr>
      </p:sp>
      <p:sp>
        <p:nvSpPr>
          <p:cNvPr id="15" name="Shape 12"/>
          <p:cNvSpPr/>
          <p:nvPr/>
        </p:nvSpPr>
        <p:spPr>
          <a:xfrm>
            <a:off x="2560320" y="4343400"/>
            <a:ext cx="118872" cy="118872"/>
          </a:xfrm>
          <a:prstGeom prst="ellipse">
            <a:avLst/>
          </a:prstGeom>
          <a:solidFill>
            <a:srgbClr val="2A2F2F"/>
          </a:solidFill>
          <a:ln/>
        </p:spPr>
      </p:sp>
      <p:sp>
        <p:nvSpPr>
          <p:cNvPr id="16" name="Shape 13"/>
          <p:cNvSpPr/>
          <p:nvPr/>
        </p:nvSpPr>
        <p:spPr>
          <a:xfrm>
            <a:off x="2747772" y="4343400"/>
            <a:ext cx="118872" cy="118872"/>
          </a:xfrm>
          <a:prstGeom prst="ellipse">
            <a:avLst/>
          </a:prstGeom>
          <a:solidFill>
            <a:srgbClr val="2A2F2F"/>
          </a:solidFill>
          <a:ln/>
        </p:spPr>
      </p:sp>
      <p:sp>
        <p:nvSpPr>
          <p:cNvPr id="17" name="Shape 14"/>
          <p:cNvSpPr/>
          <p:nvPr/>
        </p:nvSpPr>
        <p:spPr>
          <a:xfrm>
            <a:off x="2935224" y="4343400"/>
            <a:ext cx="118872" cy="118872"/>
          </a:xfrm>
          <a:prstGeom prst="ellipse">
            <a:avLst/>
          </a:prstGeom>
          <a:solidFill>
            <a:srgbClr val="2A2F2F"/>
          </a:solidFill>
          <a:ln/>
        </p:spPr>
      </p:sp>
      <p:sp>
        <p:nvSpPr>
          <p:cNvPr id="18" name="Shape 15"/>
          <p:cNvSpPr/>
          <p:nvPr/>
        </p:nvSpPr>
        <p:spPr>
          <a:xfrm>
            <a:off x="3122676" y="4343400"/>
            <a:ext cx="118872" cy="118872"/>
          </a:xfrm>
          <a:prstGeom prst="ellipse">
            <a:avLst/>
          </a:prstGeom>
          <a:solidFill>
            <a:srgbClr val="2A2F2F"/>
          </a:solidFill>
          <a:ln/>
        </p:spPr>
      </p:sp>
      <p:sp>
        <p:nvSpPr>
          <p:cNvPr id="19" name="Shape 16"/>
          <p:cNvSpPr/>
          <p:nvPr/>
        </p:nvSpPr>
        <p:spPr>
          <a:xfrm>
            <a:off x="3310128" y="4343400"/>
            <a:ext cx="118872" cy="118872"/>
          </a:xfrm>
          <a:prstGeom prst="ellipse">
            <a:avLst/>
          </a:prstGeom>
          <a:solidFill>
            <a:srgbClr val="2A2F2F"/>
          </a:solidFill>
          <a:ln/>
        </p:spPr>
      </p:sp>
      <p:sp>
        <p:nvSpPr>
          <p:cNvPr id="20" name="Shape 17"/>
          <p:cNvSpPr/>
          <p:nvPr/>
        </p:nvSpPr>
        <p:spPr>
          <a:xfrm>
            <a:off x="3497580" y="4343400"/>
            <a:ext cx="118872" cy="118872"/>
          </a:xfrm>
          <a:prstGeom prst="ellipse">
            <a:avLst/>
          </a:prstGeom>
          <a:solidFill>
            <a:srgbClr val="2A2F2F"/>
          </a:solidFill>
          <a:ln/>
        </p:spPr>
      </p:sp>
      <p:sp>
        <p:nvSpPr>
          <p:cNvPr id="21" name="Shape 18"/>
          <p:cNvSpPr/>
          <p:nvPr/>
        </p:nvSpPr>
        <p:spPr>
          <a:xfrm>
            <a:off x="3685032" y="4343400"/>
            <a:ext cx="118872" cy="118872"/>
          </a:xfrm>
          <a:prstGeom prst="ellipse">
            <a:avLst/>
          </a:prstGeom>
          <a:solidFill>
            <a:srgbClr val="2A2F2F"/>
          </a:solidFill>
          <a:ln/>
        </p:spPr>
      </p:sp>
      <p:sp>
        <p:nvSpPr>
          <p:cNvPr id="22" name="Shape 19"/>
          <p:cNvSpPr/>
          <p:nvPr/>
        </p:nvSpPr>
        <p:spPr>
          <a:xfrm>
            <a:off x="3872484" y="4343400"/>
            <a:ext cx="118872" cy="118872"/>
          </a:xfrm>
          <a:prstGeom prst="ellipse">
            <a:avLst/>
          </a:prstGeom>
          <a:solidFill>
            <a:srgbClr val="2A2F2F"/>
          </a:solidFill>
          <a:ln/>
        </p:spPr>
      </p:sp>
      <p:sp>
        <p:nvSpPr>
          <p:cNvPr id="23" name="Shape 20"/>
          <p:cNvSpPr/>
          <p:nvPr/>
        </p:nvSpPr>
        <p:spPr>
          <a:xfrm>
            <a:off x="4059936" y="4343400"/>
            <a:ext cx="118872" cy="118872"/>
          </a:xfrm>
          <a:prstGeom prst="ellipse">
            <a:avLst/>
          </a:prstGeom>
          <a:solidFill>
            <a:srgbClr val="2A2F2F"/>
          </a:solidFill>
          <a:ln/>
        </p:spPr>
      </p:sp>
      <p:sp>
        <p:nvSpPr>
          <p:cNvPr id="24" name="Shape 21"/>
          <p:cNvSpPr/>
          <p:nvPr/>
        </p:nvSpPr>
        <p:spPr>
          <a:xfrm>
            <a:off x="4247388" y="4343400"/>
            <a:ext cx="118872" cy="118872"/>
          </a:xfrm>
          <a:prstGeom prst="ellipse">
            <a:avLst/>
          </a:prstGeom>
          <a:solidFill>
            <a:srgbClr val="2A2F2F"/>
          </a:solidFill>
          <a:ln/>
        </p:spPr>
      </p:sp>
      <p:sp>
        <p:nvSpPr>
          <p:cNvPr id="25" name="Shape 22"/>
          <p:cNvSpPr/>
          <p:nvPr/>
        </p:nvSpPr>
        <p:spPr>
          <a:xfrm>
            <a:off x="4434840" y="4343400"/>
            <a:ext cx="118872" cy="118872"/>
          </a:xfrm>
          <a:prstGeom prst="ellipse">
            <a:avLst/>
          </a:prstGeom>
          <a:solidFill>
            <a:srgbClr val="2A2F2F"/>
          </a:solidFill>
          <a:ln/>
        </p:spPr>
      </p:sp>
      <p:sp>
        <p:nvSpPr>
          <p:cNvPr id="26" name="Shape 23"/>
          <p:cNvSpPr/>
          <p:nvPr/>
        </p:nvSpPr>
        <p:spPr>
          <a:xfrm>
            <a:off x="4622292" y="4343400"/>
            <a:ext cx="118872" cy="118872"/>
          </a:xfrm>
          <a:prstGeom prst="ellipse">
            <a:avLst/>
          </a:prstGeom>
          <a:solidFill>
            <a:srgbClr val="2A2F2F"/>
          </a:solidFill>
          <a:ln/>
        </p:spPr>
      </p:sp>
      <p:sp>
        <p:nvSpPr>
          <p:cNvPr id="27" name="Shape 24"/>
          <p:cNvSpPr/>
          <p:nvPr/>
        </p:nvSpPr>
        <p:spPr>
          <a:xfrm>
            <a:off x="4809744" y="4343400"/>
            <a:ext cx="118872" cy="118872"/>
          </a:xfrm>
          <a:prstGeom prst="ellipse">
            <a:avLst/>
          </a:prstGeom>
          <a:solidFill>
            <a:srgbClr val="2A2F2F"/>
          </a:solidFill>
          <a:ln/>
        </p:spPr>
      </p:sp>
      <p:sp>
        <p:nvSpPr>
          <p:cNvPr id="28" name="Shape 25"/>
          <p:cNvSpPr/>
          <p:nvPr/>
        </p:nvSpPr>
        <p:spPr>
          <a:xfrm>
            <a:off x="4997196" y="4343400"/>
            <a:ext cx="118872" cy="118872"/>
          </a:xfrm>
          <a:prstGeom prst="ellipse">
            <a:avLst/>
          </a:prstGeom>
          <a:solidFill>
            <a:srgbClr val="2A2F2F"/>
          </a:solidFill>
          <a:ln/>
        </p:spPr>
      </p:sp>
      <p:sp>
        <p:nvSpPr>
          <p:cNvPr id="29" name="Shape 26"/>
          <p:cNvSpPr/>
          <p:nvPr/>
        </p:nvSpPr>
        <p:spPr>
          <a:xfrm>
            <a:off x="5184648" y="4343400"/>
            <a:ext cx="118872" cy="118872"/>
          </a:xfrm>
          <a:prstGeom prst="ellipse">
            <a:avLst/>
          </a:prstGeom>
          <a:solidFill>
            <a:srgbClr val="2A2F2F"/>
          </a:solidFill>
          <a:ln/>
        </p:spPr>
      </p:sp>
      <p:sp>
        <p:nvSpPr>
          <p:cNvPr id="30" name="Text 27"/>
          <p:cNvSpPr/>
          <p:nvPr/>
        </p:nvSpPr>
        <p:spPr>
          <a:xfrm>
            <a:off x="685800" y="4709160"/>
            <a:ext cx="9144000" cy="274320"/>
          </a:xfrm>
          <a:prstGeom prst="rect">
            <a:avLst/>
          </a:prstGeom>
          <a:noFill/>
          <a:ln/>
        </p:spPr>
        <p:txBody>
          <a:bodyPr wrap="square" lIns="0" tIns="0" rIns="0" bIns="0" rtlCol="0" anchor="ctr"/>
          <a:lstStyle/>
          <a:p>
            <a:pPr indent="0" marL="0">
              <a:buNone/>
            </a:pPr>
            <a:r>
              <a:rPr lang="en-US" sz="1150" spc="160" kern="0" dirty="0">
                <a:solidFill>
                  <a:srgbClr val="7A7D7E"/>
                </a:solidFill>
                <a:latin typeface="Calibri" pitchFamily="34" charset="0"/>
                <a:ea typeface="Calibri" pitchFamily="34" charset="-122"/>
                <a:cs typeface="Calibri" pitchFamily="34" charset="-120"/>
              </a:rPr>
              <a:t>One verified human · one vote · sealed on a public ledger</a:t>
            </a:r>
            <a:endParaRPr lang="en-US" sz="1150" dirty="0"/>
          </a:p>
        </p:txBody>
      </p:sp>
      <p:sp>
        <p:nvSpPr>
          <p:cNvPr id="31" name="Text 28"/>
          <p:cNvSpPr/>
          <p:nvPr/>
        </p:nvSpPr>
        <p:spPr>
          <a:xfrm>
            <a:off x="685800" y="5806440"/>
            <a:ext cx="7315200" cy="274320"/>
          </a:xfrm>
          <a:prstGeom prst="rect">
            <a:avLst/>
          </a:prstGeom>
          <a:noFill/>
          <a:ln/>
        </p:spPr>
        <p:txBody>
          <a:bodyPr wrap="square" lIns="0" tIns="0" rIns="0" bIns="0" rtlCol="0" anchor="ctr"/>
          <a:lstStyle/>
          <a:p>
            <a:pPr indent="0" marL="0">
              <a:buNone/>
            </a:pPr>
            <a:r>
              <a:rPr lang="en-US" sz="1200" b="1" dirty="0">
                <a:solidFill>
                  <a:srgbClr val="F4F5F6"/>
                </a:solidFill>
                <a:latin typeface="Calibri" pitchFamily="34" charset="0"/>
                <a:ea typeface="Calibri" pitchFamily="34" charset="-122"/>
                <a:cs typeface="Calibri" pitchFamily="34" charset="-120"/>
              </a:rPr>
              <a:t>Investment proposal</a:t>
            </a:r>
            <a:pPr indent="0" marL="0">
              <a:buNone/>
            </a:pPr>
            <a:r>
              <a:rPr lang="en-US" sz="1200" dirty="0">
                <a:solidFill>
                  <a:srgbClr val="7A7D7E"/>
                </a:solidFill>
                <a:latin typeface="Calibri" pitchFamily="34" charset="0"/>
                <a:ea typeface="Calibri" pitchFamily="34" charset="-122"/>
                <a:cs typeface="Calibri" pitchFamily="34" charset="-120"/>
              </a:rPr>
              <a:t>   ·   Prepared for Phil   ·   Confidential</a:t>
            </a:r>
            <a:endParaRPr lang="en-US" sz="1200" dirty="0"/>
          </a:p>
        </p:txBody>
      </p:sp>
      <p:sp>
        <p:nvSpPr>
          <p:cNvPr id="32" name="Text 29"/>
          <p:cNvSpPr/>
          <p:nvPr/>
        </p:nvSpPr>
        <p:spPr>
          <a:xfrm>
            <a:off x="7848295" y="5806440"/>
            <a:ext cx="3657600" cy="274320"/>
          </a:xfrm>
          <a:prstGeom prst="rect">
            <a:avLst/>
          </a:prstGeom>
          <a:noFill/>
          <a:ln/>
        </p:spPr>
        <p:txBody>
          <a:bodyPr wrap="square" lIns="0" tIns="0" rIns="0" bIns="0" rtlCol="0" anchor="ctr"/>
          <a:lstStyle/>
          <a:p>
            <a:pPr algn="r" indent="0" marL="0">
              <a:buNone/>
            </a:pPr>
            <a:r>
              <a:rPr lang="en-US" sz="1200" dirty="0">
                <a:solidFill>
                  <a:srgbClr val="B8BABB"/>
                </a:solidFill>
                <a:latin typeface="Calibri" pitchFamily="34" charset="0"/>
                <a:ea typeface="Calibri" pitchFamily="34" charset="-122"/>
                <a:cs typeface="Calibri" pitchFamily="34" charset="-120"/>
              </a:rPr>
              <a:t>Lance Morrison, Founder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07"/>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EABA58"/>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85800" y="914400"/>
            <a:ext cx="10515600" cy="1554480"/>
          </a:xfrm>
          <a:prstGeom prst="rect">
            <a:avLst/>
          </a:prstGeom>
          <a:noFill/>
          <a:ln/>
        </p:spPr>
        <p:txBody>
          <a:bodyPr wrap="square" lIns="0" tIns="0" rIns="0" bIns="0" rtlCol="0" anchor="t"/>
          <a:lstStyle/>
          <a:p>
            <a:pPr indent="0" marL="0">
              <a:lnSpc>
                <a:spcPts val="4400"/>
              </a:lnSpc>
              <a:buNone/>
            </a:pPr>
            <a:r>
              <a:rPr lang="en-US" sz="3800" dirty="0">
                <a:solidFill>
                  <a:srgbClr val="F4F5F6"/>
                </a:solidFill>
                <a:latin typeface="Cambria" pitchFamily="34" charset="0"/>
                <a:ea typeface="Cambria" pitchFamily="34" charset="-122"/>
                <a:cs typeface="Cambria" pitchFamily="34" charset="-120"/>
              </a:rPr>
              <a:t>Nobody can prove who</a:t>
            </a:r>
            <a:endParaRPr lang="en-US" sz="3800" dirty="0"/>
          </a:p>
          <a:p>
            <a:pPr indent="0" marL="0">
              <a:lnSpc>
                <a:spcPts val="4400"/>
              </a:lnSpc>
              <a:buNone/>
            </a:pPr>
            <a:r>
              <a:rPr lang="en-US" sz="3800" dirty="0">
                <a:solidFill>
                  <a:srgbClr val="F4F5F6"/>
                </a:solidFill>
                <a:latin typeface="Cambria" pitchFamily="34" charset="0"/>
                <a:ea typeface="Cambria" pitchFamily="34" charset="-122"/>
                <a:cs typeface="Cambria" pitchFamily="34" charset="-120"/>
              </a:rPr>
              <a:t>actually voted.</a:t>
            </a:r>
            <a:endParaRPr lang="en-US" sz="3800" dirty="0"/>
          </a:p>
        </p:txBody>
      </p:sp>
      <p:sp>
        <p:nvSpPr>
          <p:cNvPr id="4" name="Text 2"/>
          <p:cNvSpPr/>
          <p:nvPr/>
        </p:nvSpPr>
        <p:spPr>
          <a:xfrm>
            <a:off x="685800" y="2697480"/>
            <a:ext cx="4754880" cy="914400"/>
          </a:xfrm>
          <a:prstGeom prst="rect">
            <a:avLst/>
          </a:prstGeom>
          <a:noFill/>
          <a:ln/>
        </p:spPr>
        <p:txBody>
          <a:bodyPr wrap="square" lIns="0" tIns="0" rIns="0" bIns="0" rtlCol="0" anchor="ctr"/>
          <a:lstStyle/>
          <a:p>
            <a:pPr indent="0" marL="0">
              <a:buNone/>
            </a:pPr>
            <a:r>
              <a:rPr lang="en-US" sz="6600" b="1" dirty="0">
                <a:solidFill>
                  <a:srgbClr val="EABA58"/>
                </a:solidFill>
                <a:latin typeface="Cambria" pitchFamily="34" charset="0"/>
                <a:ea typeface="Cambria" pitchFamily="34" charset="-122"/>
                <a:cs typeface="Cambria" pitchFamily="34" charset="-120"/>
              </a:rPr>
              <a:t>386,698</a:t>
            </a:r>
            <a:endParaRPr lang="en-US" sz="6600" dirty="0"/>
          </a:p>
        </p:txBody>
      </p:sp>
      <p:sp>
        <p:nvSpPr>
          <p:cNvPr id="5" name="Text 3"/>
          <p:cNvSpPr/>
          <p:nvPr/>
        </p:nvSpPr>
        <p:spPr>
          <a:xfrm>
            <a:off x="685800" y="3611880"/>
            <a:ext cx="4754880" cy="822960"/>
          </a:xfrm>
          <a:prstGeom prst="rect">
            <a:avLst/>
          </a:prstGeom>
          <a:noFill/>
          <a:ln/>
        </p:spPr>
        <p:txBody>
          <a:bodyPr wrap="square" lIns="0" tIns="0" rIns="0" bIns="0" rtlCol="0" anchor="ctr"/>
          <a:lstStyle/>
          <a:p>
            <a:pPr indent="0" marL="0">
              <a:buNone/>
            </a:pPr>
            <a:r>
              <a:rPr lang="en-US" sz="1350" dirty="0">
                <a:solidFill>
                  <a:srgbClr val="B8BABB"/>
                </a:solidFill>
                <a:latin typeface="Calibri" pitchFamily="34" charset="0"/>
                <a:ea typeface="Calibri" pitchFamily="34" charset="-122"/>
                <a:cs typeface="Calibri" pitchFamily="34" charset="-120"/>
              </a:rPr>
              <a:t>signatures on the largest petition in Canadian history — dismissed in a single news cycle.</a:t>
            </a:r>
            <a:endParaRPr lang="en-US" sz="1350" dirty="0"/>
          </a:p>
        </p:txBody>
      </p:sp>
      <p:sp>
        <p:nvSpPr>
          <p:cNvPr id="6" name="Text 4"/>
          <p:cNvSpPr/>
          <p:nvPr/>
        </p:nvSpPr>
        <p:spPr>
          <a:xfrm>
            <a:off x="685800" y="4480560"/>
            <a:ext cx="4754880" cy="822960"/>
          </a:xfrm>
          <a:prstGeom prst="rect">
            <a:avLst/>
          </a:prstGeom>
          <a:noFill/>
          <a:ln/>
        </p:spPr>
        <p:txBody>
          <a:bodyPr wrap="square" lIns="0" tIns="0" rIns="0" bIns="0" rtlCol="0" anchor="ctr"/>
          <a:lstStyle/>
          <a:p>
            <a:pPr indent="0" marL="0">
              <a:buNone/>
            </a:pPr>
            <a:r>
              <a:rPr lang="en-US" sz="1500" i="1" dirty="0">
                <a:solidFill>
                  <a:srgbClr val="F4F5F6"/>
                </a:solidFill>
                <a:latin typeface="Cambria" pitchFamily="34" charset="0"/>
                <a:ea typeface="Cambria" pitchFamily="34" charset="-122"/>
                <a:cs typeface="Cambria" pitchFamily="34" charset="-120"/>
              </a:rPr>
              <a:t>Not because the cause was wrong. Because no one could prove the signers were real people.</a:t>
            </a:r>
            <a:endParaRPr lang="en-US" sz="1500" dirty="0"/>
          </a:p>
        </p:txBody>
      </p:sp>
      <p:sp>
        <p:nvSpPr>
          <p:cNvPr id="7" name="Shape 5"/>
          <p:cNvSpPr/>
          <p:nvPr/>
        </p:nvSpPr>
        <p:spPr>
          <a:xfrm>
            <a:off x="6172200" y="2697480"/>
            <a:ext cx="5303520" cy="914400"/>
          </a:xfrm>
          <a:prstGeom prst="roundRect">
            <a:avLst>
              <a:gd name="adj" fmla="val 6000"/>
            </a:avLst>
          </a:prstGeom>
          <a:solidFill>
            <a:srgbClr val="141818"/>
          </a:solidFill>
          <a:ln w="12700">
            <a:solidFill>
              <a:srgbClr val="23292A"/>
            </a:solidFill>
            <a:prstDash val="solid"/>
          </a:ln>
        </p:spPr>
      </p:sp>
      <p:sp>
        <p:nvSpPr>
          <p:cNvPr id="8" name="Text 6"/>
          <p:cNvSpPr/>
          <p:nvPr/>
        </p:nvSpPr>
        <p:spPr>
          <a:xfrm>
            <a:off x="6446520" y="2816352"/>
            <a:ext cx="4754880" cy="274320"/>
          </a:xfrm>
          <a:prstGeom prst="rect">
            <a:avLst/>
          </a:prstGeom>
          <a:noFill/>
          <a:ln/>
        </p:spPr>
        <p:txBody>
          <a:bodyPr wrap="square" lIns="0" tIns="0" rIns="0" bIns="0" rtlCol="0" anchor="ctr"/>
          <a:lstStyle/>
          <a:p>
            <a:pPr indent="0" marL="0">
              <a:buNone/>
            </a:pPr>
            <a:r>
              <a:rPr lang="en-US" sz="1400" b="1" dirty="0">
                <a:solidFill>
                  <a:srgbClr val="EABA58"/>
                </a:solidFill>
                <a:latin typeface="Calibri" pitchFamily="34" charset="0"/>
                <a:ea typeface="Calibri" pitchFamily="34" charset="-122"/>
                <a:cs typeface="Calibri" pitchFamily="34" charset="-120"/>
              </a:rPr>
              <a:t>Bots</a:t>
            </a:r>
            <a:endParaRPr lang="en-US" sz="1400" dirty="0"/>
          </a:p>
        </p:txBody>
      </p:sp>
      <p:sp>
        <p:nvSpPr>
          <p:cNvPr id="9" name="Text 7"/>
          <p:cNvSpPr/>
          <p:nvPr/>
        </p:nvSpPr>
        <p:spPr>
          <a:xfrm>
            <a:off x="6446520" y="3099816"/>
            <a:ext cx="4846320" cy="4572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Ten thousand plausible accounts now cost almost nothing to generate.</a:t>
            </a:r>
            <a:endParaRPr lang="en-US" sz="1150" dirty="0"/>
          </a:p>
        </p:txBody>
      </p:sp>
      <p:sp>
        <p:nvSpPr>
          <p:cNvPr id="10" name="Shape 8"/>
          <p:cNvSpPr/>
          <p:nvPr/>
        </p:nvSpPr>
        <p:spPr>
          <a:xfrm>
            <a:off x="6172200" y="3776472"/>
            <a:ext cx="5303520" cy="914400"/>
          </a:xfrm>
          <a:prstGeom prst="roundRect">
            <a:avLst>
              <a:gd name="adj" fmla="val 6000"/>
            </a:avLst>
          </a:prstGeom>
          <a:solidFill>
            <a:srgbClr val="141818"/>
          </a:solidFill>
          <a:ln w="12700">
            <a:solidFill>
              <a:srgbClr val="23292A"/>
            </a:solidFill>
            <a:prstDash val="solid"/>
          </a:ln>
        </p:spPr>
      </p:sp>
      <p:sp>
        <p:nvSpPr>
          <p:cNvPr id="11" name="Text 9"/>
          <p:cNvSpPr/>
          <p:nvPr/>
        </p:nvSpPr>
        <p:spPr>
          <a:xfrm>
            <a:off x="6446520" y="3895344"/>
            <a:ext cx="4754880" cy="274320"/>
          </a:xfrm>
          <a:prstGeom prst="rect">
            <a:avLst/>
          </a:prstGeom>
          <a:noFill/>
          <a:ln/>
        </p:spPr>
        <p:txBody>
          <a:bodyPr wrap="square" lIns="0" tIns="0" rIns="0" bIns="0" rtlCol="0" anchor="ctr"/>
          <a:lstStyle/>
          <a:p>
            <a:pPr indent="0" marL="0">
              <a:buNone/>
            </a:pPr>
            <a:r>
              <a:rPr lang="en-US" sz="1400" b="1" dirty="0">
                <a:solidFill>
                  <a:srgbClr val="EABA58"/>
                </a:solidFill>
                <a:latin typeface="Calibri" pitchFamily="34" charset="0"/>
                <a:ea typeface="Calibri" pitchFamily="34" charset="-122"/>
                <a:cs typeface="Calibri" pitchFamily="34" charset="-120"/>
              </a:rPr>
              <a:t>Duplicates</a:t>
            </a:r>
            <a:endParaRPr lang="en-US" sz="1400" dirty="0"/>
          </a:p>
        </p:txBody>
      </p:sp>
      <p:sp>
        <p:nvSpPr>
          <p:cNvPr id="12" name="Text 10"/>
          <p:cNvSpPr/>
          <p:nvPr/>
        </p:nvSpPr>
        <p:spPr>
          <a:xfrm>
            <a:off x="6446520" y="4178808"/>
            <a:ext cx="4846320" cy="4572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One motivated person can vote fifty times and no system catches it.</a:t>
            </a:r>
            <a:endParaRPr lang="en-US" sz="1150" dirty="0"/>
          </a:p>
        </p:txBody>
      </p:sp>
      <p:sp>
        <p:nvSpPr>
          <p:cNvPr id="13" name="Shape 11"/>
          <p:cNvSpPr/>
          <p:nvPr/>
        </p:nvSpPr>
        <p:spPr>
          <a:xfrm>
            <a:off x="6172200" y="4855464"/>
            <a:ext cx="5303520" cy="914400"/>
          </a:xfrm>
          <a:prstGeom prst="roundRect">
            <a:avLst>
              <a:gd name="adj" fmla="val 6000"/>
            </a:avLst>
          </a:prstGeom>
          <a:solidFill>
            <a:srgbClr val="141818"/>
          </a:solidFill>
          <a:ln w="12700">
            <a:solidFill>
              <a:srgbClr val="23292A"/>
            </a:solidFill>
            <a:prstDash val="solid"/>
          </a:ln>
        </p:spPr>
      </p:sp>
      <p:sp>
        <p:nvSpPr>
          <p:cNvPr id="14" name="Text 12"/>
          <p:cNvSpPr/>
          <p:nvPr/>
        </p:nvSpPr>
        <p:spPr>
          <a:xfrm>
            <a:off x="6446520" y="4974336"/>
            <a:ext cx="4754880" cy="274320"/>
          </a:xfrm>
          <a:prstGeom prst="rect">
            <a:avLst/>
          </a:prstGeom>
          <a:noFill/>
          <a:ln/>
        </p:spPr>
        <p:txBody>
          <a:bodyPr wrap="square" lIns="0" tIns="0" rIns="0" bIns="0" rtlCol="0" anchor="ctr"/>
          <a:lstStyle/>
          <a:p>
            <a:pPr indent="0" marL="0">
              <a:buNone/>
            </a:pPr>
            <a:r>
              <a:rPr lang="en-US" sz="1400" b="1" dirty="0">
                <a:solidFill>
                  <a:srgbClr val="EABA58"/>
                </a:solidFill>
                <a:latin typeface="Calibri" pitchFamily="34" charset="0"/>
                <a:ea typeface="Calibri" pitchFamily="34" charset="-122"/>
                <a:cs typeface="Calibri" pitchFamily="34" charset="-120"/>
              </a:rPr>
              <a:t>Outsiders</a:t>
            </a:r>
            <a:endParaRPr lang="en-US" sz="1400" dirty="0"/>
          </a:p>
        </p:txBody>
      </p:sp>
      <p:sp>
        <p:nvSpPr>
          <p:cNvPr id="15" name="Text 13"/>
          <p:cNvSpPr/>
          <p:nvPr/>
        </p:nvSpPr>
        <p:spPr>
          <a:xfrm>
            <a:off x="6446520" y="5257800"/>
            <a:ext cx="4846320" cy="4572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Nothing ties an opinion about a place to someone who lives there.</a:t>
            </a:r>
            <a:endParaRPr lang="en-US" sz="1150" dirty="0"/>
          </a:p>
        </p:txBody>
      </p:sp>
      <p:sp>
        <p:nvSpPr>
          <p:cNvPr id="16" name="Text 14"/>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7A7D7E"/>
                </a:solidFill>
                <a:latin typeface="Calibri" pitchFamily="34" charset="0"/>
                <a:ea typeface="Calibri" pitchFamily="34" charset="-122"/>
                <a:cs typeface="Calibri" pitchFamily="34" charset="-120"/>
              </a:rPr>
              <a:t>REPRESENT</a:t>
            </a:r>
            <a:endParaRPr lang="en-US" sz="850" dirty="0"/>
          </a:p>
        </p:txBody>
      </p:sp>
      <p:sp>
        <p:nvSpPr>
          <p:cNvPr id="17" name="Text 15"/>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7A7D7E"/>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07"/>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EABA58"/>
                </a:solidFill>
                <a:latin typeface="Calibri" pitchFamily="34" charset="0"/>
                <a:ea typeface="Calibri" pitchFamily="34" charset="-122"/>
                <a:cs typeface="Calibri" pitchFamily="34" charset="-120"/>
              </a:rPr>
              <a:t>WHY NOW</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F4F5F6"/>
                </a:solidFill>
                <a:latin typeface="Cambria" pitchFamily="34" charset="0"/>
                <a:ea typeface="Cambria" pitchFamily="34" charset="-122"/>
                <a:cs typeface="Cambria" pitchFamily="34" charset="-120"/>
              </a:rPr>
              <a:t>Three things changed at once.</a:t>
            </a:r>
            <a:endParaRPr lang="en-US" sz="3800" dirty="0"/>
          </a:p>
        </p:txBody>
      </p:sp>
      <p:sp>
        <p:nvSpPr>
          <p:cNvPr id="4" name="Shape 2"/>
          <p:cNvSpPr/>
          <p:nvPr/>
        </p:nvSpPr>
        <p:spPr>
          <a:xfrm>
            <a:off x="685800" y="1965960"/>
            <a:ext cx="475488" cy="475488"/>
          </a:xfrm>
          <a:prstGeom prst="ellipse">
            <a:avLst/>
          </a:prstGeom>
          <a:solidFill>
            <a:srgbClr val="1F1B12"/>
          </a:solidFill>
          <a:ln w="12700">
            <a:solidFill>
              <a:srgbClr val="EABA58"/>
            </a:solidFill>
            <a:prstDash val="solid"/>
          </a:ln>
        </p:spPr>
      </p:sp>
      <p:sp>
        <p:nvSpPr>
          <p:cNvPr id="5" name="Text 3"/>
          <p:cNvSpPr/>
          <p:nvPr/>
        </p:nvSpPr>
        <p:spPr>
          <a:xfrm>
            <a:off x="685800" y="1965960"/>
            <a:ext cx="475488" cy="475488"/>
          </a:xfrm>
          <a:prstGeom prst="rect">
            <a:avLst/>
          </a:prstGeom>
          <a:noFill/>
          <a:ln/>
        </p:spPr>
        <p:txBody>
          <a:bodyPr wrap="square" lIns="0" tIns="0" rIns="0" bIns="0" rtlCol="0" anchor="ctr"/>
          <a:lstStyle/>
          <a:p>
            <a:pPr algn="ctr" indent="0" marL="0">
              <a:buNone/>
            </a:pPr>
            <a:r>
              <a:rPr lang="en-US" sz="1500" b="1" dirty="0">
                <a:solidFill>
                  <a:srgbClr val="EABA58"/>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463040" y="1947672"/>
            <a:ext cx="10058400" cy="320040"/>
          </a:xfrm>
          <a:prstGeom prst="rect">
            <a:avLst/>
          </a:prstGeom>
          <a:noFill/>
          <a:ln/>
        </p:spPr>
        <p:txBody>
          <a:bodyPr wrap="square" lIns="0" tIns="0" rIns="0" bIns="0" rtlCol="0" anchor="ctr"/>
          <a:lstStyle/>
          <a:p>
            <a:pPr indent="0" marL="0">
              <a:buNone/>
            </a:pPr>
            <a:r>
              <a:rPr lang="en-US" sz="2000" dirty="0">
                <a:solidFill>
                  <a:srgbClr val="F4F5F6"/>
                </a:solidFill>
                <a:latin typeface="Cambria" pitchFamily="34" charset="0"/>
                <a:ea typeface="Cambria" pitchFamily="34" charset="-122"/>
                <a:cs typeface="Cambria" pitchFamily="34" charset="-120"/>
              </a:rPr>
              <a:t>AI made fake consensus free.</a:t>
            </a:r>
            <a:endParaRPr lang="en-US" sz="2000" dirty="0"/>
          </a:p>
        </p:txBody>
      </p:sp>
      <p:sp>
        <p:nvSpPr>
          <p:cNvPr id="7" name="Text 5"/>
          <p:cNvSpPr/>
          <p:nvPr/>
        </p:nvSpPr>
        <p:spPr>
          <a:xfrm>
            <a:off x="1463040" y="2313432"/>
            <a:ext cx="10241280" cy="64008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Generating thousands of convincing accounts, comments and signatures went from expensive to trivial. Every unverified number online is now suspect by default.</a:t>
            </a:r>
            <a:endParaRPr lang="en-US" sz="1250" dirty="0"/>
          </a:p>
        </p:txBody>
      </p:sp>
      <p:sp>
        <p:nvSpPr>
          <p:cNvPr id="8" name="Shape 6"/>
          <p:cNvSpPr/>
          <p:nvPr/>
        </p:nvSpPr>
        <p:spPr>
          <a:xfrm>
            <a:off x="685800" y="3291840"/>
            <a:ext cx="475488" cy="475488"/>
          </a:xfrm>
          <a:prstGeom prst="ellipse">
            <a:avLst/>
          </a:prstGeom>
          <a:solidFill>
            <a:srgbClr val="1F1B12"/>
          </a:solidFill>
          <a:ln w="12700">
            <a:solidFill>
              <a:srgbClr val="EABA58"/>
            </a:solidFill>
            <a:prstDash val="solid"/>
          </a:ln>
        </p:spPr>
      </p:sp>
      <p:sp>
        <p:nvSpPr>
          <p:cNvPr id="9" name="Text 7"/>
          <p:cNvSpPr/>
          <p:nvPr/>
        </p:nvSpPr>
        <p:spPr>
          <a:xfrm>
            <a:off x="685800" y="3291840"/>
            <a:ext cx="475488" cy="475488"/>
          </a:xfrm>
          <a:prstGeom prst="rect">
            <a:avLst/>
          </a:prstGeom>
          <a:noFill/>
          <a:ln/>
        </p:spPr>
        <p:txBody>
          <a:bodyPr wrap="square" lIns="0" tIns="0" rIns="0" bIns="0" rtlCol="0" anchor="ctr"/>
          <a:lstStyle/>
          <a:p>
            <a:pPr algn="ctr" indent="0" marL="0">
              <a:buNone/>
            </a:pPr>
            <a:r>
              <a:rPr lang="en-US" sz="1500" b="1" dirty="0">
                <a:solidFill>
                  <a:srgbClr val="EABA58"/>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463040" y="3273552"/>
            <a:ext cx="10058400" cy="320040"/>
          </a:xfrm>
          <a:prstGeom prst="rect">
            <a:avLst/>
          </a:prstGeom>
          <a:noFill/>
          <a:ln/>
        </p:spPr>
        <p:txBody>
          <a:bodyPr wrap="square" lIns="0" tIns="0" rIns="0" bIns="0" rtlCol="0" anchor="ctr"/>
          <a:lstStyle/>
          <a:p>
            <a:pPr indent="0" marL="0">
              <a:buNone/>
            </a:pPr>
            <a:r>
              <a:rPr lang="en-US" sz="2000" dirty="0">
                <a:solidFill>
                  <a:srgbClr val="F4F5F6"/>
                </a:solidFill>
                <a:latin typeface="Cambria" pitchFamily="34" charset="0"/>
                <a:ea typeface="Cambria" pitchFamily="34" charset="-122"/>
                <a:cs typeface="Cambria" pitchFamily="34" charset="-120"/>
              </a:rPr>
              <a:t>Institutions stopped listening to digital input.</a:t>
            </a:r>
            <a:endParaRPr lang="en-US" sz="2000" dirty="0"/>
          </a:p>
        </p:txBody>
      </p:sp>
      <p:sp>
        <p:nvSpPr>
          <p:cNvPr id="11" name="Text 9"/>
          <p:cNvSpPr/>
          <p:nvPr/>
        </p:nvSpPr>
        <p:spPr>
          <a:xfrm>
            <a:off x="1463040" y="3639312"/>
            <a:ext cx="10241280" cy="64008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Petitions, consultations and online polls are routinely discarded — not out of malice, but because no official can defend a number they cannot verify.</a:t>
            </a:r>
            <a:endParaRPr lang="en-US" sz="1250" dirty="0"/>
          </a:p>
        </p:txBody>
      </p:sp>
      <p:sp>
        <p:nvSpPr>
          <p:cNvPr id="12" name="Shape 10"/>
          <p:cNvSpPr/>
          <p:nvPr/>
        </p:nvSpPr>
        <p:spPr>
          <a:xfrm>
            <a:off x="685800" y="4617720"/>
            <a:ext cx="475488" cy="475488"/>
          </a:xfrm>
          <a:prstGeom prst="ellipse">
            <a:avLst/>
          </a:prstGeom>
          <a:solidFill>
            <a:srgbClr val="1F1B12"/>
          </a:solidFill>
          <a:ln w="12700">
            <a:solidFill>
              <a:srgbClr val="EABA58"/>
            </a:solidFill>
            <a:prstDash val="solid"/>
          </a:ln>
        </p:spPr>
      </p:sp>
      <p:sp>
        <p:nvSpPr>
          <p:cNvPr id="13" name="Text 11"/>
          <p:cNvSpPr/>
          <p:nvPr/>
        </p:nvSpPr>
        <p:spPr>
          <a:xfrm>
            <a:off x="685800" y="4617720"/>
            <a:ext cx="475488" cy="475488"/>
          </a:xfrm>
          <a:prstGeom prst="rect">
            <a:avLst/>
          </a:prstGeom>
          <a:noFill/>
          <a:ln/>
        </p:spPr>
        <p:txBody>
          <a:bodyPr wrap="square" lIns="0" tIns="0" rIns="0" bIns="0" rtlCol="0" anchor="ctr"/>
          <a:lstStyle/>
          <a:p>
            <a:pPr algn="ctr" indent="0" marL="0">
              <a:buNone/>
            </a:pPr>
            <a:r>
              <a:rPr lang="en-US" sz="1500" b="1" dirty="0">
                <a:solidFill>
                  <a:srgbClr val="EABA58"/>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463040" y="4599432"/>
            <a:ext cx="10058400" cy="320040"/>
          </a:xfrm>
          <a:prstGeom prst="rect">
            <a:avLst/>
          </a:prstGeom>
          <a:noFill/>
          <a:ln/>
        </p:spPr>
        <p:txBody>
          <a:bodyPr wrap="square" lIns="0" tIns="0" rIns="0" bIns="0" rtlCol="0" anchor="ctr"/>
          <a:lstStyle/>
          <a:p>
            <a:pPr indent="0" marL="0">
              <a:buNone/>
            </a:pPr>
            <a:r>
              <a:rPr lang="en-US" sz="2000" dirty="0">
                <a:solidFill>
                  <a:srgbClr val="F4F5F6"/>
                </a:solidFill>
                <a:latin typeface="Cambria" pitchFamily="34" charset="0"/>
                <a:ea typeface="Cambria" pitchFamily="34" charset="-122"/>
                <a:cs typeface="Cambria" pitchFamily="34" charset="-120"/>
              </a:rPr>
              <a:t>Identity verification finally got cheap.</a:t>
            </a:r>
            <a:endParaRPr lang="en-US" sz="2000" dirty="0"/>
          </a:p>
        </p:txBody>
      </p:sp>
      <p:sp>
        <p:nvSpPr>
          <p:cNvPr id="15" name="Text 13"/>
          <p:cNvSpPr/>
          <p:nvPr/>
        </p:nvSpPr>
        <p:spPr>
          <a:xfrm>
            <a:off x="1463040" y="4965192"/>
            <a:ext cx="10241280" cy="64008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A government-ID check with liveness detection now costs under $0.35 and takes about three minutes. Five years ago this product was not economically possible.</a:t>
            </a:r>
            <a:endParaRPr lang="en-US" sz="1250" dirty="0"/>
          </a:p>
        </p:txBody>
      </p:sp>
      <p:sp>
        <p:nvSpPr>
          <p:cNvPr id="16" name="Text 14"/>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7A7D7E"/>
                </a:solidFill>
                <a:latin typeface="Calibri" pitchFamily="34" charset="0"/>
                <a:ea typeface="Calibri" pitchFamily="34" charset="-122"/>
                <a:cs typeface="Calibri" pitchFamily="34" charset="-120"/>
              </a:rPr>
              <a:t>REPRESENT</a:t>
            </a:r>
            <a:endParaRPr lang="en-US" sz="850" dirty="0"/>
          </a:p>
        </p:txBody>
      </p:sp>
      <p:sp>
        <p:nvSpPr>
          <p:cNvPr id="17" name="Text 15"/>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7A7D7E"/>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THE PRODUCT</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One verified human. One vote.</a:t>
            </a:r>
            <a:endParaRPr lang="en-US" sz="3800" dirty="0"/>
          </a:p>
        </p:txBody>
      </p:sp>
      <p:sp>
        <p:nvSpPr>
          <p:cNvPr id="4" name="Text 2"/>
          <p:cNvSpPr/>
          <p:nvPr/>
        </p:nvSpPr>
        <p:spPr>
          <a:xfrm>
            <a:off x="685800" y="1783080"/>
            <a:ext cx="10515600" cy="548640"/>
          </a:xfrm>
          <a:prstGeom prst="rect">
            <a:avLst/>
          </a:prstGeom>
          <a:noFill/>
          <a:ln/>
        </p:spPr>
        <p:txBody>
          <a:bodyPr wrap="square" lIns="0" tIns="0" rIns="0" bIns="0" rtlCol="0" anchor="ctr"/>
          <a:lstStyle/>
          <a:p>
            <a:pPr indent="0" marL="0">
              <a:buNone/>
            </a:pPr>
            <a:r>
              <a:rPr lang="en-US" sz="1400" dirty="0">
                <a:solidFill>
                  <a:srgbClr val="6B655C"/>
                </a:solidFill>
                <a:latin typeface="Calibri" pitchFamily="34" charset="0"/>
                <a:ea typeface="Calibri" pitchFamily="34" charset="-122"/>
                <a:cs typeface="Calibri" pitchFamily="34" charset="-120"/>
              </a:rPr>
              <a:t>Represent is a civic voting platform where every participant has passed a government-ID check, and every ballot is written to a public ledger anyone can audit.</a:t>
            </a:r>
            <a:endParaRPr lang="en-US" sz="1400" dirty="0"/>
          </a:p>
        </p:txBody>
      </p:sp>
      <p:sp>
        <p:nvSpPr>
          <p:cNvPr id="5" name="Shape 3"/>
          <p:cNvSpPr/>
          <p:nvPr/>
        </p:nvSpPr>
        <p:spPr>
          <a:xfrm>
            <a:off x="685800" y="2514600"/>
            <a:ext cx="3429000" cy="2788920"/>
          </a:xfrm>
          <a:prstGeom prst="roundRect">
            <a:avLst>
              <a:gd name="adj" fmla="val 1967"/>
            </a:avLst>
          </a:prstGeom>
          <a:solidFill>
            <a:srgbClr val="F2EEE7"/>
          </a:solidFill>
          <a:ln w="12700">
            <a:solidFill>
              <a:srgbClr val="DED7CB"/>
            </a:solidFill>
            <a:prstDash val="solid"/>
          </a:ln>
        </p:spPr>
      </p:sp>
      <p:sp>
        <p:nvSpPr>
          <p:cNvPr id="6" name="Shape 4"/>
          <p:cNvSpPr/>
          <p:nvPr/>
        </p:nvSpPr>
        <p:spPr>
          <a:xfrm>
            <a:off x="960120" y="2788920"/>
            <a:ext cx="118872" cy="118872"/>
          </a:xfrm>
          <a:prstGeom prst="ellipse">
            <a:avLst/>
          </a:prstGeom>
          <a:solidFill>
            <a:srgbClr val="EABA58"/>
          </a:solidFill>
          <a:ln/>
        </p:spPr>
      </p:sp>
      <p:sp>
        <p:nvSpPr>
          <p:cNvPr id="7" name="Shape 5"/>
          <p:cNvSpPr/>
          <p:nvPr/>
        </p:nvSpPr>
        <p:spPr>
          <a:xfrm>
            <a:off x="1152144" y="2788920"/>
            <a:ext cx="118872" cy="118872"/>
          </a:xfrm>
          <a:prstGeom prst="ellipse">
            <a:avLst/>
          </a:prstGeom>
          <a:solidFill>
            <a:srgbClr val="DED7CB"/>
          </a:solidFill>
          <a:ln/>
        </p:spPr>
      </p:sp>
      <p:sp>
        <p:nvSpPr>
          <p:cNvPr id="8" name="Shape 6"/>
          <p:cNvSpPr/>
          <p:nvPr/>
        </p:nvSpPr>
        <p:spPr>
          <a:xfrm>
            <a:off x="1344168" y="2788920"/>
            <a:ext cx="118872" cy="118872"/>
          </a:xfrm>
          <a:prstGeom prst="ellipse">
            <a:avLst/>
          </a:prstGeom>
          <a:solidFill>
            <a:srgbClr val="DED7CB"/>
          </a:solidFill>
          <a:ln/>
        </p:spPr>
      </p:sp>
      <p:sp>
        <p:nvSpPr>
          <p:cNvPr id="9" name="Shape 7"/>
          <p:cNvSpPr/>
          <p:nvPr/>
        </p:nvSpPr>
        <p:spPr>
          <a:xfrm>
            <a:off x="1536192" y="2788920"/>
            <a:ext cx="118872" cy="118872"/>
          </a:xfrm>
          <a:prstGeom prst="ellipse">
            <a:avLst/>
          </a:prstGeom>
          <a:solidFill>
            <a:srgbClr val="DED7CB"/>
          </a:solidFill>
          <a:ln/>
        </p:spPr>
      </p:sp>
      <p:sp>
        <p:nvSpPr>
          <p:cNvPr id="10" name="Shape 8"/>
          <p:cNvSpPr/>
          <p:nvPr/>
        </p:nvSpPr>
        <p:spPr>
          <a:xfrm>
            <a:off x="1728216" y="2788920"/>
            <a:ext cx="118872" cy="118872"/>
          </a:xfrm>
          <a:prstGeom prst="ellipse">
            <a:avLst/>
          </a:prstGeom>
          <a:solidFill>
            <a:srgbClr val="DED7CB"/>
          </a:solidFill>
          <a:ln/>
        </p:spPr>
      </p:sp>
      <p:sp>
        <p:nvSpPr>
          <p:cNvPr id="11" name="Text 9"/>
          <p:cNvSpPr/>
          <p:nvPr/>
        </p:nvSpPr>
        <p:spPr>
          <a:xfrm>
            <a:off x="960120" y="3063240"/>
            <a:ext cx="29260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Verified identity</a:t>
            </a:r>
            <a:endParaRPr lang="en-US" sz="1900" dirty="0"/>
          </a:p>
        </p:txBody>
      </p:sp>
      <p:sp>
        <p:nvSpPr>
          <p:cNvPr id="12" name="Text 10"/>
          <p:cNvSpPr/>
          <p:nvPr/>
        </p:nvSpPr>
        <p:spPr>
          <a:xfrm>
            <a:off x="960120" y="3456432"/>
            <a:ext cx="2926080" cy="155448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Government ID plus a liveness check, through a certified provider. Location comes from the document itself — not a dropdown, not GPS.</a:t>
            </a:r>
            <a:endParaRPr lang="en-US" sz="1200" dirty="0"/>
          </a:p>
        </p:txBody>
      </p:sp>
      <p:sp>
        <p:nvSpPr>
          <p:cNvPr id="13" name="Text 11"/>
          <p:cNvSpPr/>
          <p:nvPr/>
        </p:nvSpPr>
        <p:spPr>
          <a:xfrm>
            <a:off x="960120" y="4709160"/>
            <a:ext cx="2926080" cy="411480"/>
          </a:xfrm>
          <a:prstGeom prst="rect">
            <a:avLst/>
          </a:prstGeom>
          <a:noFill/>
          <a:ln/>
        </p:spPr>
        <p:txBody>
          <a:bodyPr wrap="square" lIns="0" tIns="0" rIns="0" bIns="0" rtlCol="0" anchor="ctr"/>
          <a:lstStyle/>
          <a:p>
            <a:pPr indent="0" marL="0">
              <a:buNone/>
            </a:pPr>
            <a:r>
              <a:rPr lang="en-US" sz="1200" i="1" dirty="0">
                <a:solidFill>
                  <a:srgbClr val="C99A38"/>
                </a:solidFill>
                <a:latin typeface="Cambria" pitchFamily="34" charset="0"/>
                <a:ea typeface="Cambria" pitchFamily="34" charset="-122"/>
                <a:cs typeface="Cambria" pitchFamily="34" charset="-120"/>
              </a:rPr>
              <a:t>We never store the documents.</a:t>
            </a:r>
            <a:endParaRPr lang="en-US" sz="1200" dirty="0"/>
          </a:p>
        </p:txBody>
      </p:sp>
      <p:sp>
        <p:nvSpPr>
          <p:cNvPr id="14" name="Shape 12"/>
          <p:cNvSpPr/>
          <p:nvPr/>
        </p:nvSpPr>
        <p:spPr>
          <a:xfrm>
            <a:off x="4370832" y="2514600"/>
            <a:ext cx="3429000" cy="2788920"/>
          </a:xfrm>
          <a:prstGeom prst="roundRect">
            <a:avLst>
              <a:gd name="adj" fmla="val 1967"/>
            </a:avLst>
          </a:prstGeom>
          <a:solidFill>
            <a:srgbClr val="F2EEE7"/>
          </a:solidFill>
          <a:ln w="12700">
            <a:solidFill>
              <a:srgbClr val="DED7CB"/>
            </a:solidFill>
            <a:prstDash val="solid"/>
          </a:ln>
        </p:spPr>
      </p:sp>
      <p:sp>
        <p:nvSpPr>
          <p:cNvPr id="15" name="Shape 13"/>
          <p:cNvSpPr/>
          <p:nvPr/>
        </p:nvSpPr>
        <p:spPr>
          <a:xfrm>
            <a:off x="4645152" y="2788920"/>
            <a:ext cx="118872" cy="118872"/>
          </a:xfrm>
          <a:prstGeom prst="ellipse">
            <a:avLst/>
          </a:prstGeom>
          <a:solidFill>
            <a:srgbClr val="EABA58"/>
          </a:solidFill>
          <a:ln/>
        </p:spPr>
      </p:sp>
      <p:sp>
        <p:nvSpPr>
          <p:cNvPr id="16" name="Shape 14"/>
          <p:cNvSpPr/>
          <p:nvPr/>
        </p:nvSpPr>
        <p:spPr>
          <a:xfrm>
            <a:off x="4837176" y="2788920"/>
            <a:ext cx="118872" cy="118872"/>
          </a:xfrm>
          <a:prstGeom prst="ellipse">
            <a:avLst/>
          </a:prstGeom>
          <a:solidFill>
            <a:srgbClr val="EABA58"/>
          </a:solidFill>
          <a:ln/>
        </p:spPr>
      </p:sp>
      <p:sp>
        <p:nvSpPr>
          <p:cNvPr id="17" name="Shape 15"/>
          <p:cNvSpPr/>
          <p:nvPr/>
        </p:nvSpPr>
        <p:spPr>
          <a:xfrm>
            <a:off x="5029200" y="2788920"/>
            <a:ext cx="118872" cy="118872"/>
          </a:xfrm>
          <a:prstGeom prst="ellipse">
            <a:avLst/>
          </a:prstGeom>
          <a:solidFill>
            <a:srgbClr val="DED7CB"/>
          </a:solidFill>
          <a:ln/>
        </p:spPr>
      </p:sp>
      <p:sp>
        <p:nvSpPr>
          <p:cNvPr id="18" name="Shape 16"/>
          <p:cNvSpPr/>
          <p:nvPr/>
        </p:nvSpPr>
        <p:spPr>
          <a:xfrm>
            <a:off x="5221224" y="2788920"/>
            <a:ext cx="118872" cy="118872"/>
          </a:xfrm>
          <a:prstGeom prst="ellipse">
            <a:avLst/>
          </a:prstGeom>
          <a:solidFill>
            <a:srgbClr val="DED7CB"/>
          </a:solidFill>
          <a:ln/>
        </p:spPr>
      </p:sp>
      <p:sp>
        <p:nvSpPr>
          <p:cNvPr id="19" name="Shape 17"/>
          <p:cNvSpPr/>
          <p:nvPr/>
        </p:nvSpPr>
        <p:spPr>
          <a:xfrm>
            <a:off x="5413248" y="2788920"/>
            <a:ext cx="118872" cy="118872"/>
          </a:xfrm>
          <a:prstGeom prst="ellipse">
            <a:avLst/>
          </a:prstGeom>
          <a:solidFill>
            <a:srgbClr val="DED7CB"/>
          </a:solidFill>
          <a:ln/>
        </p:spPr>
      </p:sp>
      <p:sp>
        <p:nvSpPr>
          <p:cNvPr id="20" name="Text 18"/>
          <p:cNvSpPr/>
          <p:nvPr/>
        </p:nvSpPr>
        <p:spPr>
          <a:xfrm>
            <a:off x="4645152" y="3063240"/>
            <a:ext cx="29260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Sealed until 25</a:t>
            </a:r>
            <a:endParaRPr lang="en-US" sz="1900" dirty="0"/>
          </a:p>
        </p:txBody>
      </p:sp>
      <p:sp>
        <p:nvSpPr>
          <p:cNvPr id="21" name="Text 19"/>
          <p:cNvSpPr/>
          <p:nvPr/>
        </p:nvSpPr>
        <p:spPr>
          <a:xfrm>
            <a:off x="4645152" y="3456432"/>
            <a:ext cx="2926080" cy="155448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No result is visible until 25 verified ballots are cast. Early voters cannot be influenced by a running tally, and nobody can spin a result from the first three votes.</a:t>
            </a:r>
            <a:endParaRPr lang="en-US" sz="1200" dirty="0"/>
          </a:p>
        </p:txBody>
      </p:sp>
      <p:sp>
        <p:nvSpPr>
          <p:cNvPr id="22" name="Text 20"/>
          <p:cNvSpPr/>
          <p:nvPr/>
        </p:nvSpPr>
        <p:spPr>
          <a:xfrm>
            <a:off x="4645152" y="4709160"/>
            <a:ext cx="2926080" cy="411480"/>
          </a:xfrm>
          <a:prstGeom prst="rect">
            <a:avLst/>
          </a:prstGeom>
          <a:noFill/>
          <a:ln/>
        </p:spPr>
        <p:txBody>
          <a:bodyPr wrap="square" lIns="0" tIns="0" rIns="0" bIns="0" rtlCol="0" anchor="ctr"/>
          <a:lstStyle/>
          <a:p>
            <a:pPr indent="0" marL="0">
              <a:buNone/>
            </a:pPr>
            <a:r>
              <a:rPr lang="en-US" sz="1200" i="1" dirty="0">
                <a:solidFill>
                  <a:srgbClr val="C99A38"/>
                </a:solidFill>
                <a:latin typeface="Cambria" pitchFamily="34" charset="0"/>
                <a:ea typeface="Cambria" pitchFamily="34" charset="-122"/>
                <a:cs typeface="Cambria" pitchFamily="34" charset="-120"/>
              </a:rPr>
              <a:t>A rule competitors will not copy.</a:t>
            </a:r>
            <a:endParaRPr lang="en-US" sz="1200" dirty="0"/>
          </a:p>
        </p:txBody>
      </p:sp>
      <p:sp>
        <p:nvSpPr>
          <p:cNvPr id="23" name="Shape 21"/>
          <p:cNvSpPr/>
          <p:nvPr/>
        </p:nvSpPr>
        <p:spPr>
          <a:xfrm>
            <a:off x="8055864" y="2514600"/>
            <a:ext cx="3429000" cy="2788920"/>
          </a:xfrm>
          <a:prstGeom prst="roundRect">
            <a:avLst>
              <a:gd name="adj" fmla="val 1967"/>
            </a:avLst>
          </a:prstGeom>
          <a:solidFill>
            <a:srgbClr val="F2EEE7"/>
          </a:solidFill>
          <a:ln w="12700">
            <a:solidFill>
              <a:srgbClr val="DED7CB"/>
            </a:solidFill>
            <a:prstDash val="solid"/>
          </a:ln>
        </p:spPr>
      </p:sp>
      <p:sp>
        <p:nvSpPr>
          <p:cNvPr id="24" name="Shape 22"/>
          <p:cNvSpPr/>
          <p:nvPr/>
        </p:nvSpPr>
        <p:spPr>
          <a:xfrm>
            <a:off x="8330184" y="2788920"/>
            <a:ext cx="118872" cy="118872"/>
          </a:xfrm>
          <a:prstGeom prst="ellipse">
            <a:avLst/>
          </a:prstGeom>
          <a:solidFill>
            <a:srgbClr val="EABA58"/>
          </a:solidFill>
          <a:ln/>
        </p:spPr>
      </p:sp>
      <p:sp>
        <p:nvSpPr>
          <p:cNvPr id="25" name="Shape 23"/>
          <p:cNvSpPr/>
          <p:nvPr/>
        </p:nvSpPr>
        <p:spPr>
          <a:xfrm>
            <a:off x="8522208" y="2788920"/>
            <a:ext cx="118872" cy="118872"/>
          </a:xfrm>
          <a:prstGeom prst="ellipse">
            <a:avLst/>
          </a:prstGeom>
          <a:solidFill>
            <a:srgbClr val="EABA58"/>
          </a:solidFill>
          <a:ln/>
        </p:spPr>
      </p:sp>
      <p:sp>
        <p:nvSpPr>
          <p:cNvPr id="26" name="Shape 24"/>
          <p:cNvSpPr/>
          <p:nvPr/>
        </p:nvSpPr>
        <p:spPr>
          <a:xfrm>
            <a:off x="8714232" y="2788920"/>
            <a:ext cx="118872" cy="118872"/>
          </a:xfrm>
          <a:prstGeom prst="ellipse">
            <a:avLst/>
          </a:prstGeom>
          <a:solidFill>
            <a:srgbClr val="EABA58"/>
          </a:solidFill>
          <a:ln/>
        </p:spPr>
      </p:sp>
      <p:sp>
        <p:nvSpPr>
          <p:cNvPr id="27" name="Shape 25"/>
          <p:cNvSpPr/>
          <p:nvPr/>
        </p:nvSpPr>
        <p:spPr>
          <a:xfrm>
            <a:off x="8906256" y="2788920"/>
            <a:ext cx="118872" cy="118872"/>
          </a:xfrm>
          <a:prstGeom prst="ellipse">
            <a:avLst/>
          </a:prstGeom>
          <a:solidFill>
            <a:srgbClr val="DED7CB"/>
          </a:solidFill>
          <a:ln/>
        </p:spPr>
      </p:sp>
      <p:sp>
        <p:nvSpPr>
          <p:cNvPr id="28" name="Shape 26"/>
          <p:cNvSpPr/>
          <p:nvPr/>
        </p:nvSpPr>
        <p:spPr>
          <a:xfrm>
            <a:off x="9098280" y="2788920"/>
            <a:ext cx="118872" cy="118872"/>
          </a:xfrm>
          <a:prstGeom prst="ellipse">
            <a:avLst/>
          </a:prstGeom>
          <a:solidFill>
            <a:srgbClr val="DED7CB"/>
          </a:solidFill>
          <a:ln/>
        </p:spPr>
      </p:sp>
      <p:sp>
        <p:nvSpPr>
          <p:cNvPr id="29" name="Text 27"/>
          <p:cNvSpPr/>
          <p:nvPr/>
        </p:nvSpPr>
        <p:spPr>
          <a:xfrm>
            <a:off x="8330184" y="3063240"/>
            <a:ext cx="29260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Public ledger</a:t>
            </a:r>
            <a:endParaRPr lang="en-US" sz="1900" dirty="0"/>
          </a:p>
        </p:txBody>
      </p:sp>
      <p:sp>
        <p:nvSpPr>
          <p:cNvPr id="30" name="Text 28"/>
          <p:cNvSpPr/>
          <p:nvPr/>
        </p:nvSpPr>
        <p:spPr>
          <a:xfrm>
            <a:off x="8330184" y="3456432"/>
            <a:ext cx="2926080" cy="155448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Every ballot is written to a public blockchain as well as our database. Anyone can audit the count independently. We cannot quietly change a result.</a:t>
            </a:r>
            <a:endParaRPr lang="en-US" sz="1200" dirty="0"/>
          </a:p>
        </p:txBody>
      </p:sp>
      <p:sp>
        <p:nvSpPr>
          <p:cNvPr id="31" name="Text 29"/>
          <p:cNvSpPr/>
          <p:nvPr/>
        </p:nvSpPr>
        <p:spPr>
          <a:xfrm>
            <a:off x="8330184" y="4709160"/>
            <a:ext cx="2926080" cy="411480"/>
          </a:xfrm>
          <a:prstGeom prst="rect">
            <a:avLst/>
          </a:prstGeom>
          <a:noFill/>
          <a:ln/>
        </p:spPr>
        <p:txBody>
          <a:bodyPr wrap="square" lIns="0" tIns="0" rIns="0" bIns="0" rtlCol="0" anchor="ctr"/>
          <a:lstStyle/>
          <a:p>
            <a:pPr indent="0" marL="0">
              <a:buNone/>
            </a:pPr>
            <a:r>
              <a:rPr lang="en-US" sz="1200" i="1" dirty="0">
                <a:solidFill>
                  <a:srgbClr val="C99A38"/>
                </a:solidFill>
                <a:latin typeface="Cambria" pitchFamily="34" charset="0"/>
                <a:ea typeface="Cambria" pitchFamily="34" charset="-122"/>
                <a:cs typeface="Cambria" pitchFamily="34" charset="-120"/>
              </a:rPr>
              <a:t>Auditable by anyone, editable by no one.</a:t>
            </a:r>
            <a:endParaRPr lang="en-US" sz="1200" dirty="0"/>
          </a:p>
        </p:txBody>
      </p:sp>
      <p:sp>
        <p:nvSpPr>
          <p:cNvPr id="32" name="Text 30"/>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33" name="Text 31"/>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This is not a plan to build a product.</a:t>
            </a:r>
            <a:endParaRPr lang="en-US" sz="3800" dirty="0"/>
          </a:p>
        </p:txBody>
      </p:sp>
      <p:sp>
        <p:nvSpPr>
          <p:cNvPr id="4" name="Shape 2"/>
          <p:cNvSpPr/>
          <p:nvPr/>
        </p:nvSpPr>
        <p:spPr>
          <a:xfrm>
            <a:off x="685800" y="1920240"/>
            <a:ext cx="256032" cy="256032"/>
          </a:xfrm>
          <a:prstGeom prst="ellipse">
            <a:avLst/>
          </a:prstGeom>
          <a:solidFill>
            <a:srgbClr val="EABA58"/>
          </a:solidFill>
          <a:ln/>
        </p:spPr>
      </p:sp>
      <p:sp>
        <p:nvSpPr>
          <p:cNvPr id="5" name="Text 3"/>
          <p:cNvSpPr/>
          <p:nvPr/>
        </p:nvSpPr>
        <p:spPr>
          <a:xfrm>
            <a:off x="1143000" y="1874520"/>
            <a:ext cx="6583680" cy="292608"/>
          </a:xfrm>
          <a:prstGeom prst="rect">
            <a:avLst/>
          </a:prstGeom>
          <a:noFill/>
          <a:ln/>
        </p:spPr>
        <p:txBody>
          <a:bodyPr wrap="square" lIns="0" tIns="0" rIns="0" bIns="0" rtlCol="0" anchor="ctr"/>
          <a:lstStyle/>
          <a:p>
            <a:pPr indent="0" marL="0">
              <a:buNone/>
            </a:pPr>
            <a:r>
              <a:rPr lang="en-US" sz="1450" b="1" dirty="0">
                <a:solidFill>
                  <a:srgbClr val="181510"/>
                </a:solidFill>
                <a:latin typeface="Calibri" pitchFamily="34" charset="0"/>
                <a:ea typeface="Calibri" pitchFamily="34" charset="-122"/>
                <a:cs typeface="Calibri" pitchFamily="34" charset="-120"/>
              </a:rPr>
              <a:t>iOS app — live on the App Store</a:t>
            </a:r>
            <a:endParaRPr lang="en-US" sz="1450" dirty="0"/>
          </a:p>
        </p:txBody>
      </p:sp>
      <p:sp>
        <p:nvSpPr>
          <p:cNvPr id="6" name="Text 4"/>
          <p:cNvSpPr/>
          <p:nvPr/>
        </p:nvSpPr>
        <p:spPr>
          <a:xfrm>
            <a:off x="1143000" y="2167128"/>
            <a:ext cx="6766560" cy="292608"/>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Verification, location-gated voting, discussion, subscriptions.</a:t>
            </a:r>
            <a:endParaRPr lang="en-US" sz="1150" dirty="0"/>
          </a:p>
        </p:txBody>
      </p:sp>
      <p:sp>
        <p:nvSpPr>
          <p:cNvPr id="7" name="Shape 5"/>
          <p:cNvSpPr/>
          <p:nvPr/>
        </p:nvSpPr>
        <p:spPr>
          <a:xfrm>
            <a:off x="685800" y="2697480"/>
            <a:ext cx="256032" cy="256032"/>
          </a:xfrm>
          <a:prstGeom prst="ellipse">
            <a:avLst/>
          </a:prstGeom>
          <a:solidFill>
            <a:srgbClr val="EABA58"/>
          </a:solidFill>
          <a:ln/>
        </p:spPr>
      </p:sp>
      <p:sp>
        <p:nvSpPr>
          <p:cNvPr id="8" name="Text 6"/>
          <p:cNvSpPr/>
          <p:nvPr/>
        </p:nvSpPr>
        <p:spPr>
          <a:xfrm>
            <a:off x="1143000" y="2651760"/>
            <a:ext cx="6583680" cy="292608"/>
          </a:xfrm>
          <a:prstGeom prst="rect">
            <a:avLst/>
          </a:prstGeom>
          <a:noFill/>
          <a:ln/>
        </p:spPr>
        <p:txBody>
          <a:bodyPr wrap="square" lIns="0" tIns="0" rIns="0" bIns="0" rtlCol="0" anchor="ctr"/>
          <a:lstStyle/>
          <a:p>
            <a:pPr indent="0" marL="0">
              <a:buNone/>
            </a:pPr>
            <a:r>
              <a:rPr lang="en-US" sz="1450" b="1" dirty="0">
                <a:solidFill>
                  <a:srgbClr val="181510"/>
                </a:solidFill>
                <a:latin typeface="Calibri" pitchFamily="34" charset="0"/>
                <a:ea typeface="Calibri" pitchFamily="34" charset="-122"/>
                <a:cs typeface="Calibri" pitchFamily="34" charset="-120"/>
              </a:rPr>
              <a:t>Identity verification — operational</a:t>
            </a:r>
            <a:endParaRPr lang="en-US" sz="1450" dirty="0"/>
          </a:p>
        </p:txBody>
      </p:sp>
      <p:sp>
        <p:nvSpPr>
          <p:cNvPr id="9" name="Text 7"/>
          <p:cNvSpPr/>
          <p:nvPr/>
        </p:nvSpPr>
        <p:spPr>
          <a:xfrm>
            <a:off x="1143000" y="2944368"/>
            <a:ext cx="6766560" cy="292608"/>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Government ID plus liveness, via a certified KYC provider.</a:t>
            </a:r>
            <a:endParaRPr lang="en-US" sz="1150" dirty="0"/>
          </a:p>
        </p:txBody>
      </p:sp>
      <p:sp>
        <p:nvSpPr>
          <p:cNvPr id="10" name="Shape 8"/>
          <p:cNvSpPr/>
          <p:nvPr/>
        </p:nvSpPr>
        <p:spPr>
          <a:xfrm>
            <a:off x="685800" y="3474720"/>
            <a:ext cx="256032" cy="256032"/>
          </a:xfrm>
          <a:prstGeom prst="ellipse">
            <a:avLst/>
          </a:prstGeom>
          <a:solidFill>
            <a:srgbClr val="EABA58"/>
          </a:solidFill>
          <a:ln/>
        </p:spPr>
      </p:sp>
      <p:sp>
        <p:nvSpPr>
          <p:cNvPr id="11" name="Text 9"/>
          <p:cNvSpPr/>
          <p:nvPr/>
        </p:nvSpPr>
        <p:spPr>
          <a:xfrm>
            <a:off x="1143000" y="3429000"/>
            <a:ext cx="6583680" cy="292608"/>
          </a:xfrm>
          <a:prstGeom prst="rect">
            <a:avLst/>
          </a:prstGeom>
          <a:noFill/>
          <a:ln/>
        </p:spPr>
        <p:txBody>
          <a:bodyPr wrap="square" lIns="0" tIns="0" rIns="0" bIns="0" rtlCol="0" anchor="ctr"/>
          <a:lstStyle/>
          <a:p>
            <a:pPr indent="0" marL="0">
              <a:buNone/>
            </a:pPr>
            <a:r>
              <a:rPr lang="en-US" sz="1450" b="1" dirty="0">
                <a:solidFill>
                  <a:srgbClr val="181510"/>
                </a:solidFill>
                <a:latin typeface="Calibri" pitchFamily="34" charset="0"/>
                <a:ea typeface="Calibri" pitchFamily="34" charset="-122"/>
                <a:cs typeface="Calibri" pitchFamily="34" charset="-120"/>
              </a:rPr>
              <a:t>Public ledger — running</a:t>
            </a:r>
            <a:endParaRPr lang="en-US" sz="1450" dirty="0"/>
          </a:p>
        </p:txBody>
      </p:sp>
      <p:sp>
        <p:nvSpPr>
          <p:cNvPr id="12" name="Text 10"/>
          <p:cNvSpPr/>
          <p:nvPr/>
        </p:nvSpPr>
        <p:spPr>
          <a:xfrm>
            <a:off x="1143000" y="3721608"/>
            <a:ext cx="6766560" cy="292608"/>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Ballots written on-chain and independently auditable.</a:t>
            </a:r>
            <a:endParaRPr lang="en-US" sz="1150" dirty="0"/>
          </a:p>
        </p:txBody>
      </p:sp>
      <p:sp>
        <p:nvSpPr>
          <p:cNvPr id="13" name="Shape 11"/>
          <p:cNvSpPr/>
          <p:nvPr/>
        </p:nvSpPr>
        <p:spPr>
          <a:xfrm>
            <a:off x="685800" y="4251960"/>
            <a:ext cx="256032" cy="256032"/>
          </a:xfrm>
          <a:prstGeom prst="ellipse">
            <a:avLst/>
          </a:prstGeom>
          <a:solidFill>
            <a:srgbClr val="EABA58"/>
          </a:solidFill>
          <a:ln/>
        </p:spPr>
      </p:sp>
      <p:sp>
        <p:nvSpPr>
          <p:cNvPr id="14" name="Text 12"/>
          <p:cNvSpPr/>
          <p:nvPr/>
        </p:nvSpPr>
        <p:spPr>
          <a:xfrm>
            <a:off x="1143000" y="4206240"/>
            <a:ext cx="6583680" cy="292608"/>
          </a:xfrm>
          <a:prstGeom prst="rect">
            <a:avLst/>
          </a:prstGeom>
          <a:noFill/>
          <a:ln/>
        </p:spPr>
        <p:txBody>
          <a:bodyPr wrap="square" lIns="0" tIns="0" rIns="0" bIns="0" rtlCol="0" anchor="ctr"/>
          <a:lstStyle/>
          <a:p>
            <a:pPr indent="0" marL="0">
              <a:buNone/>
            </a:pPr>
            <a:r>
              <a:rPr lang="en-US" sz="1450" b="1" dirty="0">
                <a:solidFill>
                  <a:srgbClr val="181510"/>
                </a:solidFill>
                <a:latin typeface="Calibri" pitchFamily="34" charset="0"/>
                <a:ea typeface="Calibri" pitchFamily="34" charset="-122"/>
                <a:cs typeface="Calibri" pitchFamily="34" charset="-120"/>
              </a:rPr>
              <a:t>Organization tools — built</a:t>
            </a:r>
            <a:endParaRPr lang="en-US" sz="1450" dirty="0"/>
          </a:p>
        </p:txBody>
      </p:sp>
      <p:sp>
        <p:nvSpPr>
          <p:cNvPr id="15" name="Text 13"/>
          <p:cNvSpPr/>
          <p:nvPr/>
        </p:nvSpPr>
        <p:spPr>
          <a:xfrm>
            <a:off x="1143000" y="4498848"/>
            <a:ext cx="6766560" cy="292608"/>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Private verified voting, member rosters, invite codes, analytics.</a:t>
            </a:r>
            <a:endParaRPr lang="en-US" sz="1150" dirty="0"/>
          </a:p>
        </p:txBody>
      </p:sp>
      <p:sp>
        <p:nvSpPr>
          <p:cNvPr id="16" name="Shape 14"/>
          <p:cNvSpPr/>
          <p:nvPr/>
        </p:nvSpPr>
        <p:spPr>
          <a:xfrm>
            <a:off x="685800" y="5029200"/>
            <a:ext cx="256032" cy="256032"/>
          </a:xfrm>
          <a:prstGeom prst="ellipse">
            <a:avLst/>
          </a:prstGeom>
          <a:solidFill>
            <a:srgbClr val="EABA58"/>
          </a:solidFill>
          <a:ln/>
        </p:spPr>
      </p:sp>
      <p:sp>
        <p:nvSpPr>
          <p:cNvPr id="17" name="Text 15"/>
          <p:cNvSpPr/>
          <p:nvPr/>
        </p:nvSpPr>
        <p:spPr>
          <a:xfrm>
            <a:off x="1143000" y="4983480"/>
            <a:ext cx="6583680" cy="292608"/>
          </a:xfrm>
          <a:prstGeom prst="rect">
            <a:avLst/>
          </a:prstGeom>
          <a:noFill/>
          <a:ln/>
        </p:spPr>
        <p:txBody>
          <a:bodyPr wrap="square" lIns="0" tIns="0" rIns="0" bIns="0" rtlCol="0" anchor="ctr"/>
          <a:lstStyle/>
          <a:p>
            <a:pPr indent="0" marL="0">
              <a:buNone/>
            </a:pPr>
            <a:r>
              <a:rPr lang="en-US" sz="1450" b="1" dirty="0">
                <a:solidFill>
                  <a:srgbClr val="181510"/>
                </a:solidFill>
                <a:latin typeface="Calibri" pitchFamily="34" charset="0"/>
                <a:ea typeface="Calibri" pitchFamily="34" charset="-122"/>
                <a:cs typeface="Calibri" pitchFamily="34" charset="-120"/>
              </a:rPr>
              <a:t>Public record website — live</a:t>
            </a:r>
            <a:endParaRPr lang="en-US" sz="1450" dirty="0"/>
          </a:p>
        </p:txBody>
      </p:sp>
      <p:sp>
        <p:nvSpPr>
          <p:cNvPr id="18" name="Text 16"/>
          <p:cNvSpPr/>
          <p:nvPr/>
        </p:nvSpPr>
        <p:spPr>
          <a:xfrm>
            <a:off x="1143000" y="5276088"/>
            <a:ext cx="6766560" cy="292608"/>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Every published result, with its methodology, at representvote.com.</a:t>
            </a:r>
            <a:endParaRPr lang="en-US" sz="1150" dirty="0"/>
          </a:p>
        </p:txBody>
      </p:sp>
      <p:sp>
        <p:nvSpPr>
          <p:cNvPr id="19" name="Shape 17"/>
          <p:cNvSpPr/>
          <p:nvPr/>
        </p:nvSpPr>
        <p:spPr>
          <a:xfrm>
            <a:off x="8321040" y="1874520"/>
            <a:ext cx="3154680" cy="3063240"/>
          </a:xfrm>
          <a:prstGeom prst="roundRect">
            <a:avLst>
              <a:gd name="adj" fmla="val 1791"/>
            </a:avLst>
          </a:prstGeom>
          <a:solidFill>
            <a:srgbClr val="F2EEE7"/>
          </a:solidFill>
          <a:ln w="12700">
            <a:solidFill>
              <a:srgbClr val="DED7CB"/>
            </a:solidFill>
            <a:prstDash val="solid"/>
          </a:ln>
        </p:spPr>
      </p:sp>
      <p:sp>
        <p:nvSpPr>
          <p:cNvPr id="20" name="Text 18"/>
          <p:cNvSpPr/>
          <p:nvPr/>
        </p:nvSpPr>
        <p:spPr>
          <a:xfrm>
            <a:off x="8549640" y="2194560"/>
            <a:ext cx="2743200" cy="777240"/>
          </a:xfrm>
          <a:prstGeom prst="rect">
            <a:avLst/>
          </a:prstGeom>
          <a:noFill/>
          <a:ln/>
        </p:spPr>
        <p:txBody>
          <a:bodyPr wrap="square" lIns="0" tIns="0" rIns="0" bIns="0" rtlCol="0" anchor="ctr"/>
          <a:lstStyle/>
          <a:p>
            <a:pPr indent="0" marL="0">
              <a:buNone/>
            </a:pPr>
            <a:r>
              <a:rPr lang="en-US" sz="5200" b="1" dirty="0">
                <a:solidFill>
                  <a:srgbClr val="C99A38"/>
                </a:solidFill>
                <a:latin typeface="Cambria" pitchFamily="34" charset="0"/>
                <a:ea typeface="Cambria" pitchFamily="34" charset="-122"/>
                <a:cs typeface="Cambria" pitchFamily="34" charset="-120"/>
              </a:rPr>
              <a:t>$125</a:t>
            </a:r>
            <a:endParaRPr lang="en-US" sz="5200" dirty="0"/>
          </a:p>
        </p:txBody>
      </p:sp>
      <p:sp>
        <p:nvSpPr>
          <p:cNvPr id="21" name="Text 19"/>
          <p:cNvSpPr/>
          <p:nvPr/>
        </p:nvSpPr>
        <p:spPr>
          <a:xfrm>
            <a:off x="8549640" y="2971800"/>
            <a:ext cx="2743200" cy="274320"/>
          </a:xfrm>
          <a:prstGeom prst="rect">
            <a:avLst/>
          </a:prstGeom>
          <a:noFill/>
          <a:ln/>
        </p:spPr>
        <p:txBody>
          <a:bodyPr wrap="square" lIns="0" tIns="0" rIns="0" bIns="0" rtlCol="0" anchor="ctr"/>
          <a:lstStyle/>
          <a:p>
            <a:pPr indent="0" marL="0">
              <a:buNone/>
            </a:pPr>
            <a:r>
              <a:rPr lang="en-US" sz="1300" b="1" dirty="0">
                <a:solidFill>
                  <a:srgbClr val="181510"/>
                </a:solidFill>
                <a:latin typeface="Calibri" pitchFamily="34" charset="0"/>
                <a:ea typeface="Calibri" pitchFamily="34" charset="-122"/>
                <a:cs typeface="Calibri" pitchFamily="34" charset="-120"/>
              </a:rPr>
              <a:t>per month</a:t>
            </a:r>
            <a:endParaRPr lang="en-US" sz="1300" dirty="0"/>
          </a:p>
        </p:txBody>
      </p:sp>
      <p:sp>
        <p:nvSpPr>
          <p:cNvPr id="22" name="Text 20"/>
          <p:cNvSpPr/>
          <p:nvPr/>
        </p:nvSpPr>
        <p:spPr>
          <a:xfrm>
            <a:off x="8549640" y="3337560"/>
            <a:ext cx="2697480" cy="12801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Total cost to run everything above. Two founders build and operate all of it — no staff, no office, no agencies.</a:t>
            </a:r>
            <a:endParaRPr lang="en-US" sz="1200" dirty="0"/>
          </a:p>
        </p:txBody>
      </p:sp>
      <p:sp>
        <p:nvSpPr>
          <p:cNvPr id="23" name="Text 21"/>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24" name="Text 22"/>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Four steps, one rule.</a:t>
            </a:r>
            <a:endParaRPr lang="en-US" sz="3800" dirty="0"/>
          </a:p>
        </p:txBody>
      </p:sp>
      <p:sp>
        <p:nvSpPr>
          <p:cNvPr id="4" name="Shape 2"/>
          <p:cNvSpPr/>
          <p:nvPr/>
        </p:nvSpPr>
        <p:spPr>
          <a:xfrm>
            <a:off x="685800" y="1965960"/>
            <a:ext cx="475488" cy="475488"/>
          </a:xfrm>
          <a:prstGeom prst="ellipse">
            <a:avLst/>
          </a:prstGeom>
          <a:solidFill>
            <a:srgbClr val="F2EEE7"/>
          </a:solidFill>
          <a:ln w="12700">
            <a:solidFill>
              <a:srgbClr val="EABA58"/>
            </a:solidFill>
            <a:prstDash val="solid"/>
          </a:ln>
        </p:spPr>
      </p:sp>
      <p:sp>
        <p:nvSpPr>
          <p:cNvPr id="5" name="Text 3"/>
          <p:cNvSpPr/>
          <p:nvPr/>
        </p:nvSpPr>
        <p:spPr>
          <a:xfrm>
            <a:off x="685800" y="1965960"/>
            <a:ext cx="475488" cy="475488"/>
          </a:xfrm>
          <a:prstGeom prst="rect">
            <a:avLst/>
          </a:prstGeom>
          <a:noFill/>
          <a:ln/>
        </p:spPr>
        <p:txBody>
          <a:bodyPr wrap="square" lIns="0" tIns="0" rIns="0" bIns="0" rtlCol="0" anchor="ctr"/>
          <a:lstStyle/>
          <a:p>
            <a:pPr algn="ctr" indent="0" marL="0">
              <a:buNone/>
            </a:pPr>
            <a:r>
              <a:rPr lang="en-US" sz="1500" b="1" dirty="0">
                <a:solidFill>
                  <a:srgbClr val="C99A38"/>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685800" y="2606040"/>
            <a:ext cx="24688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Verify once</a:t>
            </a:r>
            <a:endParaRPr lang="en-US" sz="1900" dirty="0"/>
          </a:p>
        </p:txBody>
      </p:sp>
      <p:sp>
        <p:nvSpPr>
          <p:cNvPr id="7" name="Text 5"/>
          <p:cNvSpPr/>
          <p:nvPr/>
        </p:nvSpPr>
        <p:spPr>
          <a:xfrm>
            <a:off x="685800" y="2999232"/>
            <a:ext cx="2514600" cy="12801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A government ID and a liveness check, about three minutes. Free to the user — we absorb the cost.</a:t>
            </a:r>
            <a:endParaRPr lang="en-US" sz="1200" dirty="0"/>
          </a:p>
        </p:txBody>
      </p:sp>
      <p:sp>
        <p:nvSpPr>
          <p:cNvPr id="8" name="Shape 6"/>
          <p:cNvSpPr/>
          <p:nvPr/>
        </p:nvSpPr>
        <p:spPr>
          <a:xfrm>
            <a:off x="3474720" y="1965960"/>
            <a:ext cx="475488" cy="475488"/>
          </a:xfrm>
          <a:prstGeom prst="ellipse">
            <a:avLst/>
          </a:prstGeom>
          <a:solidFill>
            <a:srgbClr val="F2EEE7"/>
          </a:solidFill>
          <a:ln w="12700">
            <a:solidFill>
              <a:srgbClr val="EABA58"/>
            </a:solidFill>
            <a:prstDash val="solid"/>
          </a:ln>
        </p:spPr>
      </p:sp>
      <p:sp>
        <p:nvSpPr>
          <p:cNvPr id="9" name="Text 7"/>
          <p:cNvSpPr/>
          <p:nvPr/>
        </p:nvSpPr>
        <p:spPr>
          <a:xfrm>
            <a:off x="3474720" y="1965960"/>
            <a:ext cx="475488" cy="475488"/>
          </a:xfrm>
          <a:prstGeom prst="rect">
            <a:avLst/>
          </a:prstGeom>
          <a:noFill/>
          <a:ln/>
        </p:spPr>
        <p:txBody>
          <a:bodyPr wrap="square" lIns="0" tIns="0" rIns="0" bIns="0" rtlCol="0" anchor="ctr"/>
          <a:lstStyle/>
          <a:p>
            <a:pPr algn="ctr" indent="0" marL="0">
              <a:buNone/>
            </a:pPr>
            <a:r>
              <a:rPr lang="en-US" sz="1500" b="1" dirty="0">
                <a:solidFill>
                  <a:srgbClr val="C99A38"/>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3474720" y="2606040"/>
            <a:ext cx="24688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Vote</a:t>
            </a:r>
            <a:endParaRPr lang="en-US" sz="1900" dirty="0"/>
          </a:p>
        </p:txBody>
      </p:sp>
      <p:sp>
        <p:nvSpPr>
          <p:cNvPr id="11" name="Text 9"/>
          <p:cNvSpPr/>
          <p:nvPr/>
        </p:nvSpPr>
        <p:spPr>
          <a:xfrm>
            <a:off x="3474720" y="2999232"/>
            <a:ext cx="2514600" cy="12801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One ballot per verified person per question. Duplicate accounts are impossible by construction.</a:t>
            </a:r>
            <a:endParaRPr lang="en-US" sz="1200" dirty="0"/>
          </a:p>
        </p:txBody>
      </p:sp>
      <p:sp>
        <p:nvSpPr>
          <p:cNvPr id="12" name="Shape 10"/>
          <p:cNvSpPr/>
          <p:nvPr/>
        </p:nvSpPr>
        <p:spPr>
          <a:xfrm>
            <a:off x="6263640" y="1965960"/>
            <a:ext cx="475488" cy="475488"/>
          </a:xfrm>
          <a:prstGeom prst="ellipse">
            <a:avLst/>
          </a:prstGeom>
          <a:solidFill>
            <a:srgbClr val="F2EEE7"/>
          </a:solidFill>
          <a:ln w="12700">
            <a:solidFill>
              <a:srgbClr val="EABA58"/>
            </a:solidFill>
            <a:prstDash val="solid"/>
          </a:ln>
        </p:spPr>
      </p:sp>
      <p:sp>
        <p:nvSpPr>
          <p:cNvPr id="13" name="Text 11"/>
          <p:cNvSpPr/>
          <p:nvPr/>
        </p:nvSpPr>
        <p:spPr>
          <a:xfrm>
            <a:off x="6263640" y="1965960"/>
            <a:ext cx="475488" cy="475488"/>
          </a:xfrm>
          <a:prstGeom prst="rect">
            <a:avLst/>
          </a:prstGeom>
          <a:noFill/>
          <a:ln/>
        </p:spPr>
        <p:txBody>
          <a:bodyPr wrap="square" lIns="0" tIns="0" rIns="0" bIns="0" rtlCol="0" anchor="ctr"/>
          <a:lstStyle/>
          <a:p>
            <a:pPr algn="ctr" indent="0" marL="0">
              <a:buNone/>
            </a:pPr>
            <a:r>
              <a:rPr lang="en-US" sz="1500" b="1" dirty="0">
                <a:solidFill>
                  <a:srgbClr val="C99A38"/>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6263640" y="2606040"/>
            <a:ext cx="24688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Sealed until 25</a:t>
            </a:r>
            <a:endParaRPr lang="en-US" sz="1900" dirty="0"/>
          </a:p>
        </p:txBody>
      </p:sp>
      <p:sp>
        <p:nvSpPr>
          <p:cNvPr id="15" name="Text 13"/>
          <p:cNvSpPr/>
          <p:nvPr/>
        </p:nvSpPr>
        <p:spPr>
          <a:xfrm>
            <a:off x="6263640" y="2999232"/>
            <a:ext cx="2514600" cy="12801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The tally stays hidden until 25 verified ballots exist. No bandwagon, no early spin.</a:t>
            </a:r>
            <a:endParaRPr lang="en-US" sz="1200" dirty="0"/>
          </a:p>
        </p:txBody>
      </p:sp>
      <p:sp>
        <p:nvSpPr>
          <p:cNvPr id="16" name="Shape 14"/>
          <p:cNvSpPr/>
          <p:nvPr/>
        </p:nvSpPr>
        <p:spPr>
          <a:xfrm>
            <a:off x="9052560" y="1965960"/>
            <a:ext cx="475488" cy="475488"/>
          </a:xfrm>
          <a:prstGeom prst="ellipse">
            <a:avLst/>
          </a:prstGeom>
          <a:solidFill>
            <a:srgbClr val="F2EEE7"/>
          </a:solidFill>
          <a:ln w="12700">
            <a:solidFill>
              <a:srgbClr val="EABA58"/>
            </a:solidFill>
            <a:prstDash val="solid"/>
          </a:ln>
        </p:spPr>
      </p:sp>
      <p:sp>
        <p:nvSpPr>
          <p:cNvPr id="17" name="Text 15"/>
          <p:cNvSpPr/>
          <p:nvPr/>
        </p:nvSpPr>
        <p:spPr>
          <a:xfrm>
            <a:off x="9052560" y="1965960"/>
            <a:ext cx="475488" cy="475488"/>
          </a:xfrm>
          <a:prstGeom prst="rect">
            <a:avLst/>
          </a:prstGeom>
          <a:noFill/>
          <a:ln/>
        </p:spPr>
        <p:txBody>
          <a:bodyPr wrap="square" lIns="0" tIns="0" rIns="0" bIns="0" rtlCol="0" anchor="ctr"/>
          <a:lstStyle/>
          <a:p>
            <a:pPr algn="ctr" indent="0" marL="0">
              <a:buNone/>
            </a:pPr>
            <a:r>
              <a:rPr lang="en-US" sz="1500" b="1" dirty="0">
                <a:solidFill>
                  <a:srgbClr val="C99A38"/>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9052560" y="2606040"/>
            <a:ext cx="2468880" cy="320040"/>
          </a:xfrm>
          <a:prstGeom prst="rect">
            <a:avLst/>
          </a:prstGeom>
          <a:noFill/>
          <a:ln/>
        </p:spPr>
        <p:txBody>
          <a:bodyPr wrap="square" lIns="0" tIns="0" rIns="0" bIns="0" rtlCol="0" anchor="ctr"/>
          <a:lstStyle/>
          <a:p>
            <a:pPr indent="0" marL="0">
              <a:buNone/>
            </a:pPr>
            <a:r>
              <a:rPr lang="en-US" sz="1900" b="1" dirty="0">
                <a:solidFill>
                  <a:srgbClr val="181510"/>
                </a:solidFill>
                <a:latin typeface="Cambria" pitchFamily="34" charset="0"/>
                <a:ea typeface="Cambria" pitchFamily="34" charset="-122"/>
                <a:cs typeface="Cambria" pitchFamily="34" charset="-120"/>
              </a:rPr>
              <a:t>Published</a:t>
            </a:r>
            <a:endParaRPr lang="en-US" sz="1900" dirty="0"/>
          </a:p>
        </p:txBody>
      </p:sp>
      <p:sp>
        <p:nvSpPr>
          <p:cNvPr id="19" name="Text 17"/>
          <p:cNvSpPr/>
          <p:nvPr/>
        </p:nvSpPr>
        <p:spPr>
          <a:xfrm>
            <a:off x="9052560" y="2999232"/>
            <a:ext cx="2514600" cy="12801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The result and its ledger entry go public — auditable by anyone, editable by no one.</a:t>
            </a:r>
            <a:endParaRPr lang="en-US" sz="1200" dirty="0"/>
          </a:p>
        </p:txBody>
      </p:sp>
      <p:sp>
        <p:nvSpPr>
          <p:cNvPr id="20" name="Shape 18"/>
          <p:cNvSpPr/>
          <p:nvPr/>
        </p:nvSpPr>
        <p:spPr>
          <a:xfrm>
            <a:off x="685800" y="4526280"/>
            <a:ext cx="10817352" cy="1325880"/>
          </a:xfrm>
          <a:prstGeom prst="roundRect">
            <a:avLst>
              <a:gd name="adj" fmla="val 4138"/>
            </a:avLst>
          </a:prstGeom>
          <a:solidFill>
            <a:srgbClr val="F2EEE7"/>
          </a:solidFill>
          <a:ln w="12700">
            <a:solidFill>
              <a:srgbClr val="DED7CB"/>
            </a:solidFill>
            <a:prstDash val="solid"/>
          </a:ln>
        </p:spPr>
      </p:sp>
      <p:sp>
        <p:nvSpPr>
          <p:cNvPr id="21" name="Shape 19"/>
          <p:cNvSpPr/>
          <p:nvPr/>
        </p:nvSpPr>
        <p:spPr>
          <a:xfrm>
            <a:off x="960120" y="4864608"/>
            <a:ext cx="173736" cy="173736"/>
          </a:xfrm>
          <a:prstGeom prst="ellipse">
            <a:avLst/>
          </a:prstGeom>
          <a:solidFill>
            <a:srgbClr val="EABA58"/>
          </a:solidFill>
          <a:ln/>
        </p:spPr>
      </p:sp>
      <p:sp>
        <p:nvSpPr>
          <p:cNvPr id="22" name="Shape 20"/>
          <p:cNvSpPr/>
          <p:nvPr/>
        </p:nvSpPr>
        <p:spPr>
          <a:xfrm>
            <a:off x="1239012" y="4864608"/>
            <a:ext cx="173736" cy="173736"/>
          </a:xfrm>
          <a:prstGeom prst="ellipse">
            <a:avLst/>
          </a:prstGeom>
          <a:solidFill>
            <a:srgbClr val="EABA58"/>
          </a:solidFill>
          <a:ln/>
        </p:spPr>
      </p:sp>
      <p:sp>
        <p:nvSpPr>
          <p:cNvPr id="23" name="Shape 21"/>
          <p:cNvSpPr/>
          <p:nvPr/>
        </p:nvSpPr>
        <p:spPr>
          <a:xfrm>
            <a:off x="1517904" y="4864608"/>
            <a:ext cx="173736" cy="173736"/>
          </a:xfrm>
          <a:prstGeom prst="ellipse">
            <a:avLst/>
          </a:prstGeom>
          <a:solidFill>
            <a:srgbClr val="EABA58"/>
          </a:solidFill>
          <a:ln/>
        </p:spPr>
      </p:sp>
      <p:sp>
        <p:nvSpPr>
          <p:cNvPr id="24" name="Shape 22"/>
          <p:cNvSpPr/>
          <p:nvPr/>
        </p:nvSpPr>
        <p:spPr>
          <a:xfrm>
            <a:off x="1796796" y="4864608"/>
            <a:ext cx="173736" cy="173736"/>
          </a:xfrm>
          <a:prstGeom prst="ellipse">
            <a:avLst/>
          </a:prstGeom>
          <a:solidFill>
            <a:srgbClr val="EABA58"/>
          </a:solidFill>
          <a:ln/>
        </p:spPr>
      </p:sp>
      <p:sp>
        <p:nvSpPr>
          <p:cNvPr id="25" name="Shape 23"/>
          <p:cNvSpPr/>
          <p:nvPr/>
        </p:nvSpPr>
        <p:spPr>
          <a:xfrm>
            <a:off x="2075688" y="4864608"/>
            <a:ext cx="173736" cy="173736"/>
          </a:xfrm>
          <a:prstGeom prst="ellipse">
            <a:avLst/>
          </a:prstGeom>
          <a:solidFill>
            <a:srgbClr val="EABA58"/>
          </a:solidFill>
          <a:ln/>
        </p:spPr>
      </p:sp>
      <p:sp>
        <p:nvSpPr>
          <p:cNvPr id="26" name="Shape 24"/>
          <p:cNvSpPr/>
          <p:nvPr/>
        </p:nvSpPr>
        <p:spPr>
          <a:xfrm>
            <a:off x="2354580" y="4864608"/>
            <a:ext cx="173736" cy="173736"/>
          </a:xfrm>
          <a:prstGeom prst="ellipse">
            <a:avLst/>
          </a:prstGeom>
          <a:solidFill>
            <a:srgbClr val="EABA58"/>
          </a:solidFill>
          <a:ln/>
        </p:spPr>
      </p:sp>
      <p:sp>
        <p:nvSpPr>
          <p:cNvPr id="27" name="Shape 25"/>
          <p:cNvSpPr/>
          <p:nvPr/>
        </p:nvSpPr>
        <p:spPr>
          <a:xfrm>
            <a:off x="2633472" y="4864608"/>
            <a:ext cx="173736" cy="173736"/>
          </a:xfrm>
          <a:prstGeom prst="ellipse">
            <a:avLst/>
          </a:prstGeom>
          <a:solidFill>
            <a:srgbClr val="EABA58"/>
          </a:solidFill>
          <a:ln/>
        </p:spPr>
      </p:sp>
      <p:sp>
        <p:nvSpPr>
          <p:cNvPr id="28" name="Shape 26"/>
          <p:cNvSpPr/>
          <p:nvPr/>
        </p:nvSpPr>
        <p:spPr>
          <a:xfrm>
            <a:off x="2912364" y="4864608"/>
            <a:ext cx="173736" cy="173736"/>
          </a:xfrm>
          <a:prstGeom prst="ellipse">
            <a:avLst/>
          </a:prstGeom>
          <a:solidFill>
            <a:srgbClr val="DED7CB"/>
          </a:solidFill>
          <a:ln/>
        </p:spPr>
      </p:sp>
      <p:sp>
        <p:nvSpPr>
          <p:cNvPr id="29" name="Shape 27"/>
          <p:cNvSpPr/>
          <p:nvPr/>
        </p:nvSpPr>
        <p:spPr>
          <a:xfrm>
            <a:off x="3191256" y="4864608"/>
            <a:ext cx="173736" cy="173736"/>
          </a:xfrm>
          <a:prstGeom prst="ellipse">
            <a:avLst/>
          </a:prstGeom>
          <a:solidFill>
            <a:srgbClr val="DED7CB"/>
          </a:solidFill>
          <a:ln/>
        </p:spPr>
      </p:sp>
      <p:sp>
        <p:nvSpPr>
          <p:cNvPr id="30" name="Shape 28"/>
          <p:cNvSpPr/>
          <p:nvPr/>
        </p:nvSpPr>
        <p:spPr>
          <a:xfrm>
            <a:off x="3470148" y="4864608"/>
            <a:ext cx="173736" cy="173736"/>
          </a:xfrm>
          <a:prstGeom prst="ellipse">
            <a:avLst/>
          </a:prstGeom>
          <a:solidFill>
            <a:srgbClr val="DED7CB"/>
          </a:solidFill>
          <a:ln/>
        </p:spPr>
      </p:sp>
      <p:sp>
        <p:nvSpPr>
          <p:cNvPr id="31" name="Shape 29"/>
          <p:cNvSpPr/>
          <p:nvPr/>
        </p:nvSpPr>
        <p:spPr>
          <a:xfrm>
            <a:off x="3749040" y="4864608"/>
            <a:ext cx="173736" cy="173736"/>
          </a:xfrm>
          <a:prstGeom prst="ellipse">
            <a:avLst/>
          </a:prstGeom>
          <a:solidFill>
            <a:srgbClr val="DED7CB"/>
          </a:solidFill>
          <a:ln/>
        </p:spPr>
      </p:sp>
      <p:sp>
        <p:nvSpPr>
          <p:cNvPr id="32" name="Shape 30"/>
          <p:cNvSpPr/>
          <p:nvPr/>
        </p:nvSpPr>
        <p:spPr>
          <a:xfrm>
            <a:off x="4027932" y="4864608"/>
            <a:ext cx="173736" cy="173736"/>
          </a:xfrm>
          <a:prstGeom prst="ellipse">
            <a:avLst/>
          </a:prstGeom>
          <a:solidFill>
            <a:srgbClr val="DED7CB"/>
          </a:solidFill>
          <a:ln/>
        </p:spPr>
      </p:sp>
      <p:sp>
        <p:nvSpPr>
          <p:cNvPr id="33" name="Shape 31"/>
          <p:cNvSpPr/>
          <p:nvPr/>
        </p:nvSpPr>
        <p:spPr>
          <a:xfrm>
            <a:off x="4306824" y="4864608"/>
            <a:ext cx="173736" cy="173736"/>
          </a:xfrm>
          <a:prstGeom prst="ellipse">
            <a:avLst/>
          </a:prstGeom>
          <a:solidFill>
            <a:srgbClr val="DED7CB"/>
          </a:solidFill>
          <a:ln/>
        </p:spPr>
      </p:sp>
      <p:sp>
        <p:nvSpPr>
          <p:cNvPr id="34" name="Shape 32"/>
          <p:cNvSpPr/>
          <p:nvPr/>
        </p:nvSpPr>
        <p:spPr>
          <a:xfrm>
            <a:off x="4585716" y="4864608"/>
            <a:ext cx="173736" cy="173736"/>
          </a:xfrm>
          <a:prstGeom prst="ellipse">
            <a:avLst/>
          </a:prstGeom>
          <a:solidFill>
            <a:srgbClr val="DED7CB"/>
          </a:solidFill>
          <a:ln/>
        </p:spPr>
      </p:sp>
      <p:sp>
        <p:nvSpPr>
          <p:cNvPr id="35" name="Shape 33"/>
          <p:cNvSpPr/>
          <p:nvPr/>
        </p:nvSpPr>
        <p:spPr>
          <a:xfrm>
            <a:off x="4864608" y="4864608"/>
            <a:ext cx="173736" cy="173736"/>
          </a:xfrm>
          <a:prstGeom prst="ellipse">
            <a:avLst/>
          </a:prstGeom>
          <a:solidFill>
            <a:srgbClr val="DED7CB"/>
          </a:solidFill>
          <a:ln/>
        </p:spPr>
      </p:sp>
      <p:sp>
        <p:nvSpPr>
          <p:cNvPr id="36" name="Shape 34"/>
          <p:cNvSpPr/>
          <p:nvPr/>
        </p:nvSpPr>
        <p:spPr>
          <a:xfrm>
            <a:off x="5143500" y="4864608"/>
            <a:ext cx="173736" cy="173736"/>
          </a:xfrm>
          <a:prstGeom prst="ellipse">
            <a:avLst/>
          </a:prstGeom>
          <a:solidFill>
            <a:srgbClr val="DED7CB"/>
          </a:solidFill>
          <a:ln/>
        </p:spPr>
      </p:sp>
      <p:sp>
        <p:nvSpPr>
          <p:cNvPr id="37" name="Shape 35"/>
          <p:cNvSpPr/>
          <p:nvPr/>
        </p:nvSpPr>
        <p:spPr>
          <a:xfrm>
            <a:off x="5422392" y="4864608"/>
            <a:ext cx="173736" cy="173736"/>
          </a:xfrm>
          <a:prstGeom prst="ellipse">
            <a:avLst/>
          </a:prstGeom>
          <a:solidFill>
            <a:srgbClr val="DED7CB"/>
          </a:solidFill>
          <a:ln/>
        </p:spPr>
      </p:sp>
      <p:sp>
        <p:nvSpPr>
          <p:cNvPr id="38" name="Shape 36"/>
          <p:cNvSpPr/>
          <p:nvPr/>
        </p:nvSpPr>
        <p:spPr>
          <a:xfrm>
            <a:off x="5701284" y="4864608"/>
            <a:ext cx="173736" cy="173736"/>
          </a:xfrm>
          <a:prstGeom prst="ellipse">
            <a:avLst/>
          </a:prstGeom>
          <a:solidFill>
            <a:srgbClr val="DED7CB"/>
          </a:solidFill>
          <a:ln/>
        </p:spPr>
      </p:sp>
      <p:sp>
        <p:nvSpPr>
          <p:cNvPr id="39" name="Shape 37"/>
          <p:cNvSpPr/>
          <p:nvPr/>
        </p:nvSpPr>
        <p:spPr>
          <a:xfrm>
            <a:off x="5980176" y="4864608"/>
            <a:ext cx="173736" cy="173736"/>
          </a:xfrm>
          <a:prstGeom prst="ellipse">
            <a:avLst/>
          </a:prstGeom>
          <a:solidFill>
            <a:srgbClr val="DED7CB"/>
          </a:solidFill>
          <a:ln/>
        </p:spPr>
      </p:sp>
      <p:sp>
        <p:nvSpPr>
          <p:cNvPr id="40" name="Shape 38"/>
          <p:cNvSpPr/>
          <p:nvPr/>
        </p:nvSpPr>
        <p:spPr>
          <a:xfrm>
            <a:off x="6259068" y="4864608"/>
            <a:ext cx="173736" cy="173736"/>
          </a:xfrm>
          <a:prstGeom prst="ellipse">
            <a:avLst/>
          </a:prstGeom>
          <a:solidFill>
            <a:srgbClr val="DED7CB"/>
          </a:solidFill>
          <a:ln/>
        </p:spPr>
      </p:sp>
      <p:sp>
        <p:nvSpPr>
          <p:cNvPr id="41" name="Shape 39"/>
          <p:cNvSpPr/>
          <p:nvPr/>
        </p:nvSpPr>
        <p:spPr>
          <a:xfrm>
            <a:off x="6537960" y="4864608"/>
            <a:ext cx="173736" cy="173736"/>
          </a:xfrm>
          <a:prstGeom prst="ellipse">
            <a:avLst/>
          </a:prstGeom>
          <a:solidFill>
            <a:srgbClr val="DED7CB"/>
          </a:solidFill>
          <a:ln/>
        </p:spPr>
      </p:sp>
      <p:sp>
        <p:nvSpPr>
          <p:cNvPr id="42" name="Shape 40"/>
          <p:cNvSpPr/>
          <p:nvPr/>
        </p:nvSpPr>
        <p:spPr>
          <a:xfrm>
            <a:off x="6816852" y="4864608"/>
            <a:ext cx="173736" cy="173736"/>
          </a:xfrm>
          <a:prstGeom prst="ellipse">
            <a:avLst/>
          </a:prstGeom>
          <a:solidFill>
            <a:srgbClr val="DED7CB"/>
          </a:solidFill>
          <a:ln/>
        </p:spPr>
      </p:sp>
      <p:sp>
        <p:nvSpPr>
          <p:cNvPr id="43" name="Shape 41"/>
          <p:cNvSpPr/>
          <p:nvPr/>
        </p:nvSpPr>
        <p:spPr>
          <a:xfrm>
            <a:off x="7095744" y="4864608"/>
            <a:ext cx="173736" cy="173736"/>
          </a:xfrm>
          <a:prstGeom prst="ellipse">
            <a:avLst/>
          </a:prstGeom>
          <a:solidFill>
            <a:srgbClr val="DED7CB"/>
          </a:solidFill>
          <a:ln/>
        </p:spPr>
      </p:sp>
      <p:sp>
        <p:nvSpPr>
          <p:cNvPr id="44" name="Shape 42"/>
          <p:cNvSpPr/>
          <p:nvPr/>
        </p:nvSpPr>
        <p:spPr>
          <a:xfrm>
            <a:off x="7374636" y="4864608"/>
            <a:ext cx="173736" cy="173736"/>
          </a:xfrm>
          <a:prstGeom prst="ellipse">
            <a:avLst/>
          </a:prstGeom>
          <a:solidFill>
            <a:srgbClr val="DED7CB"/>
          </a:solidFill>
          <a:ln/>
        </p:spPr>
      </p:sp>
      <p:sp>
        <p:nvSpPr>
          <p:cNvPr id="45" name="Shape 43"/>
          <p:cNvSpPr/>
          <p:nvPr/>
        </p:nvSpPr>
        <p:spPr>
          <a:xfrm>
            <a:off x="7653528" y="4864608"/>
            <a:ext cx="173736" cy="173736"/>
          </a:xfrm>
          <a:prstGeom prst="ellipse">
            <a:avLst/>
          </a:prstGeom>
          <a:solidFill>
            <a:srgbClr val="DED7CB"/>
          </a:solidFill>
          <a:ln/>
        </p:spPr>
      </p:sp>
      <p:sp>
        <p:nvSpPr>
          <p:cNvPr id="46" name="Text 44"/>
          <p:cNvSpPr/>
          <p:nvPr/>
        </p:nvSpPr>
        <p:spPr>
          <a:xfrm>
            <a:off x="960120" y="5212080"/>
            <a:ext cx="5486400" cy="320040"/>
          </a:xfrm>
          <a:prstGeom prst="rect">
            <a:avLst/>
          </a:prstGeom>
          <a:noFill/>
          <a:ln/>
        </p:spPr>
        <p:txBody>
          <a:bodyPr wrap="square" lIns="0" tIns="0" rIns="0" bIns="0" rtlCol="0" anchor="ctr"/>
          <a:lstStyle/>
          <a:p>
            <a:pPr indent="0" marL="0">
              <a:buNone/>
            </a:pPr>
            <a:r>
              <a:rPr lang="en-US" sz="1250" b="1" dirty="0">
                <a:solidFill>
                  <a:srgbClr val="C99A38"/>
                </a:solidFill>
                <a:latin typeface="Calibri" pitchFamily="34" charset="0"/>
                <a:ea typeface="Calibri" pitchFamily="34" charset="-122"/>
                <a:cs typeface="Calibri" pitchFamily="34" charset="-120"/>
              </a:rPr>
              <a:t>7 of 25 ballots — tally stays sealed</a:t>
            </a:r>
            <a:endParaRPr lang="en-US" sz="1250" dirty="0"/>
          </a:p>
        </p:txBody>
      </p:sp>
      <p:sp>
        <p:nvSpPr>
          <p:cNvPr id="47" name="Text 45"/>
          <p:cNvSpPr/>
          <p:nvPr/>
        </p:nvSpPr>
        <p:spPr>
          <a:xfrm>
            <a:off x="6766560" y="4956048"/>
            <a:ext cx="4663440" cy="640080"/>
          </a:xfrm>
          <a:prstGeom prst="rect">
            <a:avLst/>
          </a:prstGeom>
          <a:noFill/>
          <a:ln/>
        </p:spPr>
        <p:txBody>
          <a:bodyPr wrap="square" lIns="0" tIns="0" rIns="0" bIns="0" rtlCol="0" anchor="ctr"/>
          <a:lstStyle/>
          <a:p>
            <a:pPr indent="0" marL="0">
              <a:buNone/>
            </a:pPr>
            <a:r>
              <a:rPr lang="en-US" sz="1300" i="1" dirty="0">
                <a:solidFill>
                  <a:srgbClr val="181510"/>
                </a:solidFill>
                <a:latin typeface="Cambria" pitchFamily="34" charset="0"/>
                <a:ea typeface="Cambria" pitchFamily="34" charset="-122"/>
                <a:cs typeface="Cambria" pitchFamily="34" charset="-120"/>
              </a:rPr>
              <a:t>The threshold is the product. It is why a Represent number can be quoted and a poll number cannot.</a:t>
            </a:r>
            <a:endParaRPr lang="en-US" sz="1300" dirty="0"/>
          </a:p>
        </p:txBody>
      </p:sp>
      <p:sp>
        <p:nvSpPr>
          <p:cNvPr id="48" name="Text 46"/>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49" name="Text 47"/>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07"/>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EABA58"/>
                </a:solidFill>
                <a:latin typeface="Calibri" pitchFamily="34" charset="0"/>
                <a:ea typeface="Calibri" pitchFamily="34" charset="-122"/>
                <a:cs typeface="Calibri" pitchFamily="34" charset="-120"/>
              </a:rPr>
              <a:t>DEFENSIBILITY</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F4F5F6"/>
                </a:solidFill>
                <a:latin typeface="Cambria" pitchFamily="34" charset="0"/>
                <a:ea typeface="Cambria" pitchFamily="34" charset="-122"/>
                <a:cs typeface="Cambria" pitchFamily="34" charset="-120"/>
              </a:rPr>
              <a:t>Why this is hard to copy.</a:t>
            </a:r>
            <a:endParaRPr lang="en-US" sz="3800" dirty="0"/>
          </a:p>
        </p:txBody>
      </p:sp>
      <p:sp>
        <p:nvSpPr>
          <p:cNvPr id="4" name="Shape 2"/>
          <p:cNvSpPr/>
          <p:nvPr/>
        </p:nvSpPr>
        <p:spPr>
          <a:xfrm>
            <a:off x="685800" y="1920240"/>
            <a:ext cx="5303520" cy="1737360"/>
          </a:xfrm>
          <a:prstGeom prst="roundRect">
            <a:avLst>
              <a:gd name="adj" fmla="val 3158"/>
            </a:avLst>
          </a:prstGeom>
          <a:solidFill>
            <a:srgbClr val="141818"/>
          </a:solidFill>
          <a:ln w="12700">
            <a:solidFill>
              <a:srgbClr val="23292A"/>
            </a:solidFill>
            <a:prstDash val="solid"/>
          </a:ln>
        </p:spPr>
      </p:sp>
      <p:sp>
        <p:nvSpPr>
          <p:cNvPr id="5" name="Text 3"/>
          <p:cNvSpPr/>
          <p:nvPr/>
        </p:nvSpPr>
        <p:spPr>
          <a:xfrm>
            <a:off x="978408" y="2121408"/>
            <a:ext cx="4754880" cy="502920"/>
          </a:xfrm>
          <a:prstGeom prst="rect">
            <a:avLst/>
          </a:prstGeom>
          <a:noFill/>
          <a:ln/>
        </p:spPr>
        <p:txBody>
          <a:bodyPr wrap="square" lIns="0" tIns="0" rIns="0" bIns="0" rtlCol="0" anchor="ctr"/>
          <a:lstStyle/>
          <a:p>
            <a:pPr indent="0" marL="0">
              <a:buNone/>
            </a:pPr>
            <a:r>
              <a:rPr lang="en-US" sz="1700" b="1" dirty="0">
                <a:solidFill>
                  <a:srgbClr val="EABA58"/>
                </a:solidFill>
                <a:latin typeface="Cambria" pitchFamily="34" charset="0"/>
                <a:ea typeface="Cambria" pitchFamily="34" charset="-122"/>
                <a:cs typeface="Cambria" pitchFamily="34" charset="-120"/>
              </a:rPr>
              <a:t>Identity costs real money</a:t>
            </a:r>
            <a:endParaRPr lang="en-US" sz="1700" dirty="0"/>
          </a:p>
        </p:txBody>
      </p:sp>
      <p:sp>
        <p:nvSpPr>
          <p:cNvPr id="6" name="Text 4"/>
          <p:cNvSpPr/>
          <p:nvPr/>
        </p:nvSpPr>
        <p:spPr>
          <a:xfrm>
            <a:off x="978408" y="2560320"/>
            <a:ext cx="4800600" cy="9601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Every verified user costs us a KYC fee. An ad-funded platform cannot absorb that per head — their economics depend on accounts being free and unlimited.</a:t>
            </a:r>
            <a:endParaRPr lang="en-US" sz="1150" dirty="0"/>
          </a:p>
        </p:txBody>
      </p:sp>
      <p:sp>
        <p:nvSpPr>
          <p:cNvPr id="7" name="Shape 5"/>
          <p:cNvSpPr/>
          <p:nvPr/>
        </p:nvSpPr>
        <p:spPr>
          <a:xfrm>
            <a:off x="6217920" y="1920240"/>
            <a:ext cx="5303520" cy="1737360"/>
          </a:xfrm>
          <a:prstGeom prst="roundRect">
            <a:avLst>
              <a:gd name="adj" fmla="val 3158"/>
            </a:avLst>
          </a:prstGeom>
          <a:solidFill>
            <a:srgbClr val="141818"/>
          </a:solidFill>
          <a:ln w="12700">
            <a:solidFill>
              <a:srgbClr val="23292A"/>
            </a:solidFill>
            <a:prstDash val="solid"/>
          </a:ln>
        </p:spPr>
      </p:sp>
      <p:sp>
        <p:nvSpPr>
          <p:cNvPr id="8" name="Text 6"/>
          <p:cNvSpPr/>
          <p:nvPr/>
        </p:nvSpPr>
        <p:spPr>
          <a:xfrm>
            <a:off x="6510528" y="2121408"/>
            <a:ext cx="4754880" cy="502920"/>
          </a:xfrm>
          <a:prstGeom prst="rect">
            <a:avLst/>
          </a:prstGeom>
          <a:noFill/>
          <a:ln/>
        </p:spPr>
        <p:txBody>
          <a:bodyPr wrap="square" lIns="0" tIns="0" rIns="0" bIns="0" rtlCol="0" anchor="ctr"/>
          <a:lstStyle/>
          <a:p>
            <a:pPr indent="0" marL="0">
              <a:buNone/>
            </a:pPr>
            <a:r>
              <a:rPr lang="en-US" sz="1700" b="1" dirty="0">
                <a:solidFill>
                  <a:srgbClr val="EABA58"/>
                </a:solidFill>
                <a:latin typeface="Cambria" pitchFamily="34" charset="0"/>
                <a:ea typeface="Cambria" pitchFamily="34" charset="-122"/>
                <a:cs typeface="Cambria" pitchFamily="34" charset="-120"/>
              </a:rPr>
              <a:t>The ledger has to be there from day one</a:t>
            </a:r>
            <a:endParaRPr lang="en-US" sz="1700" dirty="0"/>
          </a:p>
        </p:txBody>
      </p:sp>
      <p:sp>
        <p:nvSpPr>
          <p:cNvPr id="9" name="Text 7"/>
          <p:cNvSpPr/>
          <p:nvPr/>
        </p:nvSpPr>
        <p:spPr>
          <a:xfrm>
            <a:off x="6510528" y="2560320"/>
            <a:ext cx="4800600" cy="9601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Auditability cannot be bolted on. A platform that has already published unverifiable numbers cannot retroactively make them provable.</a:t>
            </a:r>
            <a:endParaRPr lang="en-US" sz="1150" dirty="0"/>
          </a:p>
        </p:txBody>
      </p:sp>
      <p:sp>
        <p:nvSpPr>
          <p:cNvPr id="10" name="Shape 8"/>
          <p:cNvSpPr/>
          <p:nvPr/>
        </p:nvSpPr>
        <p:spPr>
          <a:xfrm>
            <a:off x="685800" y="3886200"/>
            <a:ext cx="5303520" cy="1737360"/>
          </a:xfrm>
          <a:prstGeom prst="roundRect">
            <a:avLst>
              <a:gd name="adj" fmla="val 3158"/>
            </a:avLst>
          </a:prstGeom>
          <a:solidFill>
            <a:srgbClr val="141818"/>
          </a:solidFill>
          <a:ln w="12700">
            <a:solidFill>
              <a:srgbClr val="23292A"/>
            </a:solidFill>
            <a:prstDash val="solid"/>
          </a:ln>
        </p:spPr>
      </p:sp>
      <p:sp>
        <p:nvSpPr>
          <p:cNvPr id="11" name="Text 9"/>
          <p:cNvSpPr/>
          <p:nvPr/>
        </p:nvSpPr>
        <p:spPr>
          <a:xfrm>
            <a:off x="978408" y="4087368"/>
            <a:ext cx="4754880" cy="502920"/>
          </a:xfrm>
          <a:prstGeom prst="rect">
            <a:avLst/>
          </a:prstGeom>
          <a:noFill/>
          <a:ln/>
        </p:spPr>
        <p:txBody>
          <a:bodyPr wrap="square" lIns="0" tIns="0" rIns="0" bIns="0" rtlCol="0" anchor="ctr"/>
          <a:lstStyle/>
          <a:p>
            <a:pPr indent="0" marL="0">
              <a:buNone/>
            </a:pPr>
            <a:r>
              <a:rPr lang="en-US" sz="1700" b="1" dirty="0">
                <a:solidFill>
                  <a:srgbClr val="EABA58"/>
                </a:solidFill>
                <a:latin typeface="Cambria" pitchFamily="34" charset="0"/>
                <a:ea typeface="Cambria" pitchFamily="34" charset="-122"/>
                <a:cs typeface="Cambria" pitchFamily="34" charset="-120"/>
              </a:rPr>
              <a:t>The threshold hurts engagement on purpose</a:t>
            </a:r>
            <a:endParaRPr lang="en-US" sz="1700" dirty="0"/>
          </a:p>
        </p:txBody>
      </p:sp>
      <p:sp>
        <p:nvSpPr>
          <p:cNvPr id="12" name="Text 10"/>
          <p:cNvSpPr/>
          <p:nvPr/>
        </p:nvSpPr>
        <p:spPr>
          <a:xfrm>
            <a:off x="978408" y="4526280"/>
            <a:ext cx="4800600" cy="9601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Hiding results until 25 ballots is bad for short-term metrics. A company optimising for engagement will not ship it.</a:t>
            </a:r>
            <a:endParaRPr lang="en-US" sz="1150" dirty="0"/>
          </a:p>
        </p:txBody>
      </p:sp>
      <p:sp>
        <p:nvSpPr>
          <p:cNvPr id="13" name="Shape 11"/>
          <p:cNvSpPr/>
          <p:nvPr/>
        </p:nvSpPr>
        <p:spPr>
          <a:xfrm>
            <a:off x="6217920" y="3886200"/>
            <a:ext cx="5303520" cy="1737360"/>
          </a:xfrm>
          <a:prstGeom prst="roundRect">
            <a:avLst>
              <a:gd name="adj" fmla="val 3158"/>
            </a:avLst>
          </a:prstGeom>
          <a:solidFill>
            <a:srgbClr val="141818"/>
          </a:solidFill>
          <a:ln w="12700">
            <a:solidFill>
              <a:srgbClr val="23292A"/>
            </a:solidFill>
            <a:prstDash val="solid"/>
          </a:ln>
        </p:spPr>
      </p:sp>
      <p:sp>
        <p:nvSpPr>
          <p:cNvPr id="14" name="Text 12"/>
          <p:cNvSpPr/>
          <p:nvPr/>
        </p:nvSpPr>
        <p:spPr>
          <a:xfrm>
            <a:off x="6510528" y="4087368"/>
            <a:ext cx="4754880" cy="502920"/>
          </a:xfrm>
          <a:prstGeom prst="rect">
            <a:avLst/>
          </a:prstGeom>
          <a:noFill/>
          <a:ln/>
        </p:spPr>
        <p:txBody>
          <a:bodyPr wrap="square" lIns="0" tIns="0" rIns="0" bIns="0" rtlCol="0" anchor="ctr"/>
          <a:lstStyle/>
          <a:p>
            <a:pPr indent="0" marL="0">
              <a:buNone/>
            </a:pPr>
            <a:r>
              <a:rPr lang="en-US" sz="1700" b="1" dirty="0">
                <a:solidFill>
                  <a:srgbClr val="EABA58"/>
                </a:solidFill>
                <a:latin typeface="Cambria" pitchFamily="34" charset="0"/>
                <a:ea typeface="Cambria" pitchFamily="34" charset="-122"/>
                <a:cs typeface="Cambria" pitchFamily="34" charset="-120"/>
              </a:rPr>
              <a:t>Two-sided by design</a:t>
            </a:r>
            <a:endParaRPr lang="en-US" sz="1700" dirty="0"/>
          </a:p>
        </p:txBody>
      </p:sp>
      <p:sp>
        <p:nvSpPr>
          <p:cNvPr id="15" name="Text 13"/>
          <p:cNvSpPr/>
          <p:nvPr/>
        </p:nvSpPr>
        <p:spPr>
          <a:xfrm>
            <a:off x="6510528" y="4526280"/>
            <a:ext cx="4800600" cy="9601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Consumer trust makes the B2B product credible; B2B revenue pays for consumer verification. Neither side works alone.</a:t>
            </a:r>
            <a:endParaRPr lang="en-US" sz="1150" dirty="0"/>
          </a:p>
        </p:txBody>
      </p:sp>
      <p:sp>
        <p:nvSpPr>
          <p:cNvPr id="16" name="Text 14"/>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7A7D7E"/>
                </a:solidFill>
                <a:latin typeface="Calibri" pitchFamily="34" charset="0"/>
                <a:ea typeface="Calibri" pitchFamily="34" charset="-122"/>
                <a:cs typeface="Calibri" pitchFamily="34" charset="-120"/>
              </a:rPr>
              <a:t>REPRESENT</a:t>
            </a:r>
            <a:endParaRPr lang="en-US" sz="850" dirty="0"/>
          </a:p>
        </p:txBody>
      </p:sp>
      <p:sp>
        <p:nvSpPr>
          <p:cNvPr id="17" name="Text 15"/>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7A7D7E"/>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BUSINESS MODEL</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Organizations pay. Citizens never do.</a:t>
            </a:r>
            <a:endParaRPr lang="en-US" sz="3800" dirty="0"/>
          </a:p>
        </p:txBody>
      </p:sp>
      <p:sp>
        <p:nvSpPr>
          <p:cNvPr id="4" name="Text 2"/>
          <p:cNvSpPr/>
          <p:nvPr/>
        </p:nvSpPr>
        <p:spPr>
          <a:xfrm>
            <a:off x="685800" y="1755648"/>
            <a:ext cx="10515600" cy="502920"/>
          </a:xfrm>
          <a:prstGeom prst="rect">
            <a:avLst/>
          </a:prstGeom>
          <a:noFill/>
          <a:ln/>
        </p:spPr>
        <p:txBody>
          <a:bodyPr wrap="square" lIns="0" tIns="0" rIns="0" bIns="0" rtlCol="0" anchor="ctr"/>
          <a:lstStyle/>
          <a:p>
            <a:pPr indent="0" marL="0">
              <a:buNone/>
            </a:pPr>
            <a:r>
              <a:rPr lang="en-US" sz="1350" dirty="0">
                <a:solidFill>
                  <a:srgbClr val="6B655C"/>
                </a:solidFill>
                <a:latin typeface="Calibri" pitchFamily="34" charset="0"/>
                <a:ea typeface="Calibri" pitchFamily="34" charset="-122"/>
                <a:cs typeface="Calibri" pitchFamily="34" charset="-120"/>
              </a:rPr>
              <a:t>Unions, associations, boards and municipalities run verified internal votes — ratifications, elections, member consultations — on the same rails.</a:t>
            </a:r>
            <a:endParaRPr lang="en-US" sz="1350" dirty="0"/>
          </a:p>
        </p:txBody>
      </p:sp>
      <p:sp>
        <p:nvSpPr>
          <p:cNvPr id="5" name="Shape 3"/>
          <p:cNvSpPr/>
          <p:nvPr/>
        </p:nvSpPr>
        <p:spPr>
          <a:xfrm>
            <a:off x="685800" y="2468880"/>
            <a:ext cx="2011680" cy="2148840"/>
          </a:xfrm>
          <a:prstGeom prst="roundRect">
            <a:avLst>
              <a:gd name="adj" fmla="val 2727"/>
            </a:avLst>
          </a:prstGeom>
          <a:solidFill>
            <a:srgbClr val="F2EEE7"/>
          </a:solidFill>
          <a:ln w="12700">
            <a:solidFill>
              <a:srgbClr val="DED7CB"/>
            </a:solidFill>
            <a:prstDash val="solid"/>
          </a:ln>
        </p:spPr>
      </p:sp>
      <p:sp>
        <p:nvSpPr>
          <p:cNvPr id="6" name="Text 4"/>
          <p:cNvSpPr/>
          <p:nvPr/>
        </p:nvSpPr>
        <p:spPr>
          <a:xfrm>
            <a:off x="886968" y="2670048"/>
            <a:ext cx="1645920" cy="256032"/>
          </a:xfrm>
          <a:prstGeom prst="rect">
            <a:avLst/>
          </a:prstGeom>
          <a:noFill/>
          <a:ln/>
        </p:spPr>
        <p:txBody>
          <a:bodyPr wrap="square" lIns="0" tIns="0" rIns="0" bIns="0" rtlCol="0" anchor="ctr"/>
          <a:lstStyle/>
          <a:p>
            <a:pPr indent="0" marL="0">
              <a:buNone/>
            </a:pPr>
            <a:r>
              <a:rPr lang="en-US" sz="1050" b="1" spc="200" kern="0" dirty="0">
                <a:solidFill>
                  <a:srgbClr val="6B655C"/>
                </a:solidFill>
                <a:latin typeface="Calibri" pitchFamily="34" charset="0"/>
                <a:ea typeface="Calibri" pitchFamily="34" charset="-122"/>
                <a:cs typeface="Calibri" pitchFamily="34" charset="-120"/>
              </a:rPr>
              <a:t>FREE</a:t>
            </a:r>
            <a:endParaRPr lang="en-US" sz="1050" dirty="0"/>
          </a:p>
        </p:txBody>
      </p:sp>
      <p:sp>
        <p:nvSpPr>
          <p:cNvPr id="7" name="Text 5"/>
          <p:cNvSpPr/>
          <p:nvPr/>
        </p:nvSpPr>
        <p:spPr>
          <a:xfrm>
            <a:off x="886968" y="2971800"/>
            <a:ext cx="1691640" cy="640080"/>
          </a:xfrm>
          <a:prstGeom prst="rect">
            <a:avLst/>
          </a:prstGeom>
          <a:noFill/>
          <a:ln/>
        </p:spPr>
        <p:txBody>
          <a:bodyPr wrap="square" lIns="0" tIns="0" rIns="0" bIns="0" rtlCol="0" anchor="ctr"/>
          <a:lstStyle/>
          <a:p>
            <a:pPr indent="0" marL="0">
              <a:buNone/>
            </a:pPr>
            <a:r>
              <a:rPr lang="en-US" sz="3800" b="1" dirty="0">
                <a:solidFill>
                  <a:srgbClr val="181510"/>
                </a:solidFill>
                <a:latin typeface="Cambria" pitchFamily="34" charset="0"/>
                <a:ea typeface="Cambria" pitchFamily="34" charset="-122"/>
                <a:cs typeface="Cambria" pitchFamily="34" charset="-120"/>
              </a:rPr>
              <a:t>$0</a:t>
            </a:r>
            <a:endParaRPr lang="en-US" sz="3800" dirty="0"/>
          </a:p>
        </p:txBody>
      </p:sp>
      <p:sp>
        <p:nvSpPr>
          <p:cNvPr id="8" name="Text 6"/>
          <p:cNvSpPr/>
          <p:nvPr/>
        </p:nvSpPr>
        <p:spPr>
          <a:xfrm>
            <a:off x="886968" y="3639312"/>
            <a:ext cx="1645920" cy="228600"/>
          </a:xfrm>
          <a:prstGeom prst="rect">
            <a:avLst/>
          </a:prstGeom>
          <a:noFill/>
          <a:ln/>
        </p:spPr>
        <p:txBody>
          <a:bodyPr wrap="square" lIns="0" tIns="0" rIns="0" bIns="0" rtlCol="0" anchor="ctr"/>
          <a:lstStyle/>
          <a:p>
            <a:pPr indent="0" marL="0">
              <a:buNone/>
            </a:pPr>
            <a:r>
              <a:rPr lang="en-US" sz="1000" dirty="0">
                <a:solidFill>
                  <a:srgbClr val="6B655C"/>
                </a:solidFill>
                <a:latin typeface="Calibri" pitchFamily="34" charset="0"/>
                <a:ea typeface="Calibri" pitchFamily="34" charset="-122"/>
                <a:cs typeface="Calibri" pitchFamily="34" charset="-120"/>
              </a:rPr>
              <a:t>per month</a:t>
            </a:r>
            <a:endParaRPr lang="en-US" sz="1000" dirty="0"/>
          </a:p>
        </p:txBody>
      </p:sp>
      <p:sp>
        <p:nvSpPr>
          <p:cNvPr id="9" name="Text 7"/>
          <p:cNvSpPr/>
          <p:nvPr/>
        </p:nvSpPr>
        <p:spPr>
          <a:xfrm>
            <a:off x="886968" y="3977640"/>
            <a:ext cx="1645920" cy="457200"/>
          </a:xfrm>
          <a:prstGeom prst="rect">
            <a:avLst/>
          </a:prstGeom>
          <a:noFill/>
          <a:ln/>
        </p:spPr>
        <p:txBody>
          <a:bodyPr wrap="square" lIns="0" tIns="0" rIns="0" bIns="0" rtlCol="0" anchor="ctr"/>
          <a:lstStyle/>
          <a:p>
            <a:pPr indent="0" marL="0">
              <a:buNone/>
            </a:pPr>
            <a:r>
              <a:rPr lang="en-US" sz="1150" b="1" dirty="0">
                <a:solidFill>
                  <a:srgbClr val="181510"/>
                </a:solidFill>
                <a:latin typeface="Calibri" pitchFamily="34" charset="0"/>
                <a:ea typeface="Calibri" pitchFamily="34" charset="-122"/>
                <a:cs typeface="Calibri" pitchFamily="34" charset="-120"/>
              </a:rPr>
              <a:t>Up to 25 members</a:t>
            </a:r>
            <a:endParaRPr lang="en-US" sz="1150" dirty="0"/>
          </a:p>
        </p:txBody>
      </p:sp>
      <p:sp>
        <p:nvSpPr>
          <p:cNvPr id="10" name="Shape 8"/>
          <p:cNvSpPr/>
          <p:nvPr/>
        </p:nvSpPr>
        <p:spPr>
          <a:xfrm>
            <a:off x="2898648" y="2468880"/>
            <a:ext cx="2011680" cy="2148840"/>
          </a:xfrm>
          <a:prstGeom prst="roundRect">
            <a:avLst>
              <a:gd name="adj" fmla="val 2727"/>
            </a:avLst>
          </a:prstGeom>
          <a:solidFill>
            <a:srgbClr val="F2EEE7"/>
          </a:solidFill>
          <a:ln w="12700">
            <a:solidFill>
              <a:srgbClr val="DED7CB"/>
            </a:solidFill>
            <a:prstDash val="solid"/>
          </a:ln>
        </p:spPr>
      </p:sp>
      <p:sp>
        <p:nvSpPr>
          <p:cNvPr id="11" name="Text 9"/>
          <p:cNvSpPr/>
          <p:nvPr/>
        </p:nvSpPr>
        <p:spPr>
          <a:xfrm>
            <a:off x="3099816" y="2670048"/>
            <a:ext cx="1645920" cy="256032"/>
          </a:xfrm>
          <a:prstGeom prst="rect">
            <a:avLst/>
          </a:prstGeom>
          <a:noFill/>
          <a:ln/>
        </p:spPr>
        <p:txBody>
          <a:bodyPr wrap="square" lIns="0" tIns="0" rIns="0" bIns="0" rtlCol="0" anchor="ctr"/>
          <a:lstStyle/>
          <a:p>
            <a:pPr indent="0" marL="0">
              <a:buNone/>
            </a:pPr>
            <a:r>
              <a:rPr lang="en-US" sz="1050" b="1" spc="200" kern="0" dirty="0">
                <a:solidFill>
                  <a:srgbClr val="C99A38"/>
                </a:solidFill>
                <a:latin typeface="Calibri" pitchFamily="34" charset="0"/>
                <a:ea typeface="Calibri" pitchFamily="34" charset="-122"/>
                <a:cs typeface="Calibri" pitchFamily="34" charset="-120"/>
              </a:rPr>
              <a:t>PRO</a:t>
            </a:r>
            <a:endParaRPr lang="en-US" sz="1050" dirty="0"/>
          </a:p>
        </p:txBody>
      </p:sp>
      <p:sp>
        <p:nvSpPr>
          <p:cNvPr id="12" name="Text 10"/>
          <p:cNvSpPr/>
          <p:nvPr/>
        </p:nvSpPr>
        <p:spPr>
          <a:xfrm>
            <a:off x="3099816" y="2971800"/>
            <a:ext cx="1691640" cy="640080"/>
          </a:xfrm>
          <a:prstGeom prst="rect">
            <a:avLst/>
          </a:prstGeom>
          <a:noFill/>
          <a:ln/>
        </p:spPr>
        <p:txBody>
          <a:bodyPr wrap="square" lIns="0" tIns="0" rIns="0" bIns="0" rtlCol="0" anchor="ctr"/>
          <a:lstStyle/>
          <a:p>
            <a:pPr indent="0" marL="0">
              <a:buNone/>
            </a:pPr>
            <a:r>
              <a:rPr lang="en-US" sz="3800" b="1" dirty="0">
                <a:solidFill>
                  <a:srgbClr val="181510"/>
                </a:solidFill>
                <a:latin typeface="Cambria" pitchFamily="34" charset="0"/>
                <a:ea typeface="Cambria" pitchFamily="34" charset="-122"/>
                <a:cs typeface="Cambria" pitchFamily="34" charset="-120"/>
              </a:rPr>
              <a:t>$59</a:t>
            </a:r>
            <a:endParaRPr lang="en-US" sz="3800" dirty="0"/>
          </a:p>
        </p:txBody>
      </p:sp>
      <p:sp>
        <p:nvSpPr>
          <p:cNvPr id="13" name="Text 11"/>
          <p:cNvSpPr/>
          <p:nvPr/>
        </p:nvSpPr>
        <p:spPr>
          <a:xfrm>
            <a:off x="3099816" y="3639312"/>
            <a:ext cx="1645920" cy="228600"/>
          </a:xfrm>
          <a:prstGeom prst="rect">
            <a:avLst/>
          </a:prstGeom>
          <a:noFill/>
          <a:ln/>
        </p:spPr>
        <p:txBody>
          <a:bodyPr wrap="square" lIns="0" tIns="0" rIns="0" bIns="0" rtlCol="0" anchor="ctr"/>
          <a:lstStyle/>
          <a:p>
            <a:pPr indent="0" marL="0">
              <a:buNone/>
            </a:pPr>
            <a:r>
              <a:rPr lang="en-US" sz="1000" dirty="0">
                <a:solidFill>
                  <a:srgbClr val="6B655C"/>
                </a:solidFill>
                <a:latin typeface="Calibri" pitchFamily="34" charset="0"/>
                <a:ea typeface="Calibri" pitchFamily="34" charset="-122"/>
                <a:cs typeface="Calibri" pitchFamily="34" charset="-120"/>
              </a:rPr>
              <a:t>per month</a:t>
            </a:r>
            <a:endParaRPr lang="en-US" sz="1000" dirty="0"/>
          </a:p>
        </p:txBody>
      </p:sp>
      <p:sp>
        <p:nvSpPr>
          <p:cNvPr id="14" name="Text 12"/>
          <p:cNvSpPr/>
          <p:nvPr/>
        </p:nvSpPr>
        <p:spPr>
          <a:xfrm>
            <a:off x="3099816" y="3977640"/>
            <a:ext cx="1645920" cy="457200"/>
          </a:xfrm>
          <a:prstGeom prst="rect">
            <a:avLst/>
          </a:prstGeom>
          <a:noFill/>
          <a:ln/>
        </p:spPr>
        <p:txBody>
          <a:bodyPr wrap="square" lIns="0" tIns="0" rIns="0" bIns="0" rtlCol="0" anchor="ctr"/>
          <a:lstStyle/>
          <a:p>
            <a:pPr indent="0" marL="0">
              <a:buNone/>
            </a:pPr>
            <a:r>
              <a:rPr lang="en-US" sz="1150" b="1" dirty="0">
                <a:solidFill>
                  <a:srgbClr val="181510"/>
                </a:solidFill>
                <a:latin typeface="Calibri" pitchFamily="34" charset="0"/>
                <a:ea typeface="Calibri" pitchFamily="34" charset="-122"/>
                <a:cs typeface="Calibri" pitchFamily="34" charset="-120"/>
              </a:rPr>
              <a:t>Up to 250 members</a:t>
            </a:r>
            <a:endParaRPr lang="en-US" sz="1150" dirty="0"/>
          </a:p>
        </p:txBody>
      </p:sp>
      <p:sp>
        <p:nvSpPr>
          <p:cNvPr id="15" name="Shape 13"/>
          <p:cNvSpPr/>
          <p:nvPr/>
        </p:nvSpPr>
        <p:spPr>
          <a:xfrm>
            <a:off x="5111496" y="2468880"/>
            <a:ext cx="2011680" cy="2148840"/>
          </a:xfrm>
          <a:prstGeom prst="roundRect">
            <a:avLst>
              <a:gd name="adj" fmla="val 2727"/>
            </a:avLst>
          </a:prstGeom>
          <a:solidFill>
            <a:srgbClr val="F2EEE7"/>
          </a:solidFill>
          <a:ln w="12700">
            <a:solidFill>
              <a:srgbClr val="DED7CB"/>
            </a:solidFill>
            <a:prstDash val="solid"/>
          </a:ln>
        </p:spPr>
      </p:sp>
      <p:sp>
        <p:nvSpPr>
          <p:cNvPr id="16" name="Text 14"/>
          <p:cNvSpPr/>
          <p:nvPr/>
        </p:nvSpPr>
        <p:spPr>
          <a:xfrm>
            <a:off x="5312664" y="2670048"/>
            <a:ext cx="1645920" cy="256032"/>
          </a:xfrm>
          <a:prstGeom prst="rect">
            <a:avLst/>
          </a:prstGeom>
          <a:noFill/>
          <a:ln/>
        </p:spPr>
        <p:txBody>
          <a:bodyPr wrap="square" lIns="0" tIns="0" rIns="0" bIns="0" rtlCol="0" anchor="ctr"/>
          <a:lstStyle/>
          <a:p>
            <a:pPr indent="0" marL="0">
              <a:buNone/>
            </a:pPr>
            <a:r>
              <a:rPr lang="en-US" sz="1050" b="1" spc="200" kern="0" dirty="0">
                <a:solidFill>
                  <a:srgbClr val="C99A38"/>
                </a:solidFill>
                <a:latin typeface="Calibri" pitchFamily="34" charset="0"/>
                <a:ea typeface="Calibri" pitchFamily="34" charset="-122"/>
                <a:cs typeface="Calibri" pitchFamily="34" charset="-120"/>
              </a:rPr>
              <a:t>PLUS</a:t>
            </a:r>
            <a:endParaRPr lang="en-US" sz="1050" dirty="0"/>
          </a:p>
        </p:txBody>
      </p:sp>
      <p:sp>
        <p:nvSpPr>
          <p:cNvPr id="17" name="Text 15"/>
          <p:cNvSpPr/>
          <p:nvPr/>
        </p:nvSpPr>
        <p:spPr>
          <a:xfrm>
            <a:off x="5312664" y="2971800"/>
            <a:ext cx="1691640" cy="640080"/>
          </a:xfrm>
          <a:prstGeom prst="rect">
            <a:avLst/>
          </a:prstGeom>
          <a:noFill/>
          <a:ln/>
        </p:spPr>
        <p:txBody>
          <a:bodyPr wrap="square" lIns="0" tIns="0" rIns="0" bIns="0" rtlCol="0" anchor="ctr"/>
          <a:lstStyle/>
          <a:p>
            <a:pPr indent="0" marL="0">
              <a:buNone/>
            </a:pPr>
            <a:r>
              <a:rPr lang="en-US" sz="3800" b="1" dirty="0">
                <a:solidFill>
                  <a:srgbClr val="181510"/>
                </a:solidFill>
                <a:latin typeface="Cambria" pitchFamily="34" charset="0"/>
                <a:ea typeface="Cambria" pitchFamily="34" charset="-122"/>
                <a:cs typeface="Cambria" pitchFamily="34" charset="-120"/>
              </a:rPr>
              <a:t>$179</a:t>
            </a:r>
            <a:endParaRPr lang="en-US" sz="3800" dirty="0"/>
          </a:p>
        </p:txBody>
      </p:sp>
      <p:sp>
        <p:nvSpPr>
          <p:cNvPr id="18" name="Text 16"/>
          <p:cNvSpPr/>
          <p:nvPr/>
        </p:nvSpPr>
        <p:spPr>
          <a:xfrm>
            <a:off x="5312664" y="3639312"/>
            <a:ext cx="1645920" cy="228600"/>
          </a:xfrm>
          <a:prstGeom prst="rect">
            <a:avLst/>
          </a:prstGeom>
          <a:noFill/>
          <a:ln/>
        </p:spPr>
        <p:txBody>
          <a:bodyPr wrap="square" lIns="0" tIns="0" rIns="0" bIns="0" rtlCol="0" anchor="ctr"/>
          <a:lstStyle/>
          <a:p>
            <a:pPr indent="0" marL="0">
              <a:buNone/>
            </a:pPr>
            <a:r>
              <a:rPr lang="en-US" sz="1000" dirty="0">
                <a:solidFill>
                  <a:srgbClr val="6B655C"/>
                </a:solidFill>
                <a:latin typeface="Calibri" pitchFamily="34" charset="0"/>
                <a:ea typeface="Calibri" pitchFamily="34" charset="-122"/>
                <a:cs typeface="Calibri" pitchFamily="34" charset="-120"/>
              </a:rPr>
              <a:t>per month</a:t>
            </a:r>
            <a:endParaRPr lang="en-US" sz="1000" dirty="0"/>
          </a:p>
        </p:txBody>
      </p:sp>
      <p:sp>
        <p:nvSpPr>
          <p:cNvPr id="19" name="Text 17"/>
          <p:cNvSpPr/>
          <p:nvPr/>
        </p:nvSpPr>
        <p:spPr>
          <a:xfrm>
            <a:off x="5312664" y="3977640"/>
            <a:ext cx="1645920" cy="457200"/>
          </a:xfrm>
          <a:prstGeom prst="rect">
            <a:avLst/>
          </a:prstGeom>
          <a:noFill/>
          <a:ln/>
        </p:spPr>
        <p:txBody>
          <a:bodyPr wrap="square" lIns="0" tIns="0" rIns="0" bIns="0" rtlCol="0" anchor="ctr"/>
          <a:lstStyle/>
          <a:p>
            <a:pPr indent="0" marL="0">
              <a:buNone/>
            </a:pPr>
            <a:r>
              <a:rPr lang="en-US" sz="1150" b="1" dirty="0">
                <a:solidFill>
                  <a:srgbClr val="181510"/>
                </a:solidFill>
                <a:latin typeface="Calibri" pitchFamily="34" charset="0"/>
                <a:ea typeface="Calibri" pitchFamily="34" charset="-122"/>
                <a:cs typeface="Calibri" pitchFamily="34" charset="-120"/>
              </a:rPr>
              <a:t>Up to 1,000 members</a:t>
            </a:r>
            <a:endParaRPr lang="en-US" sz="1150" dirty="0"/>
          </a:p>
        </p:txBody>
      </p:sp>
      <p:sp>
        <p:nvSpPr>
          <p:cNvPr id="20" name="Shape 18"/>
          <p:cNvSpPr/>
          <p:nvPr/>
        </p:nvSpPr>
        <p:spPr>
          <a:xfrm>
            <a:off x="7324344" y="2468880"/>
            <a:ext cx="2011680" cy="2148840"/>
          </a:xfrm>
          <a:prstGeom prst="roundRect">
            <a:avLst>
              <a:gd name="adj" fmla="val 2727"/>
            </a:avLst>
          </a:prstGeom>
          <a:solidFill>
            <a:srgbClr val="F2EEE7"/>
          </a:solidFill>
          <a:ln w="12700">
            <a:solidFill>
              <a:srgbClr val="DED7CB"/>
            </a:solidFill>
            <a:prstDash val="solid"/>
          </a:ln>
        </p:spPr>
      </p:sp>
      <p:sp>
        <p:nvSpPr>
          <p:cNvPr id="21" name="Text 19"/>
          <p:cNvSpPr/>
          <p:nvPr/>
        </p:nvSpPr>
        <p:spPr>
          <a:xfrm>
            <a:off x="7525512" y="2670048"/>
            <a:ext cx="1645920" cy="256032"/>
          </a:xfrm>
          <a:prstGeom prst="rect">
            <a:avLst/>
          </a:prstGeom>
          <a:noFill/>
          <a:ln/>
        </p:spPr>
        <p:txBody>
          <a:bodyPr wrap="square" lIns="0" tIns="0" rIns="0" bIns="0" rtlCol="0" anchor="ctr"/>
          <a:lstStyle/>
          <a:p>
            <a:pPr indent="0" marL="0">
              <a:buNone/>
            </a:pPr>
            <a:r>
              <a:rPr lang="en-US" sz="1050" b="1" spc="200" kern="0" dirty="0">
                <a:solidFill>
                  <a:srgbClr val="C99A38"/>
                </a:solidFill>
                <a:latin typeface="Calibri" pitchFamily="34" charset="0"/>
                <a:ea typeface="Calibri" pitchFamily="34" charset="-122"/>
                <a:cs typeface="Calibri" pitchFamily="34" charset="-120"/>
              </a:rPr>
              <a:t>BUSINESS</a:t>
            </a:r>
            <a:endParaRPr lang="en-US" sz="1050" dirty="0"/>
          </a:p>
        </p:txBody>
      </p:sp>
      <p:sp>
        <p:nvSpPr>
          <p:cNvPr id="22" name="Text 20"/>
          <p:cNvSpPr/>
          <p:nvPr/>
        </p:nvSpPr>
        <p:spPr>
          <a:xfrm>
            <a:off x="7525512" y="2971800"/>
            <a:ext cx="1691640" cy="640080"/>
          </a:xfrm>
          <a:prstGeom prst="rect">
            <a:avLst/>
          </a:prstGeom>
          <a:noFill/>
          <a:ln/>
        </p:spPr>
        <p:txBody>
          <a:bodyPr wrap="square" lIns="0" tIns="0" rIns="0" bIns="0" rtlCol="0" anchor="ctr"/>
          <a:lstStyle/>
          <a:p>
            <a:pPr indent="0" marL="0">
              <a:buNone/>
            </a:pPr>
            <a:r>
              <a:rPr lang="en-US" sz="3800" b="1" dirty="0">
                <a:solidFill>
                  <a:srgbClr val="181510"/>
                </a:solidFill>
                <a:latin typeface="Cambria" pitchFamily="34" charset="0"/>
                <a:ea typeface="Cambria" pitchFamily="34" charset="-122"/>
                <a:cs typeface="Cambria" pitchFamily="34" charset="-120"/>
              </a:rPr>
              <a:t>$499</a:t>
            </a:r>
            <a:endParaRPr lang="en-US" sz="3800" dirty="0"/>
          </a:p>
        </p:txBody>
      </p:sp>
      <p:sp>
        <p:nvSpPr>
          <p:cNvPr id="23" name="Text 21"/>
          <p:cNvSpPr/>
          <p:nvPr/>
        </p:nvSpPr>
        <p:spPr>
          <a:xfrm>
            <a:off x="7525512" y="3639312"/>
            <a:ext cx="1645920" cy="228600"/>
          </a:xfrm>
          <a:prstGeom prst="rect">
            <a:avLst/>
          </a:prstGeom>
          <a:noFill/>
          <a:ln/>
        </p:spPr>
        <p:txBody>
          <a:bodyPr wrap="square" lIns="0" tIns="0" rIns="0" bIns="0" rtlCol="0" anchor="ctr"/>
          <a:lstStyle/>
          <a:p>
            <a:pPr indent="0" marL="0">
              <a:buNone/>
            </a:pPr>
            <a:r>
              <a:rPr lang="en-US" sz="1000" dirty="0">
                <a:solidFill>
                  <a:srgbClr val="6B655C"/>
                </a:solidFill>
                <a:latin typeface="Calibri" pitchFamily="34" charset="0"/>
                <a:ea typeface="Calibri" pitchFamily="34" charset="-122"/>
                <a:cs typeface="Calibri" pitchFamily="34" charset="-120"/>
              </a:rPr>
              <a:t>per month</a:t>
            </a:r>
            <a:endParaRPr lang="en-US" sz="1000" dirty="0"/>
          </a:p>
        </p:txBody>
      </p:sp>
      <p:sp>
        <p:nvSpPr>
          <p:cNvPr id="24" name="Text 22"/>
          <p:cNvSpPr/>
          <p:nvPr/>
        </p:nvSpPr>
        <p:spPr>
          <a:xfrm>
            <a:off x="7525512" y="3977640"/>
            <a:ext cx="1645920" cy="457200"/>
          </a:xfrm>
          <a:prstGeom prst="rect">
            <a:avLst/>
          </a:prstGeom>
          <a:noFill/>
          <a:ln/>
        </p:spPr>
        <p:txBody>
          <a:bodyPr wrap="square" lIns="0" tIns="0" rIns="0" bIns="0" rtlCol="0" anchor="ctr"/>
          <a:lstStyle/>
          <a:p>
            <a:pPr indent="0" marL="0">
              <a:buNone/>
            </a:pPr>
            <a:r>
              <a:rPr lang="en-US" sz="1150" b="1" dirty="0">
                <a:solidFill>
                  <a:srgbClr val="181510"/>
                </a:solidFill>
                <a:latin typeface="Calibri" pitchFamily="34" charset="0"/>
                <a:ea typeface="Calibri" pitchFamily="34" charset="-122"/>
                <a:cs typeface="Calibri" pitchFamily="34" charset="-120"/>
              </a:rPr>
              <a:t>Up to 5,000 members</a:t>
            </a:r>
            <a:endParaRPr lang="en-US" sz="1150" dirty="0"/>
          </a:p>
        </p:txBody>
      </p:sp>
      <p:sp>
        <p:nvSpPr>
          <p:cNvPr id="25" name="Shape 23"/>
          <p:cNvSpPr/>
          <p:nvPr/>
        </p:nvSpPr>
        <p:spPr>
          <a:xfrm>
            <a:off x="9537192" y="2468880"/>
            <a:ext cx="2011680" cy="2148840"/>
          </a:xfrm>
          <a:prstGeom prst="roundRect">
            <a:avLst>
              <a:gd name="adj" fmla="val 2727"/>
            </a:avLst>
          </a:prstGeom>
          <a:solidFill>
            <a:srgbClr val="F2EEE7"/>
          </a:solidFill>
          <a:ln w="12700">
            <a:solidFill>
              <a:srgbClr val="DED7CB"/>
            </a:solidFill>
            <a:prstDash val="solid"/>
          </a:ln>
        </p:spPr>
      </p:sp>
      <p:sp>
        <p:nvSpPr>
          <p:cNvPr id="26" name="Text 24"/>
          <p:cNvSpPr/>
          <p:nvPr/>
        </p:nvSpPr>
        <p:spPr>
          <a:xfrm>
            <a:off x="9738360" y="2670048"/>
            <a:ext cx="1645920" cy="256032"/>
          </a:xfrm>
          <a:prstGeom prst="rect">
            <a:avLst/>
          </a:prstGeom>
          <a:noFill/>
          <a:ln/>
        </p:spPr>
        <p:txBody>
          <a:bodyPr wrap="square" lIns="0" tIns="0" rIns="0" bIns="0" rtlCol="0" anchor="ctr"/>
          <a:lstStyle/>
          <a:p>
            <a:pPr indent="0" marL="0">
              <a:buNone/>
            </a:pPr>
            <a:r>
              <a:rPr lang="en-US" sz="1050" b="1" spc="200" kern="0" dirty="0">
                <a:solidFill>
                  <a:srgbClr val="6B655C"/>
                </a:solidFill>
                <a:latin typeface="Calibri" pitchFamily="34" charset="0"/>
                <a:ea typeface="Calibri" pitchFamily="34" charset="-122"/>
                <a:cs typeface="Calibri" pitchFamily="34" charset="-120"/>
              </a:rPr>
              <a:t>GOVERNMENT</a:t>
            </a:r>
            <a:endParaRPr lang="en-US" sz="1050" dirty="0"/>
          </a:p>
        </p:txBody>
      </p:sp>
      <p:sp>
        <p:nvSpPr>
          <p:cNvPr id="27" name="Text 25"/>
          <p:cNvSpPr/>
          <p:nvPr/>
        </p:nvSpPr>
        <p:spPr>
          <a:xfrm>
            <a:off x="9738360" y="2971800"/>
            <a:ext cx="1691640" cy="640080"/>
          </a:xfrm>
          <a:prstGeom prst="rect">
            <a:avLst/>
          </a:prstGeom>
          <a:noFill/>
          <a:ln/>
        </p:spPr>
        <p:txBody>
          <a:bodyPr wrap="square" lIns="0" tIns="0" rIns="0" bIns="0" rtlCol="0" anchor="ctr"/>
          <a:lstStyle/>
          <a:p>
            <a:pPr indent="0" marL="0">
              <a:buNone/>
            </a:pPr>
            <a:r>
              <a:rPr lang="en-US" sz="2400" b="1" dirty="0">
                <a:solidFill>
                  <a:srgbClr val="181510"/>
                </a:solidFill>
                <a:latin typeface="Cambria" pitchFamily="34" charset="0"/>
                <a:ea typeface="Cambria" pitchFamily="34" charset="-122"/>
                <a:cs typeface="Cambria" pitchFamily="34" charset="-120"/>
              </a:rPr>
              <a:t>Contact</a:t>
            </a:r>
            <a:endParaRPr lang="en-US" sz="2400" dirty="0"/>
          </a:p>
        </p:txBody>
      </p:sp>
      <p:sp>
        <p:nvSpPr>
          <p:cNvPr id="28" name="Text 26"/>
          <p:cNvSpPr/>
          <p:nvPr/>
        </p:nvSpPr>
        <p:spPr>
          <a:xfrm>
            <a:off x="9738360" y="3639312"/>
            <a:ext cx="1645920" cy="228600"/>
          </a:xfrm>
          <a:prstGeom prst="rect">
            <a:avLst/>
          </a:prstGeom>
          <a:noFill/>
          <a:ln/>
        </p:spPr>
        <p:txBody>
          <a:bodyPr wrap="square" lIns="0" tIns="0" rIns="0" bIns="0" rtlCol="0" anchor="ctr"/>
          <a:lstStyle/>
          <a:p>
            <a:pPr indent="0" marL="0">
              <a:buNone/>
            </a:pPr>
            <a:r>
              <a:rPr lang="en-US" sz="1000" dirty="0">
                <a:solidFill>
                  <a:srgbClr val="6B655C"/>
                </a:solidFill>
                <a:latin typeface="Calibri" pitchFamily="34" charset="0"/>
                <a:ea typeface="Calibri" pitchFamily="34" charset="-122"/>
                <a:cs typeface="Calibri" pitchFamily="34" charset="-120"/>
              </a:rPr>
              <a:t>sales</a:t>
            </a:r>
            <a:endParaRPr lang="en-US" sz="1000" dirty="0"/>
          </a:p>
        </p:txBody>
      </p:sp>
      <p:sp>
        <p:nvSpPr>
          <p:cNvPr id="29" name="Text 27"/>
          <p:cNvSpPr/>
          <p:nvPr/>
        </p:nvSpPr>
        <p:spPr>
          <a:xfrm>
            <a:off x="9738360" y="3977640"/>
            <a:ext cx="1645920" cy="457200"/>
          </a:xfrm>
          <a:prstGeom prst="rect">
            <a:avLst/>
          </a:prstGeom>
          <a:noFill/>
          <a:ln/>
        </p:spPr>
        <p:txBody>
          <a:bodyPr wrap="square" lIns="0" tIns="0" rIns="0" bIns="0" rtlCol="0" anchor="ctr"/>
          <a:lstStyle/>
          <a:p>
            <a:pPr indent="0" marL="0">
              <a:buNone/>
            </a:pPr>
            <a:r>
              <a:rPr lang="en-US" sz="1150" b="1" dirty="0">
                <a:solidFill>
                  <a:srgbClr val="181510"/>
                </a:solidFill>
                <a:latin typeface="Calibri" pitchFamily="34" charset="0"/>
                <a:ea typeface="Calibri" pitchFamily="34" charset="-122"/>
                <a:cs typeface="Calibri" pitchFamily="34" charset="-120"/>
              </a:rPr>
              <a:t>Unlimited members</a:t>
            </a:r>
            <a:endParaRPr lang="en-US" sz="1150" dirty="0"/>
          </a:p>
        </p:txBody>
      </p:sp>
      <p:sp>
        <p:nvSpPr>
          <p:cNvPr id="30" name="Shape 28"/>
          <p:cNvSpPr/>
          <p:nvPr/>
        </p:nvSpPr>
        <p:spPr>
          <a:xfrm>
            <a:off x="685800" y="4846320"/>
            <a:ext cx="10817352" cy="960120"/>
          </a:xfrm>
          <a:prstGeom prst="roundRect">
            <a:avLst>
              <a:gd name="adj" fmla="val 5714"/>
            </a:avLst>
          </a:prstGeom>
          <a:solidFill>
            <a:srgbClr val="F2EEE7"/>
          </a:solidFill>
          <a:ln w="12700">
            <a:solidFill>
              <a:srgbClr val="DED7CB"/>
            </a:solidFill>
            <a:prstDash val="solid"/>
          </a:ln>
        </p:spPr>
      </p:sp>
      <p:sp>
        <p:nvSpPr>
          <p:cNvPr id="31" name="Text 29"/>
          <p:cNvSpPr/>
          <p:nvPr/>
        </p:nvSpPr>
        <p:spPr>
          <a:xfrm>
            <a:off x="960120" y="5047488"/>
            <a:ext cx="10241280" cy="5943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Verification unlock — </a:t>
            </a:r>
            <a:pPr indent="0" marL="0">
              <a:buNone/>
            </a:pPr>
            <a:r>
              <a:rPr lang="en-US" sz="1250" dirty="0">
                <a:solidFill>
                  <a:srgbClr val="6B655C"/>
                </a:solidFill>
                <a:latin typeface="Calibri" pitchFamily="34" charset="0"/>
                <a:ea typeface="Calibri" pitchFamily="34" charset="-122"/>
                <a:cs typeface="Calibri" pitchFamily="34" charset="-120"/>
              </a:rPr>
              <a:t>an org that requires verified members pays a one-time fee ($199 / $499 / $999 by tier) that covers its members' ID checks. </a:t>
            </a:r>
            <a:pPr indent="0" marL="0">
              <a:buNone/>
            </a:pPr>
            <a:r>
              <a:rPr lang="en-US" sz="1250" b="1" dirty="0">
                <a:solidFill>
                  <a:srgbClr val="C99A38"/>
                </a:solidFill>
                <a:latin typeface="Calibri" pitchFamily="34" charset="0"/>
                <a:ea typeface="Calibri" pitchFamily="34" charset="-122"/>
                <a:cs typeface="Calibri" pitchFamily="34" charset="-120"/>
              </a:rPr>
              <a:t>B2B revenue subsidises B2C verification.</a:t>
            </a:r>
            <a:endParaRPr lang="en-US" sz="1250" dirty="0"/>
          </a:p>
        </p:txBody>
      </p:sp>
      <p:sp>
        <p:nvSpPr>
          <p:cNvPr id="32" name="Text 30"/>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33" name="Text 31"/>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UNIT ECONOMICS</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The cost of a verified human.</a:t>
            </a:r>
            <a:endParaRPr lang="en-US" sz="3800" dirty="0"/>
          </a:p>
        </p:txBody>
      </p:sp>
      <p:sp>
        <p:nvSpPr>
          <p:cNvPr id="4" name="Shape 2"/>
          <p:cNvSpPr/>
          <p:nvPr/>
        </p:nvSpPr>
        <p:spPr>
          <a:xfrm>
            <a:off x="685800" y="1965960"/>
            <a:ext cx="3429000" cy="3108960"/>
          </a:xfrm>
          <a:prstGeom prst="roundRect">
            <a:avLst>
              <a:gd name="adj" fmla="val 1765"/>
            </a:avLst>
          </a:prstGeom>
          <a:solidFill>
            <a:srgbClr val="F2EEE7"/>
          </a:solidFill>
          <a:ln w="12700">
            <a:solidFill>
              <a:srgbClr val="DED7CB"/>
            </a:solidFill>
            <a:prstDash val="solid"/>
          </a:ln>
        </p:spPr>
      </p:sp>
      <p:sp>
        <p:nvSpPr>
          <p:cNvPr id="5" name="Text 3"/>
          <p:cNvSpPr/>
          <p:nvPr/>
        </p:nvSpPr>
        <p:spPr>
          <a:xfrm>
            <a:off x="960120" y="2240280"/>
            <a:ext cx="2926080" cy="868680"/>
          </a:xfrm>
          <a:prstGeom prst="rect">
            <a:avLst/>
          </a:prstGeom>
          <a:noFill/>
          <a:ln/>
        </p:spPr>
        <p:txBody>
          <a:bodyPr wrap="square" lIns="0" tIns="0" rIns="0" bIns="0" rtlCol="0" anchor="ctr"/>
          <a:lstStyle/>
          <a:p>
            <a:pPr indent="0" marL="0">
              <a:buNone/>
            </a:pPr>
            <a:r>
              <a:rPr lang="en-US" sz="4800" b="1" dirty="0">
                <a:solidFill>
                  <a:srgbClr val="C99A38"/>
                </a:solidFill>
                <a:latin typeface="Cambria" pitchFamily="34" charset="0"/>
                <a:ea typeface="Cambria" pitchFamily="34" charset="-122"/>
                <a:cs typeface="Cambria" pitchFamily="34" charset="-120"/>
              </a:rPr>
              <a:t>$0.35</a:t>
            </a:r>
            <a:endParaRPr lang="en-US" sz="4800" dirty="0"/>
          </a:p>
        </p:txBody>
      </p:sp>
      <p:sp>
        <p:nvSpPr>
          <p:cNvPr id="6" name="Text 4"/>
          <p:cNvSpPr/>
          <p:nvPr/>
        </p:nvSpPr>
        <p:spPr>
          <a:xfrm>
            <a:off x="960120" y="3127248"/>
            <a:ext cx="2926080" cy="274320"/>
          </a:xfrm>
          <a:prstGeom prst="rect">
            <a:avLst/>
          </a:prstGeom>
          <a:noFill/>
          <a:ln/>
        </p:spPr>
        <p:txBody>
          <a:bodyPr wrap="square" lIns="0" tIns="0" rIns="0" bIns="0" rtlCol="0" anchor="ctr"/>
          <a:lstStyle/>
          <a:p>
            <a:pPr indent="0" marL="0">
              <a:buNone/>
            </a:pPr>
            <a:r>
              <a:rPr lang="en-US" sz="1300" b="1" dirty="0">
                <a:solidFill>
                  <a:srgbClr val="181510"/>
                </a:solidFill>
                <a:latin typeface="Calibri" pitchFamily="34" charset="0"/>
                <a:ea typeface="Calibri" pitchFamily="34" charset="-122"/>
                <a:cs typeface="Calibri" pitchFamily="34" charset="-120"/>
              </a:rPr>
              <a:t>maximum KYC cost</a:t>
            </a:r>
            <a:endParaRPr lang="en-US" sz="1300" dirty="0"/>
          </a:p>
        </p:txBody>
      </p:sp>
      <p:sp>
        <p:nvSpPr>
          <p:cNvPr id="7" name="Text 5"/>
          <p:cNvSpPr/>
          <p:nvPr/>
        </p:nvSpPr>
        <p:spPr>
          <a:xfrm>
            <a:off x="960120" y="3383280"/>
            <a:ext cx="2926080" cy="146304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What a government-ID and liveness check costs us, per verified user. We treat it as acquisition cost and never charge the user.</a:t>
            </a:r>
            <a:endParaRPr lang="en-US" sz="1150" dirty="0"/>
          </a:p>
        </p:txBody>
      </p:sp>
      <p:sp>
        <p:nvSpPr>
          <p:cNvPr id="8" name="Shape 6"/>
          <p:cNvSpPr/>
          <p:nvPr/>
        </p:nvSpPr>
        <p:spPr>
          <a:xfrm>
            <a:off x="4370832" y="1965960"/>
            <a:ext cx="3429000" cy="3108960"/>
          </a:xfrm>
          <a:prstGeom prst="roundRect">
            <a:avLst>
              <a:gd name="adj" fmla="val 1765"/>
            </a:avLst>
          </a:prstGeom>
          <a:solidFill>
            <a:srgbClr val="F2EEE7"/>
          </a:solidFill>
          <a:ln w="12700">
            <a:solidFill>
              <a:srgbClr val="DED7CB"/>
            </a:solidFill>
            <a:prstDash val="solid"/>
          </a:ln>
        </p:spPr>
      </p:sp>
      <p:sp>
        <p:nvSpPr>
          <p:cNvPr id="9" name="Text 7"/>
          <p:cNvSpPr/>
          <p:nvPr/>
        </p:nvSpPr>
        <p:spPr>
          <a:xfrm>
            <a:off x="4645152" y="2240280"/>
            <a:ext cx="2926080" cy="868680"/>
          </a:xfrm>
          <a:prstGeom prst="rect">
            <a:avLst/>
          </a:prstGeom>
          <a:noFill/>
          <a:ln/>
        </p:spPr>
        <p:txBody>
          <a:bodyPr wrap="square" lIns="0" tIns="0" rIns="0" bIns="0" rtlCol="0" anchor="ctr"/>
          <a:lstStyle/>
          <a:p>
            <a:pPr indent="0" marL="0">
              <a:buNone/>
            </a:pPr>
            <a:r>
              <a:rPr lang="en-US" sz="4800" b="1" dirty="0">
                <a:solidFill>
                  <a:srgbClr val="C99A38"/>
                </a:solidFill>
                <a:latin typeface="Cambria" pitchFamily="34" charset="0"/>
                <a:ea typeface="Cambria" pitchFamily="34" charset="-122"/>
                <a:cs typeface="Cambria" pitchFamily="34" charset="-120"/>
              </a:rPr>
              <a:t>~$14</a:t>
            </a:r>
            <a:endParaRPr lang="en-US" sz="4800" dirty="0"/>
          </a:p>
        </p:txBody>
      </p:sp>
      <p:sp>
        <p:nvSpPr>
          <p:cNvPr id="10" name="Text 8"/>
          <p:cNvSpPr/>
          <p:nvPr/>
        </p:nvSpPr>
        <p:spPr>
          <a:xfrm>
            <a:off x="4645152" y="3127248"/>
            <a:ext cx="2926080" cy="274320"/>
          </a:xfrm>
          <a:prstGeom prst="rect">
            <a:avLst/>
          </a:prstGeom>
          <a:noFill/>
          <a:ln/>
        </p:spPr>
        <p:txBody>
          <a:bodyPr wrap="square" lIns="0" tIns="0" rIns="0" bIns="0" rtlCol="0" anchor="ctr"/>
          <a:lstStyle/>
          <a:p>
            <a:pPr indent="0" marL="0">
              <a:buNone/>
            </a:pPr>
            <a:r>
              <a:rPr lang="en-US" sz="1300" b="1" dirty="0">
                <a:solidFill>
                  <a:srgbClr val="181510"/>
                </a:solidFill>
                <a:latin typeface="Calibri" pitchFamily="34" charset="0"/>
                <a:ea typeface="Calibri" pitchFamily="34" charset="-122"/>
                <a:cs typeface="Calibri" pitchFamily="34" charset="-120"/>
              </a:rPr>
              <a:t>target blended CAC</a:t>
            </a:r>
            <a:endParaRPr lang="en-US" sz="1300" dirty="0"/>
          </a:p>
        </p:txBody>
      </p:sp>
      <p:sp>
        <p:nvSpPr>
          <p:cNvPr id="11" name="Text 9"/>
          <p:cNvSpPr/>
          <p:nvPr/>
        </p:nvSpPr>
        <p:spPr>
          <a:xfrm>
            <a:off x="4645152" y="3383280"/>
            <a:ext cx="2926080" cy="146304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Paid social runs $20–25 per verified user; organic, referral and the share loop pull the blend down. Reported weekly by channel.</a:t>
            </a:r>
            <a:endParaRPr lang="en-US" sz="1150" dirty="0"/>
          </a:p>
        </p:txBody>
      </p:sp>
      <p:sp>
        <p:nvSpPr>
          <p:cNvPr id="12" name="Shape 10"/>
          <p:cNvSpPr/>
          <p:nvPr/>
        </p:nvSpPr>
        <p:spPr>
          <a:xfrm>
            <a:off x="8055864" y="1965960"/>
            <a:ext cx="3429000" cy="3108960"/>
          </a:xfrm>
          <a:prstGeom prst="roundRect">
            <a:avLst>
              <a:gd name="adj" fmla="val 1765"/>
            </a:avLst>
          </a:prstGeom>
          <a:solidFill>
            <a:srgbClr val="F2EEE7"/>
          </a:solidFill>
          <a:ln w="12700">
            <a:solidFill>
              <a:srgbClr val="DED7CB"/>
            </a:solidFill>
            <a:prstDash val="solid"/>
          </a:ln>
        </p:spPr>
      </p:sp>
      <p:sp>
        <p:nvSpPr>
          <p:cNvPr id="13" name="Text 11"/>
          <p:cNvSpPr/>
          <p:nvPr/>
        </p:nvSpPr>
        <p:spPr>
          <a:xfrm>
            <a:off x="8330184" y="2240280"/>
            <a:ext cx="2926080" cy="868680"/>
          </a:xfrm>
          <a:prstGeom prst="rect">
            <a:avLst/>
          </a:prstGeom>
          <a:noFill/>
          <a:ln/>
        </p:spPr>
        <p:txBody>
          <a:bodyPr wrap="square" lIns="0" tIns="0" rIns="0" bIns="0" rtlCol="0" anchor="ctr"/>
          <a:lstStyle/>
          <a:p>
            <a:pPr indent="0" marL="0">
              <a:buNone/>
            </a:pPr>
            <a:r>
              <a:rPr lang="en-US" sz="4800" b="1" dirty="0">
                <a:solidFill>
                  <a:srgbClr val="C99A38"/>
                </a:solidFill>
                <a:latin typeface="Cambria" pitchFamily="34" charset="0"/>
                <a:ea typeface="Cambria" pitchFamily="34" charset="-122"/>
                <a:cs typeface="Cambria" pitchFamily="34" charset="-120"/>
              </a:rPr>
              <a:t>$125</a:t>
            </a:r>
            <a:endParaRPr lang="en-US" sz="4800" dirty="0"/>
          </a:p>
        </p:txBody>
      </p:sp>
      <p:sp>
        <p:nvSpPr>
          <p:cNvPr id="14" name="Text 12"/>
          <p:cNvSpPr/>
          <p:nvPr/>
        </p:nvSpPr>
        <p:spPr>
          <a:xfrm>
            <a:off x="8330184" y="3127248"/>
            <a:ext cx="2926080" cy="274320"/>
          </a:xfrm>
          <a:prstGeom prst="rect">
            <a:avLst/>
          </a:prstGeom>
          <a:noFill/>
          <a:ln/>
        </p:spPr>
        <p:txBody>
          <a:bodyPr wrap="square" lIns="0" tIns="0" rIns="0" bIns="0" rtlCol="0" anchor="ctr"/>
          <a:lstStyle/>
          <a:p>
            <a:pPr indent="0" marL="0">
              <a:buNone/>
            </a:pPr>
            <a:r>
              <a:rPr lang="en-US" sz="1300" b="1" dirty="0">
                <a:solidFill>
                  <a:srgbClr val="181510"/>
                </a:solidFill>
                <a:latin typeface="Calibri" pitchFamily="34" charset="0"/>
                <a:ea typeface="Calibri" pitchFamily="34" charset="-122"/>
                <a:cs typeface="Calibri" pitchFamily="34" charset="-120"/>
              </a:rPr>
              <a:t>monthly run rate</a:t>
            </a:r>
            <a:endParaRPr lang="en-US" sz="1300" dirty="0"/>
          </a:p>
        </p:txBody>
      </p:sp>
      <p:sp>
        <p:nvSpPr>
          <p:cNvPr id="15" name="Text 13"/>
          <p:cNvSpPr/>
          <p:nvPr/>
        </p:nvSpPr>
        <p:spPr>
          <a:xfrm>
            <a:off x="8330184" y="3383280"/>
            <a:ext cx="2926080" cy="146304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Everything currently costs $125/month to operate. There is no burn to unwind and no legacy cost structure.</a:t>
            </a:r>
            <a:endParaRPr lang="en-US" sz="1150" dirty="0"/>
          </a:p>
        </p:txBody>
      </p:sp>
      <p:sp>
        <p:nvSpPr>
          <p:cNvPr id="16" name="Text 14"/>
          <p:cNvSpPr/>
          <p:nvPr/>
        </p:nvSpPr>
        <p:spPr>
          <a:xfrm>
            <a:off x="685800" y="5349240"/>
            <a:ext cx="10607040" cy="548640"/>
          </a:xfrm>
          <a:prstGeom prst="rect">
            <a:avLst/>
          </a:prstGeom>
          <a:noFill/>
          <a:ln/>
        </p:spPr>
        <p:txBody>
          <a:bodyPr wrap="square" lIns="0" tIns="0" rIns="0" bIns="0" rtlCol="0" anchor="ctr"/>
          <a:lstStyle/>
          <a:p>
            <a:pPr indent="0" marL="0">
              <a:buNone/>
            </a:pPr>
            <a:r>
              <a:rPr lang="en-US" sz="1400" i="1" dirty="0">
                <a:solidFill>
                  <a:srgbClr val="181510"/>
                </a:solidFill>
                <a:latin typeface="Cambria" pitchFamily="34" charset="0"/>
                <a:ea typeface="Cambria" pitchFamily="34" charset="-122"/>
                <a:cs typeface="Cambria" pitchFamily="34" charset="-120"/>
              </a:rPr>
              <a:t>A verified, geo-located, civically engaged user for under $15 is the cheapest acquisition in the funnel — and it is a user no competitor can claim to have.</a:t>
            </a:r>
            <a:endParaRPr lang="en-US" sz="1400" dirty="0"/>
          </a:p>
        </p:txBody>
      </p:sp>
      <p:sp>
        <p:nvSpPr>
          <p:cNvPr id="17" name="Text 15"/>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18" name="Text 16"/>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07"/>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EABA58"/>
                </a:solidFill>
                <a:latin typeface="Calibri" pitchFamily="34" charset="0"/>
                <a:ea typeface="Calibri" pitchFamily="34" charset="-122"/>
                <a:cs typeface="Calibri" pitchFamily="34" charset="-120"/>
              </a:rPr>
              <a:t>TRACTION</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F4F5F6"/>
                </a:solidFill>
                <a:latin typeface="Cambria" pitchFamily="34" charset="0"/>
                <a:ea typeface="Cambria" pitchFamily="34" charset="-122"/>
                <a:cs typeface="Cambria" pitchFamily="34" charset="-120"/>
              </a:rPr>
              <a:t>Where we are today.</a:t>
            </a:r>
            <a:endParaRPr lang="en-US" sz="3800" dirty="0"/>
          </a:p>
        </p:txBody>
      </p:sp>
      <p:sp>
        <p:nvSpPr>
          <p:cNvPr id="4" name="Text 2"/>
          <p:cNvSpPr/>
          <p:nvPr/>
        </p:nvSpPr>
        <p:spPr>
          <a:xfrm>
            <a:off x="685800" y="1828800"/>
            <a:ext cx="5029200" cy="274320"/>
          </a:xfrm>
          <a:prstGeom prst="rect">
            <a:avLst/>
          </a:prstGeom>
          <a:noFill/>
          <a:ln/>
        </p:spPr>
        <p:txBody>
          <a:bodyPr wrap="square" lIns="0" tIns="0" rIns="0" bIns="0" rtlCol="0" anchor="ctr"/>
          <a:lstStyle/>
          <a:p>
            <a:pPr indent="0" marL="0">
              <a:buNone/>
            </a:pPr>
            <a:r>
              <a:rPr lang="en-US" sz="1200" b="1" spc="200" kern="0" dirty="0">
                <a:solidFill>
                  <a:srgbClr val="EABA58"/>
                </a:solidFill>
                <a:latin typeface="Calibri" pitchFamily="34" charset="0"/>
                <a:ea typeface="Calibri" pitchFamily="34" charset="-122"/>
                <a:cs typeface="Calibri" pitchFamily="34" charset="-120"/>
              </a:rPr>
              <a:t>Built and shipped</a:t>
            </a:r>
            <a:endParaRPr lang="en-US" sz="1200" dirty="0"/>
          </a:p>
        </p:txBody>
      </p:sp>
      <p:sp>
        <p:nvSpPr>
          <p:cNvPr id="5" name="Text 3"/>
          <p:cNvSpPr/>
          <p:nvPr/>
        </p:nvSpPr>
        <p:spPr>
          <a:xfrm>
            <a:off x="685800" y="2212848"/>
            <a:ext cx="5120640" cy="21031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8BABB"/>
                </a:solidFill>
                <a:latin typeface="Calibri" pitchFamily="34" charset="0"/>
                <a:ea typeface="Calibri" pitchFamily="34" charset="-122"/>
                <a:cs typeface="Calibri" pitchFamily="34" charset="-120"/>
              </a:rPr>
              <a:t>iOS app live on the App Store (v2.1 live, v2.2 in review)</a:t>
            </a:r>
            <a:endParaRPr lang="en-US" sz="1300" dirty="0"/>
          </a:p>
          <a:p>
            <a:pPr marL="342900" indent="-342900">
              <a:spcAft>
                <a:spcPts val="800"/>
              </a:spcAft>
              <a:buSzPct val="100000"/>
              <a:buChar char="•"/>
            </a:pPr>
            <a:r>
              <a:rPr lang="en-US" sz="1300" dirty="0">
                <a:solidFill>
                  <a:srgbClr val="B8BABB"/>
                </a:solidFill>
                <a:latin typeface="Calibri" pitchFamily="34" charset="0"/>
                <a:ea typeface="Calibri" pitchFamily="34" charset="-122"/>
                <a:cs typeface="Calibri" pitchFamily="34" charset="-120"/>
              </a:rPr>
              <a:t>Identity verification operational end to end</a:t>
            </a:r>
            <a:endParaRPr lang="en-US" sz="1300" dirty="0"/>
          </a:p>
          <a:p>
            <a:pPr marL="342900" indent="-342900">
              <a:spcAft>
                <a:spcPts val="800"/>
              </a:spcAft>
              <a:buSzPct val="100000"/>
              <a:buChar char="•"/>
            </a:pPr>
            <a:r>
              <a:rPr lang="en-US" sz="1300" dirty="0">
                <a:solidFill>
                  <a:srgbClr val="B8BABB"/>
                </a:solidFill>
                <a:latin typeface="Calibri" pitchFamily="34" charset="0"/>
                <a:ea typeface="Calibri" pitchFamily="34" charset="-122"/>
                <a:cs typeface="Calibri" pitchFamily="34" charset="-120"/>
              </a:rPr>
              <a:t>100+ ballots cast and written to the public ledger</a:t>
            </a:r>
            <a:endParaRPr lang="en-US" sz="1300" dirty="0"/>
          </a:p>
          <a:p>
            <a:pPr marL="342900" indent="-342900">
              <a:spcAft>
                <a:spcPts val="800"/>
              </a:spcAft>
              <a:buSzPct val="100000"/>
              <a:buChar char="•"/>
            </a:pPr>
            <a:r>
              <a:rPr lang="en-US" sz="1300" dirty="0">
                <a:solidFill>
                  <a:srgbClr val="B8BABB"/>
                </a:solidFill>
                <a:latin typeface="Calibri" pitchFamily="34" charset="0"/>
                <a:ea typeface="Calibri" pitchFamily="34" charset="-122"/>
                <a:cs typeface="Calibri" pitchFamily="34" charset="-120"/>
              </a:rPr>
              <a:t>Organization tools in use — invites, rosters, private ballots</a:t>
            </a:r>
            <a:endParaRPr lang="en-US" sz="1300" dirty="0"/>
          </a:p>
          <a:p>
            <a:pPr marL="342900" indent="-342900">
              <a:spcAft>
                <a:spcPts val="800"/>
              </a:spcAft>
              <a:buSzPct val="100000"/>
              <a:buChar char="•"/>
            </a:pPr>
            <a:r>
              <a:rPr lang="en-US" sz="1300" dirty="0">
                <a:solidFill>
                  <a:srgbClr val="B8BABB"/>
                </a:solidFill>
                <a:latin typeface="Calibri" pitchFamily="34" charset="0"/>
                <a:ea typeface="Calibri" pitchFamily="34" charset="-122"/>
                <a:cs typeface="Calibri" pitchFamily="34" charset="-120"/>
              </a:rPr>
              <a:t>Operating at $125/month, no outside capital to date</a:t>
            </a:r>
            <a:endParaRPr lang="en-US" sz="1300" dirty="0"/>
          </a:p>
        </p:txBody>
      </p:sp>
      <p:sp>
        <p:nvSpPr>
          <p:cNvPr id="6" name="Shape 4"/>
          <p:cNvSpPr/>
          <p:nvPr/>
        </p:nvSpPr>
        <p:spPr>
          <a:xfrm>
            <a:off x="6172200" y="1783080"/>
            <a:ext cx="5303520" cy="2606040"/>
          </a:xfrm>
          <a:prstGeom prst="roundRect">
            <a:avLst>
              <a:gd name="adj" fmla="val 2105"/>
            </a:avLst>
          </a:prstGeom>
          <a:solidFill>
            <a:srgbClr val="141818"/>
          </a:solidFill>
          <a:ln w="12700">
            <a:solidFill>
              <a:srgbClr val="23292A"/>
            </a:solidFill>
            <a:prstDash val="solid"/>
          </a:ln>
        </p:spPr>
      </p:sp>
      <p:sp>
        <p:nvSpPr>
          <p:cNvPr id="7" name="Text 5"/>
          <p:cNvSpPr/>
          <p:nvPr/>
        </p:nvSpPr>
        <p:spPr>
          <a:xfrm>
            <a:off x="6446520" y="2011680"/>
            <a:ext cx="4572000" cy="274320"/>
          </a:xfrm>
          <a:prstGeom prst="rect">
            <a:avLst/>
          </a:prstGeom>
          <a:noFill/>
          <a:ln/>
        </p:spPr>
        <p:txBody>
          <a:bodyPr wrap="square" lIns="0" tIns="0" rIns="0" bIns="0" rtlCol="0" anchor="ctr"/>
          <a:lstStyle/>
          <a:p>
            <a:pPr indent="0" marL="0">
              <a:buNone/>
            </a:pPr>
            <a:r>
              <a:rPr lang="en-US" sz="1200" b="1" spc="200" kern="0" dirty="0">
                <a:solidFill>
                  <a:srgbClr val="EABA58"/>
                </a:solidFill>
                <a:latin typeface="Calibri" pitchFamily="34" charset="0"/>
                <a:ea typeface="Calibri" pitchFamily="34" charset="-122"/>
                <a:cs typeface="Calibri" pitchFamily="34" charset="-120"/>
              </a:rPr>
              <a:t>Not yet done</a:t>
            </a:r>
            <a:endParaRPr lang="en-US" sz="1200" dirty="0"/>
          </a:p>
        </p:txBody>
      </p:sp>
      <p:sp>
        <p:nvSpPr>
          <p:cNvPr id="8" name="Text 6"/>
          <p:cNvSpPr/>
          <p:nvPr/>
        </p:nvSpPr>
        <p:spPr>
          <a:xfrm>
            <a:off x="6446520" y="2377440"/>
            <a:ext cx="4754880" cy="411480"/>
          </a:xfrm>
          <a:prstGeom prst="rect">
            <a:avLst/>
          </a:prstGeom>
          <a:noFill/>
          <a:ln/>
        </p:spPr>
        <p:txBody>
          <a:bodyPr wrap="square" lIns="0" tIns="0" rIns="0" bIns="0" rtlCol="0" anchor="ctr"/>
          <a:lstStyle/>
          <a:p>
            <a:pPr indent="0" marL="0">
              <a:buNone/>
            </a:pPr>
            <a:r>
              <a:rPr lang="en-US" sz="2200" b="1" dirty="0">
                <a:solidFill>
                  <a:srgbClr val="F4F5F6"/>
                </a:solidFill>
                <a:latin typeface="Cambria" pitchFamily="34" charset="0"/>
                <a:ea typeface="Cambria" pitchFamily="34" charset="-122"/>
                <a:cs typeface="Cambria" pitchFamily="34" charset="-120"/>
              </a:rPr>
              <a:t>User acquisition has not started.</a:t>
            </a:r>
            <a:endParaRPr lang="en-US" sz="2200" dirty="0"/>
          </a:p>
        </p:txBody>
      </p:sp>
      <p:sp>
        <p:nvSpPr>
          <p:cNvPr id="9" name="Text 7"/>
          <p:cNvSpPr/>
          <p:nvPr/>
        </p:nvSpPr>
        <p:spPr>
          <a:xfrm>
            <a:off x="6446520" y="2880360"/>
            <a:ext cx="4754880" cy="1005840"/>
          </a:xfrm>
          <a:prstGeom prst="rect">
            <a:avLst/>
          </a:prstGeom>
          <a:noFill/>
          <a:ln/>
        </p:spPr>
        <p:txBody>
          <a:bodyPr wrap="square" lIns="0" tIns="0" rIns="0" bIns="0" rtlCol="0" anchor="ctr"/>
          <a:lstStyle/>
          <a:p>
            <a:pPr indent="0" marL="0">
              <a:buNone/>
            </a:pPr>
            <a:r>
              <a:rPr lang="en-US" sz="1200" dirty="0">
                <a:solidFill>
                  <a:srgbClr val="B8BABB"/>
                </a:solidFill>
                <a:latin typeface="Calibri" pitchFamily="34" charset="0"/>
                <a:ea typeface="Calibri" pitchFamily="34" charset="-122"/>
                <a:cs typeface="Calibri" pitchFamily="34" charset="-120"/>
              </a:rPr>
              <a:t>No advertising has run. No campaign has launched. The user base today is the founders, friends and early testers — and we are not going to dress that up as traction.</a:t>
            </a:r>
            <a:endParaRPr lang="en-US" sz="1200" dirty="0"/>
          </a:p>
        </p:txBody>
      </p:sp>
      <p:sp>
        <p:nvSpPr>
          <p:cNvPr id="10" name="Text 8"/>
          <p:cNvSpPr/>
          <p:nvPr/>
        </p:nvSpPr>
        <p:spPr>
          <a:xfrm>
            <a:off x="6446520" y="3913632"/>
            <a:ext cx="4754880" cy="320040"/>
          </a:xfrm>
          <a:prstGeom prst="rect">
            <a:avLst/>
          </a:prstGeom>
          <a:noFill/>
          <a:ln/>
        </p:spPr>
        <p:txBody>
          <a:bodyPr wrap="square" lIns="0" tIns="0" rIns="0" bIns="0" rtlCol="0" anchor="ctr"/>
          <a:lstStyle/>
          <a:p>
            <a:pPr indent="0" marL="0">
              <a:buNone/>
            </a:pPr>
            <a:r>
              <a:rPr lang="en-US" sz="1350" i="1" dirty="0">
                <a:solidFill>
                  <a:srgbClr val="EABA58"/>
                </a:solidFill>
                <a:latin typeface="Cambria" pitchFamily="34" charset="0"/>
                <a:ea typeface="Cambria" pitchFamily="34" charset="-122"/>
                <a:cs typeface="Cambria" pitchFamily="34" charset="-120"/>
              </a:rPr>
              <a:t>That is precisely what this raise is for.</a:t>
            </a:r>
            <a:endParaRPr lang="en-US" sz="1350" dirty="0"/>
          </a:p>
        </p:txBody>
      </p:sp>
      <p:sp>
        <p:nvSpPr>
          <p:cNvPr id="11" name="Shape 9"/>
          <p:cNvSpPr/>
          <p:nvPr/>
        </p:nvSpPr>
        <p:spPr>
          <a:xfrm>
            <a:off x="685800" y="4617720"/>
            <a:ext cx="10817352" cy="1234440"/>
          </a:xfrm>
          <a:prstGeom prst="roundRect">
            <a:avLst>
              <a:gd name="adj" fmla="val 4444"/>
            </a:avLst>
          </a:prstGeom>
          <a:solidFill>
            <a:srgbClr val="141818"/>
          </a:solidFill>
          <a:ln w="12700">
            <a:solidFill>
              <a:srgbClr val="23292A"/>
            </a:solidFill>
            <a:prstDash val="solid"/>
          </a:ln>
        </p:spPr>
      </p:sp>
      <p:sp>
        <p:nvSpPr>
          <p:cNvPr id="12" name="Text 10"/>
          <p:cNvSpPr/>
          <p:nvPr/>
        </p:nvSpPr>
        <p:spPr>
          <a:xfrm>
            <a:off x="960120" y="4892040"/>
            <a:ext cx="10241280" cy="777240"/>
          </a:xfrm>
          <a:prstGeom prst="rect">
            <a:avLst/>
          </a:prstGeom>
          <a:noFill/>
          <a:ln/>
        </p:spPr>
        <p:txBody>
          <a:bodyPr wrap="square" lIns="0" tIns="0" rIns="0" bIns="0" rtlCol="0" anchor="ctr"/>
          <a:lstStyle/>
          <a:p>
            <a:pPr indent="0" marL="0">
              <a:buNone/>
            </a:pPr>
            <a:r>
              <a:rPr lang="en-US" sz="1300" b="1" dirty="0">
                <a:solidFill>
                  <a:srgbClr val="F4F5F6"/>
                </a:solidFill>
                <a:latin typeface="Calibri" pitchFamily="34" charset="0"/>
                <a:ea typeface="Calibri" pitchFamily="34" charset="-122"/>
                <a:cs typeface="Calibri" pitchFamily="34" charset="-120"/>
              </a:rPr>
              <a:t>The structure protects you: </a:t>
            </a:r>
            <a:pPr indent="0" marL="0">
              <a:buNone/>
            </a:pPr>
            <a:r>
              <a:rPr lang="en-US" sz="1300" dirty="0">
                <a:solidFill>
                  <a:srgbClr val="B8BABB"/>
                </a:solidFill>
                <a:latin typeface="Calibri" pitchFamily="34" charset="0"/>
                <a:ea typeface="Calibri" pitchFamily="34" charset="-122"/>
                <a:cs typeface="Calibri" pitchFamily="34" charset="-120"/>
              </a:rPr>
              <a:t>only $50,000 is released before 200 real verified users are proven. Every stage after that is gated on the previous stage's targets being met and independently verified.</a:t>
            </a:r>
            <a:endParaRPr lang="en-US" sz="1300" dirty="0"/>
          </a:p>
        </p:txBody>
      </p:sp>
      <p:sp>
        <p:nvSpPr>
          <p:cNvPr id="13" name="Text 11"/>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7A7D7E"/>
                </a:solidFill>
                <a:latin typeface="Calibri" pitchFamily="34" charset="0"/>
                <a:ea typeface="Calibri" pitchFamily="34" charset="-122"/>
                <a:cs typeface="Calibri" pitchFamily="34" charset="-120"/>
              </a:rPr>
              <a:t>REPRESENT</a:t>
            </a:r>
            <a:endParaRPr lang="en-US" sz="850" dirty="0"/>
          </a:p>
        </p:txBody>
      </p:sp>
      <p:sp>
        <p:nvSpPr>
          <p:cNvPr id="14" name="Text 12"/>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7A7D7E"/>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Six stages. Every one gated on verified users.</a:t>
            </a:r>
            <a:endParaRPr lang="en-US" sz="3800" dirty="0"/>
          </a:p>
        </p:txBody>
      </p:sp>
      <p:sp>
        <p:nvSpPr>
          <p:cNvPr id="4" name="Text 2"/>
          <p:cNvSpPr/>
          <p:nvPr/>
        </p:nvSpPr>
        <p:spPr>
          <a:xfrm>
            <a:off x="8001000" y="1783080"/>
            <a:ext cx="1737360" cy="256032"/>
          </a:xfrm>
          <a:prstGeom prst="rect">
            <a:avLst/>
          </a:prstGeom>
          <a:noFill/>
          <a:ln/>
        </p:spPr>
        <p:txBody>
          <a:bodyPr wrap="square" lIns="0" tIns="0" rIns="0" bIns="0" rtlCol="0" anchor="ctr"/>
          <a:lstStyle/>
          <a:p>
            <a:pPr indent="0" marL="0">
              <a:buNone/>
            </a:pPr>
            <a:r>
              <a:rPr lang="en-US" sz="1000" b="1" spc="180" kern="0" dirty="0">
                <a:solidFill>
                  <a:srgbClr val="6B655C"/>
                </a:solidFill>
                <a:latin typeface="Calibri" pitchFamily="34" charset="0"/>
                <a:ea typeface="Calibri" pitchFamily="34" charset="-122"/>
                <a:cs typeface="Calibri" pitchFamily="34" charset="-120"/>
              </a:rPr>
              <a:t>RELEASED</a:t>
            </a:r>
            <a:endParaRPr lang="en-US" sz="1000" dirty="0"/>
          </a:p>
        </p:txBody>
      </p:sp>
      <p:sp>
        <p:nvSpPr>
          <p:cNvPr id="5" name="Text 3"/>
          <p:cNvSpPr/>
          <p:nvPr/>
        </p:nvSpPr>
        <p:spPr>
          <a:xfrm>
            <a:off x="9829800" y="1783080"/>
            <a:ext cx="1737360" cy="256032"/>
          </a:xfrm>
          <a:prstGeom prst="rect">
            <a:avLst/>
          </a:prstGeom>
          <a:noFill/>
          <a:ln/>
        </p:spPr>
        <p:txBody>
          <a:bodyPr wrap="square" lIns="0" tIns="0" rIns="0" bIns="0" rtlCol="0" anchor="ctr"/>
          <a:lstStyle/>
          <a:p>
            <a:pPr indent="0" marL="0">
              <a:buNone/>
            </a:pPr>
            <a:r>
              <a:rPr lang="en-US" sz="1000" b="1" spc="180" kern="0" dirty="0">
                <a:solidFill>
                  <a:srgbClr val="6B655C"/>
                </a:solidFill>
                <a:latin typeface="Calibri" pitchFamily="34" charset="0"/>
                <a:ea typeface="Calibri" pitchFamily="34" charset="-122"/>
                <a:cs typeface="Calibri" pitchFamily="34" charset="-120"/>
              </a:rPr>
              <a:t>VERIFIED USERS</a:t>
            </a:r>
            <a:endParaRPr lang="en-US" sz="1000" dirty="0"/>
          </a:p>
        </p:txBody>
      </p:sp>
      <p:sp>
        <p:nvSpPr>
          <p:cNvPr id="6" name="Shape 4"/>
          <p:cNvSpPr/>
          <p:nvPr/>
        </p:nvSpPr>
        <p:spPr>
          <a:xfrm>
            <a:off x="548640" y="2048256"/>
            <a:ext cx="10927080" cy="530352"/>
          </a:xfrm>
          <a:prstGeom prst="rect">
            <a:avLst/>
          </a:prstGeom>
          <a:solidFill>
            <a:srgbClr val="F2EEE7"/>
          </a:solidFill>
          <a:ln/>
        </p:spPr>
      </p:sp>
      <p:sp>
        <p:nvSpPr>
          <p:cNvPr id="7" name="Text 5"/>
          <p:cNvSpPr/>
          <p:nvPr/>
        </p:nvSpPr>
        <p:spPr>
          <a:xfrm>
            <a:off x="685800" y="2121408"/>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At signing</a:t>
            </a:r>
            <a:endParaRPr lang="en-US" sz="1250" dirty="0"/>
          </a:p>
        </p:txBody>
      </p:sp>
      <p:sp>
        <p:nvSpPr>
          <p:cNvPr id="8" name="Text 6"/>
          <p:cNvSpPr/>
          <p:nvPr/>
        </p:nvSpPr>
        <p:spPr>
          <a:xfrm>
            <a:off x="2423160" y="2121408"/>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Activate — incorporation, compliance, first campaigns</a:t>
            </a:r>
            <a:endParaRPr lang="en-US" sz="1250" dirty="0"/>
          </a:p>
        </p:txBody>
      </p:sp>
      <p:sp>
        <p:nvSpPr>
          <p:cNvPr id="9" name="Text 7"/>
          <p:cNvSpPr/>
          <p:nvPr/>
        </p:nvSpPr>
        <p:spPr>
          <a:xfrm>
            <a:off x="8001000" y="2121408"/>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$50,000</a:t>
            </a:r>
            <a:endParaRPr lang="en-US" sz="1250" dirty="0"/>
          </a:p>
        </p:txBody>
      </p:sp>
      <p:sp>
        <p:nvSpPr>
          <p:cNvPr id="10" name="Text 8"/>
          <p:cNvSpPr/>
          <p:nvPr/>
        </p:nvSpPr>
        <p:spPr>
          <a:xfrm>
            <a:off x="9829800" y="2121408"/>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200</a:t>
            </a:r>
            <a:endParaRPr lang="en-US" sz="1500" dirty="0"/>
          </a:p>
        </p:txBody>
      </p:sp>
      <p:sp>
        <p:nvSpPr>
          <p:cNvPr id="11" name="Text 9"/>
          <p:cNvSpPr/>
          <p:nvPr/>
        </p:nvSpPr>
        <p:spPr>
          <a:xfrm>
            <a:off x="685800" y="2697480"/>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Stage 1</a:t>
            </a:r>
            <a:endParaRPr lang="en-US" sz="1250" dirty="0"/>
          </a:p>
        </p:txBody>
      </p:sp>
      <p:sp>
        <p:nvSpPr>
          <p:cNvPr id="12" name="Text 10"/>
          <p:cNvSpPr/>
          <p:nvPr/>
        </p:nvSpPr>
        <p:spPr>
          <a:xfrm>
            <a:off x="2423160" y="2697480"/>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Prove — scale the channels that worked</a:t>
            </a:r>
            <a:endParaRPr lang="en-US" sz="1250" dirty="0"/>
          </a:p>
        </p:txBody>
      </p:sp>
      <p:sp>
        <p:nvSpPr>
          <p:cNvPr id="13" name="Text 11"/>
          <p:cNvSpPr/>
          <p:nvPr/>
        </p:nvSpPr>
        <p:spPr>
          <a:xfrm>
            <a:off x="8001000" y="2697480"/>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$50,000</a:t>
            </a:r>
            <a:endParaRPr lang="en-US" sz="1250" dirty="0"/>
          </a:p>
        </p:txBody>
      </p:sp>
      <p:sp>
        <p:nvSpPr>
          <p:cNvPr id="14" name="Text 12"/>
          <p:cNvSpPr/>
          <p:nvPr/>
        </p:nvSpPr>
        <p:spPr>
          <a:xfrm>
            <a:off x="9829800" y="2697480"/>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1,000</a:t>
            </a:r>
            <a:endParaRPr lang="en-US" sz="1500" dirty="0"/>
          </a:p>
        </p:txBody>
      </p:sp>
      <p:sp>
        <p:nvSpPr>
          <p:cNvPr id="15" name="Shape 13"/>
          <p:cNvSpPr/>
          <p:nvPr/>
        </p:nvSpPr>
        <p:spPr>
          <a:xfrm>
            <a:off x="548640" y="3200400"/>
            <a:ext cx="10927080" cy="530352"/>
          </a:xfrm>
          <a:prstGeom prst="rect">
            <a:avLst/>
          </a:prstGeom>
          <a:solidFill>
            <a:srgbClr val="F2EEE7"/>
          </a:solidFill>
          <a:ln/>
        </p:spPr>
      </p:sp>
      <p:sp>
        <p:nvSpPr>
          <p:cNvPr id="16" name="Text 14"/>
          <p:cNvSpPr/>
          <p:nvPr/>
        </p:nvSpPr>
        <p:spPr>
          <a:xfrm>
            <a:off x="685800" y="3273552"/>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Stage 2</a:t>
            </a:r>
            <a:endParaRPr lang="en-US" sz="1250" dirty="0"/>
          </a:p>
        </p:txBody>
      </p:sp>
      <p:sp>
        <p:nvSpPr>
          <p:cNvPr id="17" name="Text 15"/>
          <p:cNvSpPr/>
          <p:nvPr/>
        </p:nvSpPr>
        <p:spPr>
          <a:xfrm>
            <a:off x="2423160" y="3273552"/>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Sprint — paid acquisition at full weight</a:t>
            </a:r>
            <a:endParaRPr lang="en-US" sz="1250" dirty="0"/>
          </a:p>
        </p:txBody>
      </p:sp>
      <p:sp>
        <p:nvSpPr>
          <p:cNvPr id="18" name="Text 16"/>
          <p:cNvSpPr/>
          <p:nvPr/>
        </p:nvSpPr>
        <p:spPr>
          <a:xfrm>
            <a:off x="8001000" y="3273552"/>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$150,000</a:t>
            </a:r>
            <a:endParaRPr lang="en-US" sz="1250" dirty="0"/>
          </a:p>
        </p:txBody>
      </p:sp>
      <p:sp>
        <p:nvSpPr>
          <p:cNvPr id="19" name="Text 17"/>
          <p:cNvSpPr/>
          <p:nvPr/>
        </p:nvSpPr>
        <p:spPr>
          <a:xfrm>
            <a:off x="9829800" y="3273552"/>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3,500</a:t>
            </a:r>
            <a:endParaRPr lang="en-US" sz="1500" dirty="0"/>
          </a:p>
        </p:txBody>
      </p:sp>
      <p:sp>
        <p:nvSpPr>
          <p:cNvPr id="20" name="Text 18"/>
          <p:cNvSpPr/>
          <p:nvPr/>
        </p:nvSpPr>
        <p:spPr>
          <a:xfrm>
            <a:off x="685800" y="3849624"/>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Stage 3</a:t>
            </a:r>
            <a:endParaRPr lang="en-US" sz="1250" dirty="0"/>
          </a:p>
        </p:txBody>
      </p:sp>
      <p:sp>
        <p:nvSpPr>
          <p:cNvPr id="21" name="Text 19"/>
          <p:cNvSpPr/>
          <p:nvPr/>
        </p:nvSpPr>
        <p:spPr>
          <a:xfrm>
            <a:off x="2423160" y="3849624"/>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Retention — the public record becomes the draw</a:t>
            </a:r>
            <a:endParaRPr lang="en-US" sz="1250" dirty="0"/>
          </a:p>
        </p:txBody>
      </p:sp>
      <p:sp>
        <p:nvSpPr>
          <p:cNvPr id="22" name="Text 20"/>
          <p:cNvSpPr/>
          <p:nvPr/>
        </p:nvSpPr>
        <p:spPr>
          <a:xfrm>
            <a:off x="8001000" y="3849624"/>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$200,000</a:t>
            </a:r>
            <a:endParaRPr lang="en-US" sz="1250" dirty="0"/>
          </a:p>
        </p:txBody>
      </p:sp>
      <p:sp>
        <p:nvSpPr>
          <p:cNvPr id="23" name="Text 21"/>
          <p:cNvSpPr/>
          <p:nvPr/>
        </p:nvSpPr>
        <p:spPr>
          <a:xfrm>
            <a:off x="9829800" y="3849624"/>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10,000</a:t>
            </a:r>
            <a:endParaRPr lang="en-US" sz="1500" dirty="0"/>
          </a:p>
        </p:txBody>
      </p:sp>
      <p:sp>
        <p:nvSpPr>
          <p:cNvPr id="24" name="Shape 22"/>
          <p:cNvSpPr/>
          <p:nvPr/>
        </p:nvSpPr>
        <p:spPr>
          <a:xfrm>
            <a:off x="548640" y="4352544"/>
            <a:ext cx="10927080" cy="530352"/>
          </a:xfrm>
          <a:prstGeom prst="rect">
            <a:avLst/>
          </a:prstGeom>
          <a:solidFill>
            <a:srgbClr val="F2EEE7"/>
          </a:solidFill>
          <a:ln/>
        </p:spPr>
      </p:sp>
      <p:sp>
        <p:nvSpPr>
          <p:cNvPr id="25" name="Text 23"/>
          <p:cNvSpPr/>
          <p:nvPr/>
        </p:nvSpPr>
        <p:spPr>
          <a:xfrm>
            <a:off x="685800" y="4425696"/>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Stage 4</a:t>
            </a:r>
            <a:endParaRPr lang="en-US" sz="1250" dirty="0"/>
          </a:p>
        </p:txBody>
      </p:sp>
      <p:sp>
        <p:nvSpPr>
          <p:cNvPr id="26" name="Text 24"/>
          <p:cNvSpPr/>
          <p:nvPr/>
        </p:nvSpPr>
        <p:spPr>
          <a:xfrm>
            <a:off x="2423160" y="4425696"/>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Government &amp; institutional expansion</a:t>
            </a:r>
            <a:endParaRPr lang="en-US" sz="1250" dirty="0"/>
          </a:p>
        </p:txBody>
      </p:sp>
      <p:sp>
        <p:nvSpPr>
          <p:cNvPr id="27" name="Text 25"/>
          <p:cNvSpPr/>
          <p:nvPr/>
        </p:nvSpPr>
        <p:spPr>
          <a:xfrm>
            <a:off x="8001000" y="4425696"/>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$250,000</a:t>
            </a:r>
            <a:endParaRPr lang="en-US" sz="1250" dirty="0"/>
          </a:p>
        </p:txBody>
      </p:sp>
      <p:sp>
        <p:nvSpPr>
          <p:cNvPr id="28" name="Text 26"/>
          <p:cNvSpPr/>
          <p:nvPr/>
        </p:nvSpPr>
        <p:spPr>
          <a:xfrm>
            <a:off x="9829800" y="4425696"/>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20,000</a:t>
            </a:r>
            <a:endParaRPr lang="en-US" sz="1500" dirty="0"/>
          </a:p>
        </p:txBody>
      </p:sp>
      <p:sp>
        <p:nvSpPr>
          <p:cNvPr id="29" name="Text 27"/>
          <p:cNvSpPr/>
          <p:nvPr/>
        </p:nvSpPr>
        <p:spPr>
          <a:xfrm>
            <a:off x="685800" y="5001768"/>
            <a:ext cx="164592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Stage 5</a:t>
            </a:r>
            <a:endParaRPr lang="en-US" sz="1250" dirty="0"/>
          </a:p>
        </p:txBody>
      </p:sp>
      <p:sp>
        <p:nvSpPr>
          <p:cNvPr id="30" name="Text 28"/>
          <p:cNvSpPr/>
          <p:nvPr/>
        </p:nvSpPr>
        <p:spPr>
          <a:xfrm>
            <a:off x="2423160" y="5001768"/>
            <a:ext cx="5486400" cy="365760"/>
          </a:xfrm>
          <a:prstGeom prst="rect">
            <a:avLst/>
          </a:prstGeom>
          <a:noFill/>
          <a:ln/>
        </p:spPr>
        <p:txBody>
          <a:bodyPr wrap="square" lIns="0" tIns="0" rIns="0" bIns="0" rtlCol="0" anchor="ctr"/>
          <a:lstStyle/>
          <a:p>
            <a:pPr indent="0" marL="0">
              <a:buNone/>
            </a:pPr>
            <a:r>
              <a:rPr lang="en-US" sz="1250" dirty="0">
                <a:solidFill>
                  <a:srgbClr val="6B655C"/>
                </a:solidFill>
                <a:latin typeface="Calibri" pitchFamily="34" charset="0"/>
                <a:ea typeface="Calibri" pitchFamily="34" charset="-122"/>
                <a:cs typeface="Calibri" pitchFamily="34" charset="-120"/>
              </a:rPr>
              <a:t>Revenue &amp; scale — first hire, Series Seed prep</a:t>
            </a:r>
            <a:endParaRPr lang="en-US" sz="1250" dirty="0"/>
          </a:p>
        </p:txBody>
      </p:sp>
      <p:sp>
        <p:nvSpPr>
          <p:cNvPr id="31" name="Text 29"/>
          <p:cNvSpPr/>
          <p:nvPr/>
        </p:nvSpPr>
        <p:spPr>
          <a:xfrm>
            <a:off x="8001000" y="5001768"/>
            <a:ext cx="1737360" cy="365760"/>
          </a:xfrm>
          <a:prstGeom prst="rect">
            <a:avLst/>
          </a:prstGeom>
          <a:noFill/>
          <a:ln/>
        </p:spPr>
        <p:txBody>
          <a:bodyPr wrap="square" lIns="0" tIns="0" rIns="0" bIns="0" rtlCol="0" anchor="ctr"/>
          <a:lstStyle/>
          <a:p>
            <a:pPr indent="0" marL="0">
              <a:buNone/>
            </a:pPr>
            <a:r>
              <a:rPr lang="en-US" sz="1250" b="1" dirty="0">
                <a:solidFill>
                  <a:srgbClr val="181510"/>
                </a:solidFill>
                <a:latin typeface="Calibri" pitchFamily="34" charset="0"/>
                <a:ea typeface="Calibri" pitchFamily="34" charset="-122"/>
                <a:cs typeface="Calibri" pitchFamily="34" charset="-120"/>
              </a:rPr>
              <a:t>$300,000</a:t>
            </a:r>
            <a:endParaRPr lang="en-US" sz="1250" dirty="0"/>
          </a:p>
        </p:txBody>
      </p:sp>
      <p:sp>
        <p:nvSpPr>
          <p:cNvPr id="32" name="Text 30"/>
          <p:cNvSpPr/>
          <p:nvPr/>
        </p:nvSpPr>
        <p:spPr>
          <a:xfrm>
            <a:off x="9829800" y="5001768"/>
            <a:ext cx="1737360" cy="365760"/>
          </a:xfrm>
          <a:prstGeom prst="rect">
            <a:avLst/>
          </a:prstGeom>
          <a:noFill/>
          <a:ln/>
        </p:spPr>
        <p:txBody>
          <a:bodyPr wrap="square" lIns="0" tIns="0" rIns="0" bIns="0" rtlCol="0" anchor="ctr"/>
          <a:lstStyle/>
          <a:p>
            <a:pPr indent="0" marL="0">
              <a:buNone/>
            </a:pPr>
            <a:r>
              <a:rPr lang="en-US" sz="1500" b="1" dirty="0">
                <a:solidFill>
                  <a:srgbClr val="C99A38"/>
                </a:solidFill>
                <a:latin typeface="Cambria" pitchFamily="34" charset="0"/>
                <a:ea typeface="Cambria" pitchFamily="34" charset="-122"/>
                <a:cs typeface="Cambria" pitchFamily="34" charset="-120"/>
              </a:rPr>
              <a:t>35,000</a:t>
            </a:r>
            <a:endParaRPr lang="en-US" sz="1500" dirty="0"/>
          </a:p>
        </p:txBody>
      </p:sp>
      <p:sp>
        <p:nvSpPr>
          <p:cNvPr id="33" name="Text 31"/>
          <p:cNvSpPr/>
          <p:nvPr/>
        </p:nvSpPr>
        <p:spPr>
          <a:xfrm>
            <a:off x="685800" y="5623560"/>
            <a:ext cx="10607040" cy="502920"/>
          </a:xfrm>
          <a:prstGeom prst="rect">
            <a:avLst/>
          </a:prstGeom>
          <a:noFill/>
          <a:ln/>
        </p:spPr>
        <p:txBody>
          <a:bodyPr wrap="square" lIns="0" tIns="0" rIns="0" bIns="0" rtlCol="0" anchor="ctr"/>
          <a:lstStyle/>
          <a:p>
            <a:pPr indent="0" marL="0">
              <a:buNone/>
            </a:pPr>
            <a:r>
              <a:rPr lang="en-US" sz="1300" i="1" dirty="0">
                <a:solidFill>
                  <a:srgbClr val="181510"/>
                </a:solidFill>
                <a:latin typeface="Cambria" pitchFamily="34" charset="0"/>
                <a:ea typeface="Cambria" pitchFamily="34" charset="-122"/>
                <a:cs typeface="Cambria" pitchFamily="34" charset="-120"/>
              </a:rPr>
              <a:t>Verified users — not downloads, not sign-ups. A verified user has passed a government-ID check and cannot be inflated. It is the only number that proves the thesis.</a:t>
            </a:r>
            <a:endParaRPr lang="en-US" sz="1300" dirty="0"/>
          </a:p>
        </p:txBody>
      </p:sp>
      <p:sp>
        <p:nvSpPr>
          <p:cNvPr id="34" name="Text 32"/>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35" name="Text 33"/>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USE OF FUNDS</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Two-thirds is growth and the people doing the work.</a:t>
            </a:r>
            <a:endParaRPr lang="en-US" sz="3800" dirty="0"/>
          </a:p>
        </p:txBody>
      </p:sp>
      <p:graphicFrame>
        <p:nvGraphicFramePr>
          <p:cNvPr id="4" name="Chart 0" descr=""/>
          <p:cNvGraphicFramePr/>
          <p:nvPr/>
        </p:nvGraphicFramePr>
        <p:xfrm>
          <a:off x="685800" y="1828800"/>
          <a:ext cx="694944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001000" y="2148840"/>
            <a:ext cx="1097280" cy="457200"/>
          </a:xfrm>
          <a:prstGeom prst="rect">
            <a:avLst/>
          </a:prstGeom>
          <a:noFill/>
          <a:ln/>
        </p:spPr>
        <p:txBody>
          <a:bodyPr wrap="square" lIns="0" tIns="0" rIns="0" bIns="0" rtlCol="0" anchor="ctr"/>
          <a:lstStyle/>
          <a:p>
            <a:pPr indent="0" marL="0">
              <a:buNone/>
            </a:pPr>
            <a:r>
              <a:rPr lang="en-US" sz="3000" b="1" dirty="0">
                <a:solidFill>
                  <a:srgbClr val="C99A38"/>
                </a:solidFill>
                <a:latin typeface="Cambria" pitchFamily="34" charset="0"/>
                <a:ea typeface="Cambria" pitchFamily="34" charset="-122"/>
                <a:cs typeface="Cambria" pitchFamily="34" charset="-120"/>
              </a:rPr>
              <a:t>44%</a:t>
            </a:r>
            <a:endParaRPr lang="en-US" sz="3000" dirty="0"/>
          </a:p>
        </p:txBody>
      </p:sp>
      <p:sp>
        <p:nvSpPr>
          <p:cNvPr id="6" name="Text 3"/>
          <p:cNvSpPr/>
          <p:nvPr/>
        </p:nvSpPr>
        <p:spPr>
          <a:xfrm>
            <a:off x="8001000" y="2624328"/>
            <a:ext cx="3474720" cy="64008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paid advertising — the direct engine that turns attention into verified users</a:t>
            </a:r>
            <a:endParaRPr lang="en-US" sz="1150" dirty="0"/>
          </a:p>
        </p:txBody>
      </p:sp>
      <p:sp>
        <p:nvSpPr>
          <p:cNvPr id="7" name="Text 4"/>
          <p:cNvSpPr/>
          <p:nvPr/>
        </p:nvSpPr>
        <p:spPr>
          <a:xfrm>
            <a:off x="8001000" y="3291840"/>
            <a:ext cx="1097280" cy="457200"/>
          </a:xfrm>
          <a:prstGeom prst="rect">
            <a:avLst/>
          </a:prstGeom>
          <a:noFill/>
          <a:ln/>
        </p:spPr>
        <p:txBody>
          <a:bodyPr wrap="square" lIns="0" tIns="0" rIns="0" bIns="0" rtlCol="0" anchor="ctr"/>
          <a:lstStyle/>
          <a:p>
            <a:pPr indent="0" marL="0">
              <a:buNone/>
            </a:pPr>
            <a:r>
              <a:rPr lang="en-US" sz="3000" b="1" dirty="0">
                <a:solidFill>
                  <a:srgbClr val="C99A38"/>
                </a:solidFill>
                <a:latin typeface="Cambria" pitchFamily="34" charset="0"/>
                <a:ea typeface="Cambria" pitchFamily="34" charset="-122"/>
                <a:cs typeface="Cambria" pitchFamily="34" charset="-120"/>
              </a:rPr>
              <a:t>27%</a:t>
            </a:r>
            <a:endParaRPr lang="en-US" sz="3000" dirty="0"/>
          </a:p>
        </p:txBody>
      </p:sp>
      <p:sp>
        <p:nvSpPr>
          <p:cNvPr id="8" name="Text 5"/>
          <p:cNvSpPr/>
          <p:nvPr/>
        </p:nvSpPr>
        <p:spPr>
          <a:xfrm>
            <a:off x="8001000" y="3767328"/>
            <a:ext cx="3474720" cy="64008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two founders at $7,500/month each, below market, no other staff until Stage 5</a:t>
            </a:r>
            <a:endParaRPr lang="en-US" sz="1150" dirty="0"/>
          </a:p>
        </p:txBody>
      </p:sp>
      <p:sp>
        <p:nvSpPr>
          <p:cNvPr id="9" name="Text 6"/>
          <p:cNvSpPr/>
          <p:nvPr/>
        </p:nvSpPr>
        <p:spPr>
          <a:xfrm>
            <a:off x="8001000" y="4434840"/>
            <a:ext cx="1097280" cy="457200"/>
          </a:xfrm>
          <a:prstGeom prst="rect">
            <a:avLst/>
          </a:prstGeom>
          <a:noFill/>
          <a:ln/>
        </p:spPr>
        <p:txBody>
          <a:bodyPr wrap="square" lIns="0" tIns="0" rIns="0" bIns="0" rtlCol="0" anchor="ctr"/>
          <a:lstStyle/>
          <a:p>
            <a:pPr indent="0" marL="0">
              <a:buNone/>
            </a:pPr>
            <a:r>
              <a:rPr lang="en-US" sz="3000" b="1" dirty="0">
                <a:solidFill>
                  <a:srgbClr val="C99A38"/>
                </a:solidFill>
                <a:latin typeface="Cambria" pitchFamily="34" charset="0"/>
                <a:ea typeface="Cambria" pitchFamily="34" charset="-122"/>
                <a:cs typeface="Cambria" pitchFamily="34" charset="-120"/>
              </a:rPr>
              <a:t>&lt;1%</a:t>
            </a:r>
            <a:endParaRPr lang="en-US" sz="3000" dirty="0"/>
          </a:p>
        </p:txBody>
      </p:sp>
      <p:sp>
        <p:nvSpPr>
          <p:cNvPr id="10" name="Text 7"/>
          <p:cNvSpPr/>
          <p:nvPr/>
        </p:nvSpPr>
        <p:spPr>
          <a:xfrm>
            <a:off x="8001000" y="4910328"/>
            <a:ext cx="3474720" cy="640080"/>
          </a:xfrm>
          <a:prstGeom prst="rect">
            <a:avLst/>
          </a:prstGeom>
          <a:noFill/>
          <a:ln/>
        </p:spPr>
        <p:txBody>
          <a:bodyPr wrap="square" lIns="0" tIns="0" rIns="0" bIns="0" rtlCol="0" anchor="ctr"/>
          <a:lstStyle/>
          <a:p>
            <a:pPr indent="0" marL="0">
              <a:buNone/>
            </a:pPr>
            <a:r>
              <a:rPr lang="en-US" sz="1150" dirty="0">
                <a:solidFill>
                  <a:srgbClr val="6B655C"/>
                </a:solidFill>
                <a:latin typeface="Calibri" pitchFamily="34" charset="0"/>
                <a:ea typeface="Calibri" pitchFamily="34" charset="-122"/>
                <a:cs typeface="Calibri" pitchFamily="34" charset="-120"/>
              </a:rPr>
              <a:t>infrastructure — the product is already built and cheap to run</a:t>
            </a:r>
            <a:endParaRPr lang="en-US" sz="1150" dirty="0"/>
          </a:p>
        </p:txBody>
      </p:sp>
      <p:sp>
        <p:nvSpPr>
          <p:cNvPr id="11" name="Text 8"/>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12" name="Text 9"/>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707"/>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EABA58"/>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685800" y="960120"/>
            <a:ext cx="10515600" cy="914400"/>
          </a:xfrm>
          <a:prstGeom prst="rect">
            <a:avLst/>
          </a:prstGeom>
          <a:noFill/>
          <a:ln/>
        </p:spPr>
        <p:txBody>
          <a:bodyPr wrap="square" lIns="0" tIns="0" rIns="0" bIns="0" rtlCol="0" anchor="ctr"/>
          <a:lstStyle/>
          <a:p>
            <a:pPr indent="0" marL="0">
              <a:buNone/>
            </a:pPr>
            <a:r>
              <a:rPr lang="en-US" sz="5200" b="1" dirty="0">
                <a:solidFill>
                  <a:srgbClr val="F4F5F6"/>
                </a:solidFill>
                <a:latin typeface="Cambria" pitchFamily="34" charset="0"/>
                <a:ea typeface="Cambria" pitchFamily="34" charset="-122"/>
                <a:cs typeface="Cambria" pitchFamily="34" charset="-120"/>
              </a:rPr>
              <a:t>$1,000,000 for 20%</a:t>
            </a:r>
            <a:endParaRPr lang="en-US" sz="5200" dirty="0"/>
          </a:p>
        </p:txBody>
      </p:sp>
      <p:sp>
        <p:nvSpPr>
          <p:cNvPr id="4" name="Text 2"/>
          <p:cNvSpPr/>
          <p:nvPr/>
        </p:nvSpPr>
        <p:spPr>
          <a:xfrm>
            <a:off x="685800" y="1874520"/>
            <a:ext cx="10515600" cy="457200"/>
          </a:xfrm>
          <a:prstGeom prst="rect">
            <a:avLst/>
          </a:prstGeom>
          <a:noFill/>
          <a:ln/>
        </p:spPr>
        <p:txBody>
          <a:bodyPr wrap="square" lIns="0" tIns="0" rIns="0" bIns="0" rtlCol="0" anchor="ctr"/>
          <a:lstStyle/>
          <a:p>
            <a:pPr indent="0" marL="0">
              <a:buNone/>
            </a:pPr>
            <a:r>
              <a:rPr lang="en-US" sz="2000" i="1" dirty="0">
                <a:solidFill>
                  <a:srgbClr val="EABA58"/>
                </a:solidFill>
                <a:latin typeface="Cambria" pitchFamily="34" charset="0"/>
                <a:ea typeface="Cambria" pitchFamily="34" charset="-122"/>
                <a:cs typeface="Cambria" pitchFamily="34" charset="-120"/>
              </a:rPr>
              <a:t>at a $5,000,000 pre-money valuation, released in six stages.</a:t>
            </a:r>
            <a:endParaRPr lang="en-US" sz="2000" dirty="0"/>
          </a:p>
        </p:txBody>
      </p:sp>
      <p:sp>
        <p:nvSpPr>
          <p:cNvPr id="5" name="Shape 3"/>
          <p:cNvSpPr/>
          <p:nvPr/>
        </p:nvSpPr>
        <p:spPr>
          <a:xfrm>
            <a:off x="685800" y="2697480"/>
            <a:ext cx="3429000" cy="2148840"/>
          </a:xfrm>
          <a:prstGeom prst="roundRect">
            <a:avLst>
              <a:gd name="adj" fmla="val 2553"/>
            </a:avLst>
          </a:prstGeom>
          <a:solidFill>
            <a:srgbClr val="141818"/>
          </a:solidFill>
          <a:ln w="12700">
            <a:solidFill>
              <a:srgbClr val="23292A"/>
            </a:solidFill>
            <a:prstDash val="solid"/>
          </a:ln>
        </p:spPr>
      </p:sp>
      <p:sp>
        <p:nvSpPr>
          <p:cNvPr id="6" name="Text 4"/>
          <p:cNvSpPr/>
          <p:nvPr/>
        </p:nvSpPr>
        <p:spPr>
          <a:xfrm>
            <a:off x="960120" y="2926080"/>
            <a:ext cx="2926080" cy="457200"/>
          </a:xfrm>
          <a:prstGeom prst="rect">
            <a:avLst/>
          </a:prstGeom>
          <a:noFill/>
          <a:ln/>
        </p:spPr>
        <p:txBody>
          <a:bodyPr wrap="square" lIns="0" tIns="0" rIns="0" bIns="0" rtlCol="0" anchor="ctr"/>
          <a:lstStyle/>
          <a:p>
            <a:pPr indent="0" marL="0">
              <a:buNone/>
            </a:pPr>
            <a:r>
              <a:rPr lang="en-US" sz="2600" b="1" dirty="0">
                <a:solidFill>
                  <a:srgbClr val="EABA58"/>
                </a:solidFill>
                <a:latin typeface="Cambria" pitchFamily="34" charset="0"/>
                <a:ea typeface="Cambria" pitchFamily="34" charset="-122"/>
                <a:cs typeface="Cambria" pitchFamily="34" charset="-120"/>
              </a:rPr>
              <a:t>$50,000</a:t>
            </a:r>
            <a:endParaRPr lang="en-US" sz="2600" dirty="0"/>
          </a:p>
        </p:txBody>
      </p:sp>
      <p:sp>
        <p:nvSpPr>
          <p:cNvPr id="7" name="Text 5"/>
          <p:cNvSpPr/>
          <p:nvPr/>
        </p:nvSpPr>
        <p:spPr>
          <a:xfrm>
            <a:off x="960120" y="3401568"/>
            <a:ext cx="2926080" cy="292608"/>
          </a:xfrm>
          <a:prstGeom prst="rect">
            <a:avLst/>
          </a:prstGeom>
          <a:noFill/>
          <a:ln/>
        </p:spPr>
        <p:txBody>
          <a:bodyPr wrap="square" lIns="0" tIns="0" rIns="0" bIns="0" rtlCol="0" anchor="ctr"/>
          <a:lstStyle/>
          <a:p>
            <a:pPr indent="0" marL="0">
              <a:buNone/>
            </a:pPr>
            <a:r>
              <a:rPr lang="en-US" sz="1200" b="1" dirty="0">
                <a:solidFill>
                  <a:srgbClr val="F4F5F6"/>
                </a:solidFill>
                <a:latin typeface="Calibri" pitchFamily="34" charset="0"/>
                <a:ea typeface="Calibri" pitchFamily="34" charset="-122"/>
                <a:cs typeface="Calibri" pitchFamily="34" charset="-120"/>
              </a:rPr>
              <a:t>released at signing</a:t>
            </a:r>
            <a:endParaRPr lang="en-US" sz="1200" dirty="0"/>
          </a:p>
        </p:txBody>
      </p:sp>
      <p:sp>
        <p:nvSpPr>
          <p:cNvPr id="8" name="Text 6"/>
          <p:cNvSpPr/>
          <p:nvPr/>
        </p:nvSpPr>
        <p:spPr>
          <a:xfrm>
            <a:off x="960120" y="3767328"/>
            <a:ext cx="2926080" cy="9144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Enough to incorporate, clear compliance and run the first campaigns.</a:t>
            </a:r>
            <a:endParaRPr lang="en-US" sz="1150" dirty="0"/>
          </a:p>
        </p:txBody>
      </p:sp>
      <p:sp>
        <p:nvSpPr>
          <p:cNvPr id="9" name="Shape 7"/>
          <p:cNvSpPr/>
          <p:nvPr/>
        </p:nvSpPr>
        <p:spPr>
          <a:xfrm>
            <a:off x="4370832" y="2697480"/>
            <a:ext cx="3429000" cy="2148840"/>
          </a:xfrm>
          <a:prstGeom prst="roundRect">
            <a:avLst>
              <a:gd name="adj" fmla="val 2553"/>
            </a:avLst>
          </a:prstGeom>
          <a:solidFill>
            <a:srgbClr val="141818"/>
          </a:solidFill>
          <a:ln w="12700">
            <a:solidFill>
              <a:srgbClr val="23292A"/>
            </a:solidFill>
            <a:prstDash val="solid"/>
          </a:ln>
        </p:spPr>
      </p:sp>
      <p:sp>
        <p:nvSpPr>
          <p:cNvPr id="10" name="Text 8"/>
          <p:cNvSpPr/>
          <p:nvPr/>
        </p:nvSpPr>
        <p:spPr>
          <a:xfrm>
            <a:off x="4645152" y="2926080"/>
            <a:ext cx="2926080" cy="457200"/>
          </a:xfrm>
          <a:prstGeom prst="rect">
            <a:avLst/>
          </a:prstGeom>
          <a:noFill/>
          <a:ln/>
        </p:spPr>
        <p:txBody>
          <a:bodyPr wrap="square" lIns="0" tIns="0" rIns="0" bIns="0" rtlCol="0" anchor="ctr"/>
          <a:lstStyle/>
          <a:p>
            <a:pPr indent="0" marL="0">
              <a:buNone/>
            </a:pPr>
            <a:r>
              <a:rPr lang="en-US" sz="2600" b="1" dirty="0">
                <a:solidFill>
                  <a:srgbClr val="EABA58"/>
                </a:solidFill>
                <a:latin typeface="Cambria" pitchFamily="34" charset="0"/>
                <a:ea typeface="Cambria" pitchFamily="34" charset="-122"/>
                <a:cs typeface="Cambria" pitchFamily="34" charset="-120"/>
              </a:rPr>
              <a:t>Equity in step</a:t>
            </a:r>
            <a:endParaRPr lang="en-US" sz="2600" dirty="0"/>
          </a:p>
        </p:txBody>
      </p:sp>
      <p:sp>
        <p:nvSpPr>
          <p:cNvPr id="11" name="Text 9"/>
          <p:cNvSpPr/>
          <p:nvPr/>
        </p:nvSpPr>
        <p:spPr>
          <a:xfrm>
            <a:off x="4645152" y="3401568"/>
            <a:ext cx="2926080" cy="292608"/>
          </a:xfrm>
          <a:prstGeom prst="rect">
            <a:avLst/>
          </a:prstGeom>
          <a:noFill/>
          <a:ln/>
        </p:spPr>
        <p:txBody>
          <a:bodyPr wrap="square" lIns="0" tIns="0" rIns="0" bIns="0" rtlCol="0" anchor="ctr"/>
          <a:lstStyle/>
          <a:p>
            <a:pPr indent="0" marL="0">
              <a:buNone/>
            </a:pPr>
            <a:r>
              <a:rPr lang="en-US" sz="1200" b="1" dirty="0">
                <a:solidFill>
                  <a:srgbClr val="F4F5F6"/>
                </a:solidFill>
                <a:latin typeface="Calibri" pitchFamily="34" charset="0"/>
                <a:ea typeface="Calibri" pitchFamily="34" charset="-122"/>
                <a:cs typeface="Calibri" pitchFamily="34" charset="-120"/>
              </a:rPr>
              <a:t>1 + 1 + 3 + 4 + 5 + 6 = 20%</a:t>
            </a:r>
            <a:endParaRPr lang="en-US" sz="1200" dirty="0"/>
          </a:p>
        </p:txBody>
      </p:sp>
      <p:sp>
        <p:nvSpPr>
          <p:cNvPr id="12" name="Text 10"/>
          <p:cNvSpPr/>
          <p:nvPr/>
        </p:nvSpPr>
        <p:spPr>
          <a:xfrm>
            <a:off x="4645152" y="3767328"/>
            <a:ext cx="2926080" cy="9144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You never hold more equity than the capital actually deployed.</a:t>
            </a:r>
            <a:endParaRPr lang="en-US" sz="1150" dirty="0"/>
          </a:p>
        </p:txBody>
      </p:sp>
      <p:sp>
        <p:nvSpPr>
          <p:cNvPr id="13" name="Shape 11"/>
          <p:cNvSpPr/>
          <p:nvPr/>
        </p:nvSpPr>
        <p:spPr>
          <a:xfrm>
            <a:off x="8055864" y="2697480"/>
            <a:ext cx="3429000" cy="2148840"/>
          </a:xfrm>
          <a:prstGeom prst="roundRect">
            <a:avLst>
              <a:gd name="adj" fmla="val 2553"/>
            </a:avLst>
          </a:prstGeom>
          <a:solidFill>
            <a:srgbClr val="141818"/>
          </a:solidFill>
          <a:ln w="12700">
            <a:solidFill>
              <a:srgbClr val="23292A"/>
            </a:solidFill>
            <a:prstDash val="solid"/>
          </a:ln>
        </p:spPr>
      </p:sp>
      <p:sp>
        <p:nvSpPr>
          <p:cNvPr id="14" name="Text 12"/>
          <p:cNvSpPr/>
          <p:nvPr/>
        </p:nvSpPr>
        <p:spPr>
          <a:xfrm>
            <a:off x="8330184" y="2926080"/>
            <a:ext cx="2926080" cy="457200"/>
          </a:xfrm>
          <a:prstGeom prst="rect">
            <a:avLst/>
          </a:prstGeom>
          <a:noFill/>
          <a:ln/>
        </p:spPr>
        <p:txBody>
          <a:bodyPr wrap="square" lIns="0" tIns="0" rIns="0" bIns="0" rtlCol="0" anchor="ctr"/>
          <a:lstStyle/>
          <a:p>
            <a:pPr indent="0" marL="0">
              <a:buNone/>
            </a:pPr>
            <a:r>
              <a:rPr lang="en-US" sz="2600" b="1" dirty="0">
                <a:solidFill>
                  <a:srgbClr val="EABA58"/>
                </a:solidFill>
                <a:latin typeface="Cambria" pitchFamily="34" charset="0"/>
                <a:ea typeface="Cambria" pitchFamily="34" charset="-122"/>
                <a:cs typeface="Cambria" pitchFamily="34" charset="-120"/>
              </a:rPr>
              <a:t>200 users</a:t>
            </a:r>
            <a:endParaRPr lang="en-US" sz="2600" dirty="0"/>
          </a:p>
        </p:txBody>
      </p:sp>
      <p:sp>
        <p:nvSpPr>
          <p:cNvPr id="15" name="Text 13"/>
          <p:cNvSpPr/>
          <p:nvPr/>
        </p:nvSpPr>
        <p:spPr>
          <a:xfrm>
            <a:off x="8330184" y="3401568"/>
            <a:ext cx="2926080" cy="292608"/>
          </a:xfrm>
          <a:prstGeom prst="rect">
            <a:avLst/>
          </a:prstGeom>
          <a:noFill/>
          <a:ln/>
        </p:spPr>
        <p:txBody>
          <a:bodyPr wrap="square" lIns="0" tIns="0" rIns="0" bIns="0" rtlCol="0" anchor="ctr"/>
          <a:lstStyle/>
          <a:p>
            <a:pPr indent="0" marL="0">
              <a:buNone/>
            </a:pPr>
            <a:r>
              <a:rPr lang="en-US" sz="1200" b="1" dirty="0">
                <a:solidFill>
                  <a:srgbClr val="F4F5F6"/>
                </a:solidFill>
                <a:latin typeface="Calibri" pitchFamily="34" charset="0"/>
                <a:ea typeface="Calibri" pitchFamily="34" charset="-122"/>
                <a:cs typeface="Calibri" pitchFamily="34" charset="-120"/>
              </a:rPr>
              <a:t>the first gate</a:t>
            </a:r>
            <a:endParaRPr lang="en-US" sz="1200" dirty="0"/>
          </a:p>
        </p:txBody>
      </p:sp>
      <p:sp>
        <p:nvSpPr>
          <p:cNvPr id="16" name="Text 14"/>
          <p:cNvSpPr/>
          <p:nvPr/>
        </p:nvSpPr>
        <p:spPr>
          <a:xfrm>
            <a:off x="8330184" y="3767328"/>
            <a:ext cx="2926080" cy="91440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No further capital releases until 200 real verified users are proven.</a:t>
            </a:r>
            <a:endParaRPr lang="en-US" sz="1150" dirty="0"/>
          </a:p>
        </p:txBody>
      </p:sp>
      <p:sp>
        <p:nvSpPr>
          <p:cNvPr id="17" name="Text 15"/>
          <p:cNvSpPr/>
          <p:nvPr/>
        </p:nvSpPr>
        <p:spPr>
          <a:xfrm>
            <a:off x="685800" y="5074920"/>
            <a:ext cx="10607040" cy="457200"/>
          </a:xfrm>
          <a:prstGeom prst="rect">
            <a:avLst/>
          </a:prstGeom>
          <a:noFill/>
          <a:ln/>
        </p:spPr>
        <p:txBody>
          <a:bodyPr wrap="square" lIns="0" tIns="0" rIns="0" bIns="0" rtlCol="0" anchor="ctr"/>
          <a:lstStyle/>
          <a:p>
            <a:pPr indent="0" marL="0">
              <a:buNone/>
            </a:pPr>
            <a:r>
              <a:rPr lang="en-US" sz="1250" dirty="0">
                <a:solidFill>
                  <a:srgbClr val="B8BABB"/>
                </a:solidFill>
                <a:latin typeface="Calibri" pitchFamily="34" charset="0"/>
                <a:ea typeface="Calibri" pitchFamily="34" charset="-122"/>
                <a:cs typeface="Calibri" pitchFamily="34" charset="-120"/>
              </a:rPr>
              <a:t>Verification costs are covered separately, up to $20,000 — so growth in verified users never competes with the campaign budget.</a:t>
            </a:r>
            <a:endParaRPr lang="en-US" sz="1250" dirty="0"/>
          </a:p>
        </p:txBody>
      </p:sp>
      <p:sp>
        <p:nvSpPr>
          <p:cNvPr id="18" name="Text 16"/>
          <p:cNvSpPr/>
          <p:nvPr/>
        </p:nvSpPr>
        <p:spPr>
          <a:xfrm>
            <a:off x="685800" y="5486400"/>
            <a:ext cx="10607040" cy="457200"/>
          </a:xfrm>
          <a:prstGeom prst="rect">
            <a:avLst/>
          </a:prstGeom>
          <a:noFill/>
          <a:ln/>
        </p:spPr>
        <p:txBody>
          <a:bodyPr wrap="square" lIns="0" tIns="0" rIns="0" bIns="0" rtlCol="0" anchor="ctr"/>
          <a:lstStyle/>
          <a:p>
            <a:pPr indent="0" marL="0">
              <a:buNone/>
            </a:pPr>
            <a:r>
              <a:rPr lang="en-US" sz="1250" i="1" dirty="0">
                <a:solidFill>
                  <a:srgbClr val="7A7D7E"/>
                </a:solidFill>
                <a:latin typeface="Cambria" pitchFamily="34" charset="0"/>
                <a:ea typeface="Cambria" pitchFamily="34" charset="-122"/>
                <a:cs typeface="Cambria" pitchFamily="34" charset="-120"/>
              </a:rPr>
              <a:t>If you would prefer the full 20% at signing, we will structure the tranches as firm commitments tied only to hitting targets, with a clawback on any stage left unfunded after its targets are met.</a:t>
            </a:r>
            <a:endParaRPr lang="en-US" sz="1250" dirty="0"/>
          </a:p>
        </p:txBody>
      </p:sp>
      <p:sp>
        <p:nvSpPr>
          <p:cNvPr id="19" name="Text 17"/>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7A7D7E"/>
                </a:solidFill>
                <a:latin typeface="Calibri" pitchFamily="34" charset="0"/>
                <a:ea typeface="Calibri" pitchFamily="34" charset="-122"/>
                <a:cs typeface="Calibri" pitchFamily="34" charset="-120"/>
              </a:rPr>
              <a:t>REPRESENT</a:t>
            </a:r>
            <a:endParaRPr lang="en-US" sz="850" dirty="0"/>
          </a:p>
        </p:txBody>
      </p:sp>
      <p:sp>
        <p:nvSpPr>
          <p:cNvPr id="20" name="Text 18"/>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7A7D7E"/>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566928"/>
            <a:ext cx="7315200" cy="256032"/>
          </a:xfrm>
          <a:prstGeom prst="rect">
            <a:avLst/>
          </a:prstGeom>
          <a:noFill/>
          <a:ln/>
        </p:spPr>
        <p:txBody>
          <a:bodyPr wrap="square" lIns="0" tIns="0" rIns="0" bIns="0" rtlCol="0" anchor="ctr"/>
          <a:lstStyle/>
          <a:p>
            <a:pPr indent="0" marL="0">
              <a:buNone/>
            </a:pPr>
            <a:r>
              <a:rPr lang="en-US" sz="1100" b="1" spc="300" kern="0" dirty="0">
                <a:solidFill>
                  <a:srgbClr val="C99A38"/>
                </a:solidFill>
                <a:latin typeface="Calibri" pitchFamily="34" charset="0"/>
                <a:ea typeface="Calibri" pitchFamily="34" charset="-122"/>
                <a:cs typeface="Calibri" pitchFamily="34" charset="-120"/>
              </a:rPr>
              <a:t>TEAM</a:t>
            </a:r>
            <a:endParaRPr lang="en-US" sz="1100" dirty="0"/>
          </a:p>
        </p:txBody>
      </p:sp>
      <p:sp>
        <p:nvSpPr>
          <p:cNvPr id="3" name="Text 1"/>
          <p:cNvSpPr/>
          <p:nvPr/>
        </p:nvSpPr>
        <p:spPr>
          <a:xfrm>
            <a:off x="685800" y="914400"/>
            <a:ext cx="10515600" cy="914400"/>
          </a:xfrm>
          <a:prstGeom prst="rect">
            <a:avLst/>
          </a:prstGeom>
          <a:noFill/>
          <a:ln/>
        </p:spPr>
        <p:txBody>
          <a:bodyPr wrap="square" lIns="0" tIns="0" rIns="0" bIns="0" rtlCol="0" anchor="t"/>
          <a:lstStyle/>
          <a:p>
            <a:pPr indent="0" marL="0">
              <a:buNone/>
            </a:pPr>
            <a:r>
              <a:rPr lang="en-US" sz="3800" dirty="0">
                <a:solidFill>
                  <a:srgbClr val="181510"/>
                </a:solidFill>
                <a:latin typeface="Cambria" pitchFamily="34" charset="0"/>
                <a:ea typeface="Cambria" pitchFamily="34" charset="-122"/>
                <a:cs typeface="Cambria" pitchFamily="34" charset="-120"/>
              </a:rPr>
              <a:t>Two founders. No agencies.</a:t>
            </a:r>
            <a:endParaRPr lang="en-US" sz="3800" dirty="0"/>
          </a:p>
        </p:txBody>
      </p:sp>
      <p:sp>
        <p:nvSpPr>
          <p:cNvPr id="4" name="Shape 2"/>
          <p:cNvSpPr/>
          <p:nvPr/>
        </p:nvSpPr>
        <p:spPr>
          <a:xfrm>
            <a:off x="685800" y="1920240"/>
            <a:ext cx="5303520" cy="2377440"/>
          </a:xfrm>
          <a:prstGeom prst="roundRect">
            <a:avLst>
              <a:gd name="adj" fmla="val 2308"/>
            </a:avLst>
          </a:prstGeom>
          <a:solidFill>
            <a:srgbClr val="F2EEE7"/>
          </a:solidFill>
          <a:ln w="12700">
            <a:solidFill>
              <a:srgbClr val="DED7CB"/>
            </a:solidFill>
            <a:prstDash val="solid"/>
          </a:ln>
        </p:spPr>
      </p:sp>
      <p:sp>
        <p:nvSpPr>
          <p:cNvPr id="5" name="Shape 3"/>
          <p:cNvSpPr/>
          <p:nvPr/>
        </p:nvSpPr>
        <p:spPr>
          <a:xfrm>
            <a:off x="1005840" y="2240280"/>
            <a:ext cx="566928" cy="566928"/>
          </a:xfrm>
          <a:prstGeom prst="ellipse">
            <a:avLst/>
          </a:prstGeom>
          <a:solidFill>
            <a:srgbClr val="FAF8F5"/>
          </a:solidFill>
          <a:ln w="12700">
            <a:solidFill>
              <a:srgbClr val="C99A38"/>
            </a:solidFill>
            <a:prstDash val="solid"/>
          </a:ln>
        </p:spPr>
      </p:sp>
      <p:sp>
        <p:nvSpPr>
          <p:cNvPr id="6" name="Text 4"/>
          <p:cNvSpPr/>
          <p:nvPr/>
        </p:nvSpPr>
        <p:spPr>
          <a:xfrm>
            <a:off x="1005840" y="2240280"/>
            <a:ext cx="566928" cy="566928"/>
          </a:xfrm>
          <a:prstGeom prst="rect">
            <a:avLst/>
          </a:prstGeom>
          <a:noFill/>
          <a:ln/>
        </p:spPr>
        <p:txBody>
          <a:bodyPr wrap="square" lIns="0" tIns="0" rIns="0" bIns="0" rtlCol="0" anchor="ctr"/>
          <a:lstStyle/>
          <a:p>
            <a:pPr algn="ctr" indent="0" marL="0">
              <a:buNone/>
            </a:pPr>
            <a:r>
              <a:rPr lang="en-US" sz="1700" b="1" dirty="0">
                <a:solidFill>
                  <a:srgbClr val="C99A38"/>
                </a:solidFill>
                <a:latin typeface="Cambria" pitchFamily="34" charset="0"/>
                <a:ea typeface="Cambria" pitchFamily="34" charset="-122"/>
                <a:cs typeface="Cambria" pitchFamily="34" charset="-120"/>
              </a:rPr>
              <a:t>LM</a:t>
            </a:r>
            <a:endParaRPr lang="en-US" sz="1700" dirty="0"/>
          </a:p>
        </p:txBody>
      </p:sp>
      <p:sp>
        <p:nvSpPr>
          <p:cNvPr id="7" name="Text 5"/>
          <p:cNvSpPr/>
          <p:nvPr/>
        </p:nvSpPr>
        <p:spPr>
          <a:xfrm>
            <a:off x="1737360" y="2240280"/>
            <a:ext cx="4023360" cy="320040"/>
          </a:xfrm>
          <a:prstGeom prst="rect">
            <a:avLst/>
          </a:prstGeom>
          <a:noFill/>
          <a:ln/>
        </p:spPr>
        <p:txBody>
          <a:bodyPr wrap="square" lIns="0" tIns="0" rIns="0" bIns="0" rtlCol="0" anchor="ctr"/>
          <a:lstStyle/>
          <a:p>
            <a:pPr indent="0" marL="0">
              <a:buNone/>
            </a:pPr>
            <a:r>
              <a:rPr lang="en-US" sz="2100" b="1" dirty="0">
                <a:solidFill>
                  <a:srgbClr val="181510"/>
                </a:solidFill>
                <a:latin typeface="Cambria" pitchFamily="34" charset="0"/>
                <a:ea typeface="Cambria" pitchFamily="34" charset="-122"/>
                <a:cs typeface="Cambria" pitchFamily="34" charset="-120"/>
              </a:rPr>
              <a:t>Lance Morrison</a:t>
            </a:r>
            <a:endParaRPr lang="en-US" sz="2100" dirty="0"/>
          </a:p>
        </p:txBody>
      </p:sp>
      <p:sp>
        <p:nvSpPr>
          <p:cNvPr id="8" name="Text 6"/>
          <p:cNvSpPr/>
          <p:nvPr/>
        </p:nvSpPr>
        <p:spPr>
          <a:xfrm>
            <a:off x="1737360" y="2578608"/>
            <a:ext cx="4023360" cy="256032"/>
          </a:xfrm>
          <a:prstGeom prst="rect">
            <a:avLst/>
          </a:prstGeom>
          <a:noFill/>
          <a:ln/>
        </p:spPr>
        <p:txBody>
          <a:bodyPr wrap="square" lIns="0" tIns="0" rIns="0" bIns="0" rtlCol="0" anchor="ctr"/>
          <a:lstStyle/>
          <a:p>
            <a:pPr indent="0" marL="0">
              <a:buNone/>
            </a:pPr>
            <a:r>
              <a:rPr lang="en-US" sz="1000" b="1" spc="200" kern="0" dirty="0">
                <a:solidFill>
                  <a:srgbClr val="C99A38"/>
                </a:solidFill>
                <a:latin typeface="Calibri" pitchFamily="34" charset="0"/>
                <a:ea typeface="Calibri" pitchFamily="34" charset="-122"/>
                <a:cs typeface="Calibri" pitchFamily="34" charset="-120"/>
              </a:rPr>
              <a:t>FOUNDER &amp; CEO</a:t>
            </a:r>
            <a:endParaRPr lang="en-US" sz="1000" dirty="0"/>
          </a:p>
        </p:txBody>
      </p:sp>
      <p:sp>
        <p:nvSpPr>
          <p:cNvPr id="9" name="Text 7"/>
          <p:cNvSpPr/>
          <p:nvPr/>
        </p:nvSpPr>
        <p:spPr>
          <a:xfrm>
            <a:off x="1005840" y="3063240"/>
            <a:ext cx="4709160" cy="109728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Built and ships the entire product — the iOS app, the backend, the identity integration and the on-chain ledger. Runs the App Store releases and the public record.</a:t>
            </a:r>
            <a:endParaRPr lang="en-US" sz="1200" dirty="0"/>
          </a:p>
        </p:txBody>
      </p:sp>
      <p:sp>
        <p:nvSpPr>
          <p:cNvPr id="10" name="Shape 8"/>
          <p:cNvSpPr/>
          <p:nvPr/>
        </p:nvSpPr>
        <p:spPr>
          <a:xfrm>
            <a:off x="6217920" y="1920240"/>
            <a:ext cx="5303520" cy="2377440"/>
          </a:xfrm>
          <a:prstGeom prst="roundRect">
            <a:avLst>
              <a:gd name="adj" fmla="val 2308"/>
            </a:avLst>
          </a:prstGeom>
          <a:solidFill>
            <a:srgbClr val="F2EEE7"/>
          </a:solidFill>
          <a:ln w="12700">
            <a:solidFill>
              <a:srgbClr val="DED7CB"/>
            </a:solidFill>
            <a:prstDash val="solid"/>
          </a:ln>
        </p:spPr>
      </p:sp>
      <p:sp>
        <p:nvSpPr>
          <p:cNvPr id="11" name="Shape 9"/>
          <p:cNvSpPr/>
          <p:nvPr/>
        </p:nvSpPr>
        <p:spPr>
          <a:xfrm>
            <a:off x="6537960" y="2240280"/>
            <a:ext cx="566928" cy="566928"/>
          </a:xfrm>
          <a:prstGeom prst="ellipse">
            <a:avLst/>
          </a:prstGeom>
          <a:solidFill>
            <a:srgbClr val="FAF8F5"/>
          </a:solidFill>
          <a:ln w="12700">
            <a:solidFill>
              <a:srgbClr val="C99A38"/>
            </a:solidFill>
            <a:prstDash val="solid"/>
          </a:ln>
        </p:spPr>
      </p:sp>
      <p:sp>
        <p:nvSpPr>
          <p:cNvPr id="12" name="Text 10"/>
          <p:cNvSpPr/>
          <p:nvPr/>
        </p:nvSpPr>
        <p:spPr>
          <a:xfrm>
            <a:off x="6537960" y="2240280"/>
            <a:ext cx="566928" cy="566928"/>
          </a:xfrm>
          <a:prstGeom prst="rect">
            <a:avLst/>
          </a:prstGeom>
          <a:noFill/>
          <a:ln/>
        </p:spPr>
        <p:txBody>
          <a:bodyPr wrap="square" lIns="0" tIns="0" rIns="0" bIns="0" rtlCol="0" anchor="ctr"/>
          <a:lstStyle/>
          <a:p>
            <a:pPr algn="ctr" indent="0" marL="0">
              <a:buNone/>
            </a:pPr>
            <a:r>
              <a:rPr lang="en-US" sz="1700" b="1" dirty="0">
                <a:solidFill>
                  <a:srgbClr val="C99A38"/>
                </a:solidFill>
                <a:latin typeface="Cambria" pitchFamily="34" charset="0"/>
                <a:ea typeface="Cambria" pitchFamily="34" charset="-122"/>
                <a:cs typeface="Cambria" pitchFamily="34" charset="-120"/>
              </a:rPr>
              <a:t>DM</a:t>
            </a:r>
            <a:endParaRPr lang="en-US" sz="1700" dirty="0"/>
          </a:p>
        </p:txBody>
      </p:sp>
      <p:sp>
        <p:nvSpPr>
          <p:cNvPr id="13" name="Text 11"/>
          <p:cNvSpPr/>
          <p:nvPr/>
        </p:nvSpPr>
        <p:spPr>
          <a:xfrm>
            <a:off x="7269480" y="2240280"/>
            <a:ext cx="4023360" cy="320040"/>
          </a:xfrm>
          <a:prstGeom prst="rect">
            <a:avLst/>
          </a:prstGeom>
          <a:noFill/>
          <a:ln/>
        </p:spPr>
        <p:txBody>
          <a:bodyPr wrap="square" lIns="0" tIns="0" rIns="0" bIns="0" rtlCol="0" anchor="ctr"/>
          <a:lstStyle/>
          <a:p>
            <a:pPr indent="0" marL="0">
              <a:buNone/>
            </a:pPr>
            <a:r>
              <a:rPr lang="en-US" sz="2100" b="1" dirty="0">
                <a:solidFill>
                  <a:srgbClr val="181510"/>
                </a:solidFill>
                <a:latin typeface="Cambria" pitchFamily="34" charset="0"/>
                <a:ea typeface="Cambria" pitchFamily="34" charset="-122"/>
                <a:cs typeface="Cambria" pitchFamily="34" charset="-120"/>
              </a:rPr>
              <a:t>Daniel Morrison</a:t>
            </a:r>
            <a:endParaRPr lang="en-US" sz="2100" dirty="0"/>
          </a:p>
        </p:txBody>
      </p:sp>
      <p:sp>
        <p:nvSpPr>
          <p:cNvPr id="14" name="Text 12"/>
          <p:cNvSpPr/>
          <p:nvPr/>
        </p:nvSpPr>
        <p:spPr>
          <a:xfrm>
            <a:off x="7269480" y="2578608"/>
            <a:ext cx="4023360" cy="256032"/>
          </a:xfrm>
          <a:prstGeom prst="rect">
            <a:avLst/>
          </a:prstGeom>
          <a:noFill/>
          <a:ln/>
        </p:spPr>
        <p:txBody>
          <a:bodyPr wrap="square" lIns="0" tIns="0" rIns="0" bIns="0" rtlCol="0" anchor="ctr"/>
          <a:lstStyle/>
          <a:p>
            <a:pPr indent="0" marL="0">
              <a:buNone/>
            </a:pPr>
            <a:r>
              <a:rPr lang="en-US" sz="1000" b="1" spc="200" kern="0" dirty="0">
                <a:solidFill>
                  <a:srgbClr val="C99A38"/>
                </a:solidFill>
                <a:latin typeface="Calibri" pitchFamily="34" charset="0"/>
                <a:ea typeface="Calibri" pitchFamily="34" charset="-122"/>
                <a:cs typeface="Calibri" pitchFamily="34" charset="-120"/>
              </a:rPr>
              <a:t>CO-FOUNDER</a:t>
            </a:r>
            <a:endParaRPr lang="en-US" sz="1000" dirty="0"/>
          </a:p>
        </p:txBody>
      </p:sp>
      <p:sp>
        <p:nvSpPr>
          <p:cNvPr id="15" name="Text 13"/>
          <p:cNvSpPr/>
          <p:nvPr/>
        </p:nvSpPr>
        <p:spPr>
          <a:xfrm>
            <a:off x="6537960" y="3063240"/>
            <a:ext cx="4709160" cy="109728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Operations and go-to-market.</a:t>
            </a:r>
            <a:endParaRPr lang="en-US" sz="1200" dirty="0"/>
          </a:p>
        </p:txBody>
      </p:sp>
      <p:sp>
        <p:nvSpPr>
          <p:cNvPr id="16" name="Shape 14"/>
          <p:cNvSpPr/>
          <p:nvPr/>
        </p:nvSpPr>
        <p:spPr>
          <a:xfrm>
            <a:off x="685800" y="4572000"/>
            <a:ext cx="10817352" cy="1234440"/>
          </a:xfrm>
          <a:prstGeom prst="roundRect">
            <a:avLst>
              <a:gd name="adj" fmla="val 4444"/>
            </a:avLst>
          </a:prstGeom>
          <a:solidFill>
            <a:srgbClr val="F2EEE7"/>
          </a:solidFill>
          <a:ln w="12700">
            <a:solidFill>
              <a:srgbClr val="DED7CB"/>
            </a:solidFill>
            <a:prstDash val="solid"/>
          </a:ln>
        </p:spPr>
      </p:sp>
      <p:sp>
        <p:nvSpPr>
          <p:cNvPr id="17" name="Text 15"/>
          <p:cNvSpPr/>
          <p:nvPr/>
        </p:nvSpPr>
        <p:spPr>
          <a:xfrm>
            <a:off x="960120" y="4846320"/>
            <a:ext cx="10241280" cy="777240"/>
          </a:xfrm>
          <a:prstGeom prst="rect">
            <a:avLst/>
          </a:prstGeom>
          <a:noFill/>
          <a:ln/>
        </p:spPr>
        <p:txBody>
          <a:bodyPr wrap="square" lIns="0" tIns="0" rIns="0" bIns="0" rtlCol="0" anchor="ctr"/>
          <a:lstStyle/>
          <a:p>
            <a:pPr indent="0" marL="0">
              <a:buNone/>
            </a:pPr>
            <a:r>
              <a:rPr lang="en-US" sz="1300" b="1" dirty="0">
                <a:solidFill>
                  <a:srgbClr val="181510"/>
                </a:solidFill>
                <a:latin typeface="Calibri" pitchFamily="34" charset="0"/>
                <a:ea typeface="Calibri" pitchFamily="34" charset="-122"/>
                <a:cs typeface="Calibri" pitchFamily="34" charset="-120"/>
              </a:rPr>
              <a:t>Both founders take $7,500/month — below market for either role. </a:t>
            </a:r>
            <a:pPr indent="0" marL="0">
              <a:buNone/>
            </a:pPr>
            <a:r>
              <a:rPr lang="en-US" sz="1300" dirty="0">
                <a:solidFill>
                  <a:srgbClr val="6B655C"/>
                </a:solidFill>
                <a:latin typeface="Calibri" pitchFamily="34" charset="0"/>
                <a:ea typeface="Calibri" pitchFamily="34" charset="-122"/>
                <a:cs typeface="Calibri" pitchFamily="34" charset="-120"/>
              </a:rPr>
              <a:t>No other staff until Stage 5, by which point the company has 20,000 verified users and paying organizations.</a:t>
            </a:r>
            <a:endParaRPr lang="en-US" sz="1300" dirty="0"/>
          </a:p>
        </p:txBody>
      </p:sp>
      <p:sp>
        <p:nvSpPr>
          <p:cNvPr id="18" name="Text 16"/>
          <p:cNvSpPr/>
          <p:nvPr/>
        </p:nvSpPr>
        <p:spPr>
          <a:xfrm>
            <a:off x="685800" y="6382512"/>
            <a:ext cx="2743200" cy="228600"/>
          </a:xfrm>
          <a:prstGeom prst="rect">
            <a:avLst/>
          </a:prstGeom>
          <a:noFill/>
          <a:ln/>
        </p:spPr>
        <p:txBody>
          <a:bodyPr wrap="square" lIns="0" tIns="0" rIns="0" bIns="0" rtlCol="0" anchor="ctr"/>
          <a:lstStyle/>
          <a:p>
            <a:pPr indent="0" marL="0">
              <a:buNone/>
            </a:pPr>
            <a:r>
              <a:rPr lang="en-US" sz="850" b="1" spc="250" kern="0" dirty="0">
                <a:solidFill>
                  <a:srgbClr val="6B655C"/>
                </a:solidFill>
                <a:latin typeface="Calibri" pitchFamily="34" charset="0"/>
                <a:ea typeface="Calibri" pitchFamily="34" charset="-122"/>
                <a:cs typeface="Calibri" pitchFamily="34" charset="-120"/>
              </a:rPr>
              <a:t>REPRESENT</a:t>
            </a:r>
            <a:endParaRPr lang="en-US" sz="850" dirty="0"/>
          </a:p>
        </p:txBody>
      </p:sp>
      <p:sp>
        <p:nvSpPr>
          <p:cNvPr id="19" name="Text 17"/>
          <p:cNvSpPr/>
          <p:nvPr/>
        </p:nvSpPr>
        <p:spPr>
          <a:xfrm>
            <a:off x="10591495" y="6382512"/>
            <a:ext cx="914400" cy="228600"/>
          </a:xfrm>
          <a:prstGeom prst="rect">
            <a:avLst/>
          </a:prstGeom>
          <a:noFill/>
          <a:ln/>
        </p:spPr>
        <p:txBody>
          <a:bodyPr wrap="square" lIns="0" tIns="0" rIns="0" bIns="0" rtlCol="0" anchor="ctr"/>
          <a:lstStyle/>
          <a:p>
            <a:pPr algn="r" indent="0" marL="0">
              <a:buNone/>
            </a:pPr>
            <a:r>
              <a:rPr lang="en-US" sz="850" dirty="0">
                <a:solidFill>
                  <a:srgbClr val="6B655C"/>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01488" y="1600200"/>
            <a:ext cx="1188720" cy="1188720"/>
          </a:xfrm>
          <a:prstGeom prst="rect">
            <a:avLst/>
          </a:prstGeom>
        </p:spPr>
      </p:pic>
      <p:sp>
        <p:nvSpPr>
          <p:cNvPr id="3" name="Text 0"/>
          <p:cNvSpPr/>
          <p:nvPr/>
        </p:nvSpPr>
        <p:spPr>
          <a:xfrm>
            <a:off x="0" y="3063240"/>
            <a:ext cx="12191695" cy="685800"/>
          </a:xfrm>
          <a:prstGeom prst="rect">
            <a:avLst/>
          </a:prstGeom>
          <a:noFill/>
          <a:ln/>
        </p:spPr>
        <p:txBody>
          <a:bodyPr wrap="square" lIns="0" tIns="0" rIns="0" bIns="0" rtlCol="0" anchor="ctr"/>
          <a:lstStyle/>
          <a:p>
            <a:pPr algn="ctr" indent="0" marL="0">
              <a:buNone/>
            </a:pPr>
            <a:r>
              <a:rPr lang="en-US" sz="4000" dirty="0">
                <a:solidFill>
                  <a:srgbClr val="F4F5F6"/>
                </a:solidFill>
                <a:latin typeface="Cambria" pitchFamily="34" charset="0"/>
                <a:ea typeface="Cambria" pitchFamily="34" charset="-122"/>
                <a:cs typeface="Cambria" pitchFamily="34" charset="-120"/>
              </a:rPr>
              <a:t>One verified human. One vote.</a:t>
            </a:r>
            <a:endParaRPr lang="en-US" sz="4000" dirty="0"/>
          </a:p>
        </p:txBody>
      </p:sp>
      <p:sp>
        <p:nvSpPr>
          <p:cNvPr id="4" name="Shape 1"/>
          <p:cNvSpPr/>
          <p:nvPr/>
        </p:nvSpPr>
        <p:spPr>
          <a:xfrm>
            <a:off x="3786988" y="3977640"/>
            <a:ext cx="118872" cy="118872"/>
          </a:xfrm>
          <a:prstGeom prst="ellipse">
            <a:avLst/>
          </a:prstGeom>
          <a:solidFill>
            <a:srgbClr val="EABA58"/>
          </a:solidFill>
          <a:ln/>
        </p:spPr>
      </p:sp>
      <p:sp>
        <p:nvSpPr>
          <p:cNvPr id="5" name="Shape 2"/>
          <p:cNvSpPr/>
          <p:nvPr/>
        </p:nvSpPr>
        <p:spPr>
          <a:xfrm>
            <a:off x="3974440" y="3977640"/>
            <a:ext cx="118872" cy="118872"/>
          </a:xfrm>
          <a:prstGeom prst="ellipse">
            <a:avLst/>
          </a:prstGeom>
          <a:solidFill>
            <a:srgbClr val="EABA58"/>
          </a:solidFill>
          <a:ln/>
        </p:spPr>
      </p:sp>
      <p:sp>
        <p:nvSpPr>
          <p:cNvPr id="6" name="Shape 3"/>
          <p:cNvSpPr/>
          <p:nvPr/>
        </p:nvSpPr>
        <p:spPr>
          <a:xfrm>
            <a:off x="4161892" y="3977640"/>
            <a:ext cx="118872" cy="118872"/>
          </a:xfrm>
          <a:prstGeom prst="ellipse">
            <a:avLst/>
          </a:prstGeom>
          <a:solidFill>
            <a:srgbClr val="EABA58"/>
          </a:solidFill>
          <a:ln/>
        </p:spPr>
      </p:sp>
      <p:sp>
        <p:nvSpPr>
          <p:cNvPr id="7" name="Shape 4"/>
          <p:cNvSpPr/>
          <p:nvPr/>
        </p:nvSpPr>
        <p:spPr>
          <a:xfrm>
            <a:off x="4349344" y="3977640"/>
            <a:ext cx="118872" cy="118872"/>
          </a:xfrm>
          <a:prstGeom prst="ellipse">
            <a:avLst/>
          </a:prstGeom>
          <a:solidFill>
            <a:srgbClr val="EABA58"/>
          </a:solidFill>
          <a:ln/>
        </p:spPr>
      </p:sp>
      <p:sp>
        <p:nvSpPr>
          <p:cNvPr id="8" name="Shape 5"/>
          <p:cNvSpPr/>
          <p:nvPr/>
        </p:nvSpPr>
        <p:spPr>
          <a:xfrm>
            <a:off x="4536796" y="3977640"/>
            <a:ext cx="118872" cy="118872"/>
          </a:xfrm>
          <a:prstGeom prst="ellipse">
            <a:avLst/>
          </a:prstGeom>
          <a:solidFill>
            <a:srgbClr val="EABA58"/>
          </a:solidFill>
          <a:ln/>
        </p:spPr>
      </p:sp>
      <p:sp>
        <p:nvSpPr>
          <p:cNvPr id="9" name="Shape 6"/>
          <p:cNvSpPr/>
          <p:nvPr/>
        </p:nvSpPr>
        <p:spPr>
          <a:xfrm>
            <a:off x="4724248" y="3977640"/>
            <a:ext cx="118872" cy="118872"/>
          </a:xfrm>
          <a:prstGeom prst="ellipse">
            <a:avLst/>
          </a:prstGeom>
          <a:solidFill>
            <a:srgbClr val="EABA58"/>
          </a:solidFill>
          <a:ln/>
        </p:spPr>
      </p:sp>
      <p:sp>
        <p:nvSpPr>
          <p:cNvPr id="10" name="Shape 7"/>
          <p:cNvSpPr/>
          <p:nvPr/>
        </p:nvSpPr>
        <p:spPr>
          <a:xfrm>
            <a:off x="4911700" y="3977640"/>
            <a:ext cx="118872" cy="118872"/>
          </a:xfrm>
          <a:prstGeom prst="ellipse">
            <a:avLst/>
          </a:prstGeom>
          <a:solidFill>
            <a:srgbClr val="EABA58"/>
          </a:solidFill>
          <a:ln/>
        </p:spPr>
      </p:sp>
      <p:sp>
        <p:nvSpPr>
          <p:cNvPr id="11" name="Shape 8"/>
          <p:cNvSpPr/>
          <p:nvPr/>
        </p:nvSpPr>
        <p:spPr>
          <a:xfrm>
            <a:off x="5099152" y="3977640"/>
            <a:ext cx="118872" cy="118872"/>
          </a:xfrm>
          <a:prstGeom prst="ellipse">
            <a:avLst/>
          </a:prstGeom>
          <a:solidFill>
            <a:srgbClr val="EABA58"/>
          </a:solidFill>
          <a:ln/>
        </p:spPr>
      </p:sp>
      <p:sp>
        <p:nvSpPr>
          <p:cNvPr id="12" name="Shape 9"/>
          <p:cNvSpPr/>
          <p:nvPr/>
        </p:nvSpPr>
        <p:spPr>
          <a:xfrm>
            <a:off x="5286604" y="3977640"/>
            <a:ext cx="118872" cy="118872"/>
          </a:xfrm>
          <a:prstGeom prst="ellipse">
            <a:avLst/>
          </a:prstGeom>
          <a:solidFill>
            <a:srgbClr val="EABA58"/>
          </a:solidFill>
          <a:ln/>
        </p:spPr>
      </p:sp>
      <p:sp>
        <p:nvSpPr>
          <p:cNvPr id="13" name="Shape 10"/>
          <p:cNvSpPr/>
          <p:nvPr/>
        </p:nvSpPr>
        <p:spPr>
          <a:xfrm>
            <a:off x="5474056" y="3977640"/>
            <a:ext cx="118872" cy="118872"/>
          </a:xfrm>
          <a:prstGeom prst="ellipse">
            <a:avLst/>
          </a:prstGeom>
          <a:solidFill>
            <a:srgbClr val="EABA58"/>
          </a:solidFill>
          <a:ln/>
        </p:spPr>
      </p:sp>
      <p:sp>
        <p:nvSpPr>
          <p:cNvPr id="14" name="Shape 11"/>
          <p:cNvSpPr/>
          <p:nvPr/>
        </p:nvSpPr>
        <p:spPr>
          <a:xfrm>
            <a:off x="5661508" y="3977640"/>
            <a:ext cx="118872" cy="118872"/>
          </a:xfrm>
          <a:prstGeom prst="ellipse">
            <a:avLst/>
          </a:prstGeom>
          <a:solidFill>
            <a:srgbClr val="EABA58"/>
          </a:solidFill>
          <a:ln/>
        </p:spPr>
      </p:sp>
      <p:sp>
        <p:nvSpPr>
          <p:cNvPr id="15" name="Shape 12"/>
          <p:cNvSpPr/>
          <p:nvPr/>
        </p:nvSpPr>
        <p:spPr>
          <a:xfrm>
            <a:off x="5848960" y="3977640"/>
            <a:ext cx="118872" cy="118872"/>
          </a:xfrm>
          <a:prstGeom prst="ellipse">
            <a:avLst/>
          </a:prstGeom>
          <a:solidFill>
            <a:srgbClr val="EABA58"/>
          </a:solidFill>
          <a:ln/>
        </p:spPr>
      </p:sp>
      <p:sp>
        <p:nvSpPr>
          <p:cNvPr id="16" name="Shape 13"/>
          <p:cNvSpPr/>
          <p:nvPr/>
        </p:nvSpPr>
        <p:spPr>
          <a:xfrm>
            <a:off x="6036412" y="3977640"/>
            <a:ext cx="118872" cy="118872"/>
          </a:xfrm>
          <a:prstGeom prst="ellipse">
            <a:avLst/>
          </a:prstGeom>
          <a:solidFill>
            <a:srgbClr val="EABA58"/>
          </a:solidFill>
          <a:ln/>
        </p:spPr>
      </p:sp>
      <p:sp>
        <p:nvSpPr>
          <p:cNvPr id="17" name="Shape 14"/>
          <p:cNvSpPr/>
          <p:nvPr/>
        </p:nvSpPr>
        <p:spPr>
          <a:xfrm>
            <a:off x="6223864" y="3977640"/>
            <a:ext cx="118872" cy="118872"/>
          </a:xfrm>
          <a:prstGeom prst="ellipse">
            <a:avLst/>
          </a:prstGeom>
          <a:solidFill>
            <a:srgbClr val="EABA58"/>
          </a:solidFill>
          <a:ln/>
        </p:spPr>
      </p:sp>
      <p:sp>
        <p:nvSpPr>
          <p:cNvPr id="18" name="Shape 15"/>
          <p:cNvSpPr/>
          <p:nvPr/>
        </p:nvSpPr>
        <p:spPr>
          <a:xfrm>
            <a:off x="6411316" y="3977640"/>
            <a:ext cx="118872" cy="118872"/>
          </a:xfrm>
          <a:prstGeom prst="ellipse">
            <a:avLst/>
          </a:prstGeom>
          <a:solidFill>
            <a:srgbClr val="EABA58"/>
          </a:solidFill>
          <a:ln/>
        </p:spPr>
      </p:sp>
      <p:sp>
        <p:nvSpPr>
          <p:cNvPr id="19" name="Shape 16"/>
          <p:cNvSpPr/>
          <p:nvPr/>
        </p:nvSpPr>
        <p:spPr>
          <a:xfrm>
            <a:off x="6598768" y="3977640"/>
            <a:ext cx="118872" cy="118872"/>
          </a:xfrm>
          <a:prstGeom prst="ellipse">
            <a:avLst/>
          </a:prstGeom>
          <a:solidFill>
            <a:srgbClr val="EABA58"/>
          </a:solidFill>
          <a:ln/>
        </p:spPr>
      </p:sp>
      <p:sp>
        <p:nvSpPr>
          <p:cNvPr id="20" name="Shape 17"/>
          <p:cNvSpPr/>
          <p:nvPr/>
        </p:nvSpPr>
        <p:spPr>
          <a:xfrm>
            <a:off x="6786220" y="3977640"/>
            <a:ext cx="118872" cy="118872"/>
          </a:xfrm>
          <a:prstGeom prst="ellipse">
            <a:avLst/>
          </a:prstGeom>
          <a:solidFill>
            <a:srgbClr val="EABA58"/>
          </a:solidFill>
          <a:ln/>
        </p:spPr>
      </p:sp>
      <p:sp>
        <p:nvSpPr>
          <p:cNvPr id="21" name="Shape 18"/>
          <p:cNvSpPr/>
          <p:nvPr/>
        </p:nvSpPr>
        <p:spPr>
          <a:xfrm>
            <a:off x="6973672" y="3977640"/>
            <a:ext cx="118872" cy="118872"/>
          </a:xfrm>
          <a:prstGeom prst="ellipse">
            <a:avLst/>
          </a:prstGeom>
          <a:solidFill>
            <a:srgbClr val="EABA58"/>
          </a:solidFill>
          <a:ln/>
        </p:spPr>
      </p:sp>
      <p:sp>
        <p:nvSpPr>
          <p:cNvPr id="22" name="Shape 19"/>
          <p:cNvSpPr/>
          <p:nvPr/>
        </p:nvSpPr>
        <p:spPr>
          <a:xfrm>
            <a:off x="7161124" y="3977640"/>
            <a:ext cx="118872" cy="118872"/>
          </a:xfrm>
          <a:prstGeom prst="ellipse">
            <a:avLst/>
          </a:prstGeom>
          <a:solidFill>
            <a:srgbClr val="EABA58"/>
          </a:solidFill>
          <a:ln/>
        </p:spPr>
      </p:sp>
      <p:sp>
        <p:nvSpPr>
          <p:cNvPr id="23" name="Shape 20"/>
          <p:cNvSpPr/>
          <p:nvPr/>
        </p:nvSpPr>
        <p:spPr>
          <a:xfrm>
            <a:off x="7348576" y="3977640"/>
            <a:ext cx="118872" cy="118872"/>
          </a:xfrm>
          <a:prstGeom prst="ellipse">
            <a:avLst/>
          </a:prstGeom>
          <a:solidFill>
            <a:srgbClr val="EABA58"/>
          </a:solidFill>
          <a:ln/>
        </p:spPr>
      </p:sp>
      <p:sp>
        <p:nvSpPr>
          <p:cNvPr id="24" name="Shape 21"/>
          <p:cNvSpPr/>
          <p:nvPr/>
        </p:nvSpPr>
        <p:spPr>
          <a:xfrm>
            <a:off x="7536028" y="3977640"/>
            <a:ext cx="118872" cy="118872"/>
          </a:xfrm>
          <a:prstGeom prst="ellipse">
            <a:avLst/>
          </a:prstGeom>
          <a:solidFill>
            <a:srgbClr val="EABA58"/>
          </a:solidFill>
          <a:ln/>
        </p:spPr>
      </p:sp>
      <p:sp>
        <p:nvSpPr>
          <p:cNvPr id="25" name="Shape 22"/>
          <p:cNvSpPr/>
          <p:nvPr/>
        </p:nvSpPr>
        <p:spPr>
          <a:xfrm>
            <a:off x="7723480" y="3977640"/>
            <a:ext cx="118872" cy="118872"/>
          </a:xfrm>
          <a:prstGeom prst="ellipse">
            <a:avLst/>
          </a:prstGeom>
          <a:solidFill>
            <a:srgbClr val="EABA58"/>
          </a:solidFill>
          <a:ln/>
        </p:spPr>
      </p:sp>
      <p:sp>
        <p:nvSpPr>
          <p:cNvPr id="26" name="Shape 23"/>
          <p:cNvSpPr/>
          <p:nvPr/>
        </p:nvSpPr>
        <p:spPr>
          <a:xfrm>
            <a:off x="7910932" y="3977640"/>
            <a:ext cx="118872" cy="118872"/>
          </a:xfrm>
          <a:prstGeom prst="ellipse">
            <a:avLst/>
          </a:prstGeom>
          <a:solidFill>
            <a:srgbClr val="EABA58"/>
          </a:solidFill>
          <a:ln/>
        </p:spPr>
      </p:sp>
      <p:sp>
        <p:nvSpPr>
          <p:cNvPr id="27" name="Shape 24"/>
          <p:cNvSpPr/>
          <p:nvPr/>
        </p:nvSpPr>
        <p:spPr>
          <a:xfrm>
            <a:off x="8098384" y="3977640"/>
            <a:ext cx="118872" cy="118872"/>
          </a:xfrm>
          <a:prstGeom prst="ellipse">
            <a:avLst/>
          </a:prstGeom>
          <a:solidFill>
            <a:srgbClr val="EABA58"/>
          </a:solidFill>
          <a:ln/>
        </p:spPr>
      </p:sp>
      <p:sp>
        <p:nvSpPr>
          <p:cNvPr id="28" name="Shape 25"/>
          <p:cNvSpPr/>
          <p:nvPr/>
        </p:nvSpPr>
        <p:spPr>
          <a:xfrm>
            <a:off x="8285836" y="3977640"/>
            <a:ext cx="118872" cy="118872"/>
          </a:xfrm>
          <a:prstGeom prst="ellipse">
            <a:avLst/>
          </a:prstGeom>
          <a:solidFill>
            <a:srgbClr val="EABA58"/>
          </a:solidFill>
          <a:ln/>
        </p:spPr>
      </p:sp>
      <p:sp>
        <p:nvSpPr>
          <p:cNvPr id="29" name="Text 26"/>
          <p:cNvSpPr/>
          <p:nvPr/>
        </p:nvSpPr>
        <p:spPr>
          <a:xfrm>
            <a:off x="1737360" y="4434840"/>
            <a:ext cx="8686800" cy="457200"/>
          </a:xfrm>
          <a:prstGeom prst="rect">
            <a:avLst/>
          </a:prstGeom>
          <a:noFill/>
          <a:ln/>
        </p:spPr>
        <p:txBody>
          <a:bodyPr wrap="square" lIns="0" tIns="0" rIns="0" bIns="0" rtlCol="0" anchor="ctr"/>
          <a:lstStyle/>
          <a:p>
            <a:pPr algn="ctr" indent="0" marL="0">
              <a:buNone/>
            </a:pPr>
            <a:r>
              <a:rPr lang="en-US" sz="1400" i="1" dirty="0">
                <a:solidFill>
                  <a:srgbClr val="EABA58"/>
                </a:solidFill>
                <a:latin typeface="Cambria" pitchFamily="34" charset="0"/>
                <a:ea typeface="Cambria" pitchFamily="34" charset="-122"/>
                <a:cs typeface="Cambria" pitchFamily="34" charset="-120"/>
              </a:rPr>
              <a:t>Everything in this deck that is described as built, is built. Everything that is a target, is labelled as one.</a:t>
            </a:r>
            <a:endParaRPr lang="en-US" sz="1400" dirty="0"/>
          </a:p>
        </p:txBody>
      </p:sp>
      <p:sp>
        <p:nvSpPr>
          <p:cNvPr id="30" name="Text 27"/>
          <p:cNvSpPr/>
          <p:nvPr/>
        </p:nvSpPr>
        <p:spPr>
          <a:xfrm>
            <a:off x="0" y="5349240"/>
            <a:ext cx="12191695" cy="320040"/>
          </a:xfrm>
          <a:prstGeom prst="rect">
            <a:avLst/>
          </a:prstGeom>
          <a:noFill/>
          <a:ln/>
        </p:spPr>
        <p:txBody>
          <a:bodyPr wrap="square" lIns="0" tIns="0" rIns="0" bIns="0" rtlCol="0" anchor="ctr"/>
          <a:lstStyle/>
          <a:p>
            <a:pPr algn="ctr" indent="0" marL="0">
              <a:buNone/>
            </a:pPr>
            <a:r>
              <a:rPr lang="en-US" sz="1350" dirty="0">
                <a:solidFill>
                  <a:srgbClr val="B8BABB"/>
                </a:solidFill>
                <a:latin typeface="Calibri" pitchFamily="34" charset="0"/>
                <a:ea typeface="Calibri" pitchFamily="34" charset="-122"/>
                <a:cs typeface="Calibri" pitchFamily="34" charset="-120"/>
              </a:rPr>
              <a:t>representvote.com   ·   lance403morrison@gmail.com</a:t>
            </a:r>
            <a:endParaRPr lang="en-US" sz="1350" dirty="0"/>
          </a:p>
        </p:txBody>
      </p:sp>
      <p:sp>
        <p:nvSpPr>
          <p:cNvPr id="31" name="Text 28"/>
          <p:cNvSpPr/>
          <p:nvPr/>
        </p:nvSpPr>
        <p:spPr>
          <a:xfrm>
            <a:off x="0" y="5989320"/>
            <a:ext cx="12191695" cy="274320"/>
          </a:xfrm>
          <a:prstGeom prst="rect">
            <a:avLst/>
          </a:prstGeom>
          <a:noFill/>
          <a:ln/>
        </p:spPr>
        <p:txBody>
          <a:bodyPr wrap="square" lIns="0" tIns="0" rIns="0" bIns="0" rtlCol="0" anchor="ctr"/>
          <a:lstStyle/>
          <a:p>
            <a:pPr algn="ctr" indent="0" marL="0">
              <a:buNone/>
            </a:pPr>
            <a:r>
              <a:rPr lang="en-US" sz="950" spc="200" kern="0" dirty="0">
                <a:solidFill>
                  <a:srgbClr val="7A7D7E"/>
                </a:solidFill>
                <a:latin typeface="Calibri" pitchFamily="34" charset="0"/>
                <a:ea typeface="Calibri" pitchFamily="34" charset="-122"/>
                <a:cs typeface="Calibri" pitchFamily="34" charset="-120"/>
              </a:rPr>
              <a:t>Confidential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 — Investment Proposal</dc:title>
  <dc:subject>PptxGenJS Presentation</dc:subject>
  <dc:creator>Lance Morrison</dc:creator>
  <cp:lastModifiedBy>Lance Morrison</cp:lastModifiedBy>
  <cp:revision>1</cp:revision>
  <dcterms:created xsi:type="dcterms:W3CDTF">2026-07-26T00:30:58Z</dcterms:created>
  <dcterms:modified xsi:type="dcterms:W3CDTF">2026-07-26T00:30:58Z</dcterms:modified>
</cp:coreProperties>
</file>