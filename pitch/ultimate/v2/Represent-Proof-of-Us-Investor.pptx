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Lance Morrison. I started building this at my kitchen table in Calgary. Today it’s a live app where a real, verified human being can vote on a real civic question — and nobody can say the result was faked. I want to show you why that sentence is worth a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city wanted to know one thing: do you want the Olympics? It took a committee roughly three years and $2.2 million to ask. Over three hundred thousand of my neighbours answered — every dot on this slide is one of them. Here’s something I believe: hand people a real decision and they’ll surprise you. Calgary answered honestly, even when the answer was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morning after democracy worked, we tore the machine down. Not mothballed — dismantled. If Calgary wants to ask us anything else, we start again from zero: another committee, more years, more millions. Hold that image. Three hundred thousand voices, struck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isn’t a Calgary quirk — it’s the whole architecture. Since Confederation, Canada has put exactly three questions to its citizens; the last one was 1992. The United Kingdom, in its entire history: three. And the United States has never asked its people anything, nationally — because it legally can’t. Not won’t. Can’t. There is no machine to run it on. Look at the bottom line: it isn’t broken. It was never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citizens actually have between elections? Polls anyone can stuff. Petitions a script can sign. Town halls — whoever shows up. Comment sections — whoever shouts. And every one of them dies the same way: the second a decision-maker doesn’t like the answer, they say the magic words — ‘probably bots’ — and it’s over. The public speaks constantly. It just speaks in a format that’s built to be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turn. Very recently, it became possible to prove — from a phone, in about three minutes, for a few dollars — that a person is real, is who their government ID says they are, and lives where it says they live. That capability did not exist at any sane price when anyone last tried this. The moment it existed, something new became possible: a public voice that cannot be dismissed as bots. We built it. The rings behind me: the outer one is Calgary’s three years, drawn day by day. The inner one is our three minutes, drawn second by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 is dead simple. You verify once — ID plus a liveness check, about three minutes, and your documents are never stored. After that, every question is a real ballot: your city, your province, your country. You can’t vote twice, you can’t vote from somewhere you don’t live, and you can’t be a bot, because we already know you’re not. Calgary’s $2.2-million apparatus, permanently standing, in your pocket."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design decision answers one attack. Can’t be bots — every voter passed ID and liveness. Can’t be brigaded from out of town — the ID locks your region. Can’t be quietly edited — results are receipted on a public ledger, in pilot now. And no result even exists until ten verified ballots do — those bars of static stay sealed — so nobody can be singled out and nothing tiny masquerades as a movement. The product isn’t the voting. The product is the fact that the result survives scrutiny."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started pitching this, a coach I respect looked at it and said: tar pit. Smart people, famous backers, all sank here. He’s right about the bodies. Brigade had Sean Parker and roughly nine million dollars, and it’s gone. Countable, Votizen — gone. And when you read the autopsies, it’s the same story every time: their input was unverifiable, so it carried no weight — and nobody’s job depended on buying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tar-pit framing misses: those companies weren’t wrong about the demand — three separate teams found it — they were early on the supply. The thing that would have made their input undismissible — cheap, instant ID verification — arrived after they were gone. We start where they couldn’t. And unlike them, we knew from day one exactly who writes the cheque."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traction, without makeup: about 157 questions asked, about 190 ballots recorded, a few dozen verified users, live on the App Store today. We will not show you a vanity chart — these are the real numbers, at true scale, next to ten thousand of Calgary’s voters for reference. But notice what kind of small this is: every one of those gold dots handed us a government ID and looked into a camera to be counted. That’s the hardest signup in consumer software, and dozens of strangers already did it. Honest counting is literally the product — so the deck counts honestly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is anyone whose job is to say ‘the public wants this’ and get believed: advocacy groups, unions, municipalities, media. They pay monthly tiers from $59 to $499, plus one-time unlocks from $199 to $999 for bigger ballots. This isn’t hoped-for behaviour — ElectionBuddy and Simply Voting already prove organizations pay real money to run votes; we’re the version whose voters are verified citizens. And one thing is non-negotiable: a citizen never pays to vote. The day voting costs money, the whole thing means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not a technical founder. I’m the guy who cared enough to self-fund this from a kitchen table and refuse to stop until it was on the App Store — which it is: working, with real verified ballots and receipts on a real ledger. A cofounder has now joined me. Judge me on that gap: no pedigree, product live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capital stands, stated carefully: one million Canadian dollars — not raised, committed — by an angel, released in tranches as we hit verified-user milestones. I structured it that way on purpose: this company’s one honest metric is verified humans, so the money answers to it too. The ask today is to come into the round alongside that commitment, under the same discipline. [FOUNDER — state your one true ask here in a single sentence: the amount or range you want from this room, and what it buys. Never say ‘portions.’] You’re not funding a story about users — you’re funding capital that only moves when real, ID-verified people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where we started: my city spent $2.2 million and three years to ask one question, then tore the machine down before lunch the next day. That’s the whole pitch — we built the machine that doesn’t get torn down. It’s live, it’s verified, and every answer it produces can survive a hostile room, including this one. Three national questions in 159 years is not a ceiling. It’s a starting line. Come ask the next one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707"/>
        </a:solidFill>
      </p:bgPr>
    </p:bg>
    <p:spTree>
      <p:nvGrpSpPr>
        <p:cNvPr id="1" name=""/>
        <p:cNvGrpSpPr/>
        <p:nvPr/>
      </p:nvGrpSpPr>
      <p:grpSpPr>
        <a:xfrm>
          <a:off x="0" y="0"/>
          <a:ext cx="0" cy="0"/>
          <a:chOff x="0" y="0"/>
          <a:chExt cx="0" cy="0"/>
        </a:xfrm>
      </p:grpSpPr>
      <p:sp>
        <p:nvSpPr>
          <p:cNvPr id="3" name="Shape 0"/>
          <p:cNvSpPr/>
          <p:nvPr/>
        </p:nvSpPr>
        <p:spPr>
          <a:xfrm>
            <a:off x="6086704" y="2103120"/>
            <a:ext cx="18288" cy="457200"/>
          </a:xfrm>
          <a:prstGeom prst="rect">
            <a:avLst/>
          </a:prstGeom>
          <a:solidFill>
            <a:srgbClr val="EABA58"/>
          </a:solidFill>
          <a:ln/>
        </p:spPr>
      </p:sp>
      <p:sp>
        <p:nvSpPr>
          <p:cNvPr id="4" name="Text 1"/>
          <p:cNvSpPr txBox="1"/>
          <p:nvPr/>
        </p:nvSpPr>
        <p:spPr>
          <a:xfrm>
            <a:off x="0" y="2761488"/>
            <a:ext cx="12191695" cy="384048"/>
          </a:xfrm>
          <a:prstGeom prst="rect">
            <a:avLst/>
          </a:prstGeom>
          <a:noFill/>
          <a:ln/>
        </p:spPr>
        <p:txBody>
          <a:bodyPr wrap="square" lIns="0" tIns="0" rIns="0" bIns="0" rtlCol="0" anchor="ctr"/>
          <a:lstStyle/>
          <a:p>
            <a:pPr algn="ctr" indent="0" marL="0">
              <a:buNone/>
            </a:pPr>
            <a:r>
              <a:rPr lang="en-US" sz="2100" spc="600" kern="0" dirty="0">
                <a:solidFill>
                  <a:srgbClr val="F4F5F6"/>
                </a:solidFill>
                <a:latin typeface="Cambria" pitchFamily="34" charset="0"/>
                <a:ea typeface="Cambria" pitchFamily="34" charset="-122"/>
                <a:cs typeface="Cambria" pitchFamily="34" charset="-120"/>
              </a:rPr>
              <a:t>REPRESENT</a:t>
            </a:r>
            <a:endParaRPr lang="en-US" sz="2100" dirty="0"/>
          </a:p>
        </p:txBody>
      </p:sp>
      <p:sp>
        <p:nvSpPr>
          <p:cNvPr id="5" name="Text 2"/>
          <p:cNvSpPr txBox="1"/>
          <p:nvPr/>
        </p:nvSpPr>
        <p:spPr>
          <a:xfrm>
            <a:off x="0" y="3310128"/>
            <a:ext cx="12191695" cy="777240"/>
          </a:xfrm>
          <a:prstGeom prst="rect">
            <a:avLst/>
          </a:prstGeom>
          <a:noFill/>
          <a:ln/>
        </p:spPr>
        <p:txBody>
          <a:bodyPr wrap="square" lIns="0" tIns="0" rIns="0" bIns="0" rtlCol="0" anchor="ctr"/>
          <a:lstStyle/>
          <a:p>
            <a:pPr algn="ctr" indent="0" marL="0">
              <a:buNone/>
            </a:pPr>
            <a:r>
              <a:rPr lang="en-US" sz="4000" dirty="0">
                <a:solidFill>
                  <a:srgbClr val="F4F5F6"/>
                </a:solidFill>
                <a:latin typeface="Cambria" pitchFamily="34" charset="0"/>
                <a:ea typeface="Cambria" pitchFamily="34" charset="-122"/>
                <a:cs typeface="Cambria" pitchFamily="34" charset="-120"/>
              </a:rPr>
              <a:t>Proof of us</a:t>
            </a:r>
            <a:endParaRPr lang="en-US" sz="4000" dirty="0"/>
          </a:p>
        </p:txBody>
      </p:sp>
      <p:sp>
        <p:nvSpPr>
          <p:cNvPr id="6" name="Text 3"/>
          <p:cNvSpPr txBox="1"/>
          <p:nvPr/>
        </p:nvSpPr>
        <p:spPr>
          <a:xfrm>
            <a:off x="0" y="4315968"/>
            <a:ext cx="12191695" cy="274320"/>
          </a:xfrm>
          <a:prstGeom prst="rect">
            <a:avLst/>
          </a:prstGeom>
          <a:noFill/>
          <a:ln/>
        </p:spPr>
        <p:txBody>
          <a:bodyPr wrap="square" lIns="0" tIns="0" rIns="0" bIns="0" rtlCol="0" anchor="ctr"/>
          <a:lstStyle/>
          <a:p>
            <a:pPr algn="ctr" indent="0" marL="0">
              <a:buNone/>
            </a:pPr>
            <a:r>
              <a:rPr lang="en-US" sz="1200" dirty="0">
                <a:solidFill>
                  <a:srgbClr val="7A7D7E"/>
                </a:solidFill>
                <a:latin typeface="Calibri" pitchFamily="34" charset="0"/>
                <a:ea typeface="Calibri" pitchFamily="34" charset="-122"/>
                <a:cs typeface="Calibri" pitchFamily="34" charset="-120"/>
              </a:rPr>
              <a:t>One verified human. One vote. On the record.  ·  Live on the App Store  ·  representvote.com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707"/>
        </a:solidFill>
      </p:bgPr>
    </p:bg>
    <p:spTree>
      <p:nvGrpSpPr>
        <p:cNvPr id="1" name=""/>
        <p:cNvGrpSpPr/>
        <p:nvPr/>
      </p:nvGrpSpPr>
      <p:grpSpPr>
        <a:xfrm>
          <a:off x="0" y="0"/>
          <a:ext cx="0" cy="0"/>
          <a:chOff x="0" y="0"/>
          <a:chExt cx="0" cy="0"/>
        </a:xfrm>
      </p:grpSpPr>
      <p:pic>
        <p:nvPicPr>
          <p:cNvPr id="3" name="Image 0" descr="/home/user/rpv-mobile-clone/pitch/ultimate/v2/plate02a.jp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02</a:t>
            </a:r>
            <a:endParaRPr lang="en-US" sz="800" dirty="0"/>
          </a:p>
        </p:txBody>
      </p:sp>
      <p:sp>
        <p:nvSpPr>
          <p:cNvPr id="5" name="Text 1"/>
          <p:cNvSpPr txBox="1"/>
          <p:nvPr/>
        </p:nvSpPr>
        <p:spPr>
          <a:xfrm>
            <a:off x="822960" y="603504"/>
            <a:ext cx="10515600" cy="237744"/>
          </a:xfrm>
          <a:prstGeom prst="rect">
            <a:avLst/>
          </a:prstGeom>
          <a:noFill/>
          <a:ln/>
        </p:spPr>
        <p:txBody>
          <a:bodyPr wrap="square" lIns="0" tIns="0" rIns="0" bIns="0" rtlCol="0" anchor="ctr"/>
          <a:lstStyle/>
          <a:p>
            <a:pPr algn="l" indent="0" marL="0">
              <a:buNone/>
            </a:pPr>
            <a:r>
              <a:rPr lang="en-US" sz="900" spc="300" kern="0" dirty="0">
                <a:solidFill>
                  <a:srgbClr val="7A7D7E"/>
                </a:solidFill>
                <a:latin typeface="Courier New" pitchFamily="34" charset="0"/>
                <a:ea typeface="Courier New" pitchFamily="34" charset="-122"/>
                <a:cs typeface="Courier New" pitchFamily="34" charset="-120"/>
              </a:rPr>
              <a:t>CALGARY · 2018</a:t>
            </a:r>
            <a:endParaRPr lang="en-US" sz="900" dirty="0"/>
          </a:p>
        </p:txBody>
      </p:sp>
      <p:sp>
        <p:nvSpPr>
          <p:cNvPr id="6" name="Text 2"/>
          <p:cNvSpPr txBox="1"/>
          <p:nvPr/>
        </p:nvSpPr>
        <p:spPr>
          <a:xfrm>
            <a:off x="822960" y="932688"/>
            <a:ext cx="10515600" cy="1005840"/>
          </a:xfrm>
          <a:prstGeom prst="rect">
            <a:avLst/>
          </a:prstGeom>
          <a:noFill/>
          <a:ln/>
        </p:spPr>
        <p:txBody>
          <a:bodyPr wrap="square" lIns="0" tIns="0" rIns="0" bIns="0" rtlCol="0" anchor="t"/>
          <a:lstStyle/>
          <a:p>
            <a:pPr algn="l" indent="0" marL="0">
              <a:lnSpc>
                <a:spcPts val="3200"/>
              </a:lnSpc>
              <a:buNone/>
            </a:pPr>
            <a:r>
              <a:rPr lang="en-US" sz="2800" dirty="0">
                <a:solidFill>
                  <a:srgbClr val="F4F5F6"/>
                </a:solidFill>
                <a:latin typeface="Cambria" pitchFamily="34" charset="0"/>
                <a:ea typeface="Cambria" pitchFamily="34" charset="-122"/>
                <a:cs typeface="Cambria" pitchFamily="34" charset="-120"/>
              </a:rPr>
              <a:t>One question. $2.2 million. Three years.</a:t>
            </a:r>
            <a:endParaRPr lang="en-US" sz="2800" dirty="0"/>
          </a:p>
        </p:txBody>
      </p:sp>
      <p:sp>
        <p:nvSpPr>
          <p:cNvPr id="7" name="Text 3"/>
          <p:cNvSpPr txBox="1"/>
          <p:nvPr/>
        </p:nvSpPr>
        <p:spPr>
          <a:xfrm>
            <a:off x="4709160" y="5961888"/>
            <a:ext cx="1828800" cy="201168"/>
          </a:xfrm>
          <a:prstGeom prst="rect">
            <a:avLst/>
          </a:prstGeom>
          <a:noFill/>
          <a:ln/>
        </p:spPr>
        <p:txBody>
          <a:bodyPr wrap="square" lIns="0" tIns="0" rIns="0" bIns="0" rtlCol="0" anchor="ctr"/>
          <a:lstStyle/>
          <a:p>
            <a:pPr algn="r" indent="0" marL="0">
              <a:buNone/>
            </a:pPr>
            <a:r>
              <a:rPr lang="en-US" sz="850" spc="200" kern="0" dirty="0">
                <a:solidFill>
                  <a:srgbClr val="7A7D7E"/>
                </a:solidFill>
                <a:latin typeface="Courier New" pitchFamily="34" charset="0"/>
                <a:ea typeface="Courier New" pitchFamily="34" charset="-122"/>
                <a:cs typeface="Courier New" pitchFamily="34" charset="-120"/>
              </a:rPr>
              <a:t>171,750 NO</a:t>
            </a:r>
            <a:endParaRPr lang="en-US" sz="850" dirty="0"/>
          </a:p>
        </p:txBody>
      </p:sp>
      <p:sp>
        <p:nvSpPr>
          <p:cNvPr id="8" name="Text 4"/>
          <p:cNvSpPr txBox="1"/>
          <p:nvPr/>
        </p:nvSpPr>
        <p:spPr>
          <a:xfrm>
            <a:off x="6903720" y="5961888"/>
            <a:ext cx="182880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132,832 YES</a:t>
            </a:r>
            <a:endParaRPr lang="en-US" sz="850" dirty="0"/>
          </a:p>
        </p:txBody>
      </p:sp>
      <p:sp>
        <p:nvSpPr>
          <p:cNvPr id="9" name="Text 5"/>
          <p:cNvSpPr txBox="1"/>
          <p:nvPr/>
        </p:nvSpPr>
        <p:spPr>
          <a:xfrm>
            <a:off x="2898648" y="6254496"/>
            <a:ext cx="6400800" cy="201168"/>
          </a:xfrm>
          <a:prstGeom prst="rect">
            <a:avLst/>
          </a:prstGeom>
          <a:noFill/>
          <a:ln/>
        </p:spPr>
        <p:txBody>
          <a:bodyPr wrap="square" lIns="0" tIns="0" rIns="0" bIns="0" rtlCol="0" anchor="ctr"/>
          <a:lstStyle/>
          <a:p>
            <a:pPr algn="ctr" indent="0" marL="0">
              <a:buNone/>
            </a:pPr>
            <a:r>
              <a:rPr lang="en-US" sz="850" spc="200" kern="0" dirty="0">
                <a:solidFill>
                  <a:srgbClr val="7A7D7E"/>
                </a:solidFill>
                <a:latin typeface="Courier New" pitchFamily="34" charset="0"/>
                <a:ea typeface="Courier New" pitchFamily="34" charset="-122"/>
                <a:cs typeface="Courier New" pitchFamily="34" charset="-120"/>
              </a:rPr>
              <a:t>EVERY DOT IS A VOTER · CALGARY 2018 · $2.2M · ≈3 YEARS</a:t>
            </a:r>
            <a:endParaRPr lang="en-US" sz="850" dirty="0"/>
          </a:p>
        </p:txBody>
      </p:sp>
      <p:sp>
        <p:nvSpPr>
          <p:cNvPr id="10" name="Text 6"/>
          <p:cNvSpPr txBox="1"/>
          <p:nvPr/>
        </p:nvSpPr>
        <p:spPr>
          <a:xfrm>
            <a:off x="822960" y="6382512"/>
            <a:ext cx="640080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SOURCE: CITY OF CALGARY · 2018 PLEBISCITE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707"/>
        </a:solidFill>
      </p:bgPr>
    </p:bg>
    <p:spTree>
      <p:nvGrpSpPr>
        <p:cNvPr id="1" name=""/>
        <p:cNvGrpSpPr/>
        <p:nvPr/>
      </p:nvGrpSpPr>
      <p:grpSpPr>
        <a:xfrm>
          <a:off x="0" y="0"/>
          <a:ext cx="0" cy="0"/>
          <a:chOff x="0" y="0"/>
          <a:chExt cx="0" cy="0"/>
        </a:xfrm>
      </p:grpSpPr>
      <p:pic>
        <p:nvPicPr>
          <p:cNvPr id="3" name="Image 0" descr="/home/user/rpv-mobile-clone/pitch/ultimate/v2/plate02b.jp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03</a:t>
            </a:r>
            <a:endParaRPr lang="en-US" sz="800" dirty="0"/>
          </a:p>
        </p:txBody>
      </p:sp>
      <p:sp>
        <p:nvSpPr>
          <p:cNvPr id="5" name="Text 1"/>
          <p:cNvSpPr txBox="1"/>
          <p:nvPr/>
        </p:nvSpPr>
        <p:spPr>
          <a:xfrm>
            <a:off x="822960" y="603504"/>
            <a:ext cx="10515600" cy="237744"/>
          </a:xfrm>
          <a:prstGeom prst="rect">
            <a:avLst/>
          </a:prstGeom>
          <a:noFill/>
          <a:ln/>
        </p:spPr>
        <p:txBody>
          <a:bodyPr wrap="square" lIns="0" tIns="0" rIns="0" bIns="0" rtlCol="0" anchor="ctr"/>
          <a:lstStyle/>
          <a:p>
            <a:pPr algn="l" indent="0" marL="0">
              <a:buNone/>
            </a:pPr>
            <a:r>
              <a:rPr lang="en-US" sz="900" spc="300" kern="0" dirty="0">
                <a:solidFill>
                  <a:srgbClr val="7A7D7E"/>
                </a:solidFill>
                <a:latin typeface="Courier New" pitchFamily="34" charset="0"/>
                <a:ea typeface="Courier New" pitchFamily="34" charset="-122"/>
                <a:cs typeface="Courier New" pitchFamily="34" charset="-120"/>
              </a:rPr>
              <a:t>CALGARY · 2018</a:t>
            </a:r>
            <a:endParaRPr lang="en-US" sz="900" dirty="0"/>
          </a:p>
        </p:txBody>
      </p:sp>
      <p:sp>
        <p:nvSpPr>
          <p:cNvPr id="6" name="Text 2"/>
          <p:cNvSpPr txBox="1"/>
          <p:nvPr/>
        </p:nvSpPr>
        <p:spPr>
          <a:xfrm>
            <a:off x="822960" y="932688"/>
            <a:ext cx="10515600" cy="1005840"/>
          </a:xfrm>
          <a:prstGeom prst="rect">
            <a:avLst/>
          </a:prstGeom>
          <a:noFill/>
          <a:ln/>
        </p:spPr>
        <p:txBody>
          <a:bodyPr wrap="square" lIns="0" tIns="0" rIns="0" bIns="0" rtlCol="0" anchor="t"/>
          <a:lstStyle/>
          <a:p>
            <a:pPr algn="l" indent="0" marL="0">
              <a:lnSpc>
                <a:spcPts val="3200"/>
              </a:lnSpc>
              <a:buNone/>
            </a:pPr>
            <a:r>
              <a:rPr lang="en-US" sz="2800" dirty="0">
                <a:solidFill>
                  <a:srgbClr val="F4F5F6"/>
                </a:solidFill>
                <a:latin typeface="Cambria" pitchFamily="34" charset="0"/>
                <a:ea typeface="Cambria" pitchFamily="34" charset="-122"/>
                <a:cs typeface="Cambria" pitchFamily="34" charset="-120"/>
              </a:rPr>
              <a:t>The next day, the machine was dismantled.</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707"/>
        </a:solidFill>
      </p:bgPr>
    </p:bg>
    <p:spTree>
      <p:nvGrpSpPr>
        <p:cNvPr id="1" name=""/>
        <p:cNvGrpSpPr/>
        <p:nvPr/>
      </p:nvGrpSpPr>
      <p:grpSpPr>
        <a:xfrm>
          <a:off x="0" y="0"/>
          <a:ext cx="0" cy="0"/>
          <a:chOff x="0" y="0"/>
          <a:chExt cx="0" cy="0"/>
        </a:xfrm>
      </p:grpSpPr>
      <p:pic>
        <p:nvPicPr>
          <p:cNvPr id="3" name="Image 0" descr="/home/user/rpv-mobile-clone/pitch/ultimate/v2/plate01.jp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04</a:t>
            </a:r>
            <a:endParaRPr lang="en-US" sz="800" dirty="0"/>
          </a:p>
        </p:txBody>
      </p:sp>
      <p:sp>
        <p:nvSpPr>
          <p:cNvPr id="5" name="Text 1"/>
          <p:cNvSpPr txBox="1"/>
          <p:nvPr/>
        </p:nvSpPr>
        <p:spPr>
          <a:xfrm>
            <a:off x="822960" y="603504"/>
            <a:ext cx="10515600" cy="237744"/>
          </a:xfrm>
          <a:prstGeom prst="rect">
            <a:avLst/>
          </a:prstGeom>
          <a:noFill/>
          <a:ln/>
        </p:spPr>
        <p:txBody>
          <a:bodyPr wrap="square" lIns="0" tIns="0" rIns="0" bIns="0" rtlCol="0" anchor="ctr"/>
          <a:lstStyle/>
          <a:p>
            <a:pPr algn="l" indent="0" marL="0">
              <a:buNone/>
            </a:pPr>
            <a:r>
              <a:rPr lang="en-US" sz="900" spc="300" kern="0" dirty="0">
                <a:solidFill>
                  <a:srgbClr val="7A7D7E"/>
                </a:solidFill>
                <a:latin typeface="Courier New" pitchFamily="34" charset="0"/>
                <a:ea typeface="Courier New" pitchFamily="34" charset="-122"/>
                <a:cs typeface="Courier New" pitchFamily="34" charset="-120"/>
              </a:rPr>
              <a:t>1867–2026</a:t>
            </a:r>
            <a:endParaRPr lang="en-US" sz="900" dirty="0"/>
          </a:p>
        </p:txBody>
      </p:sp>
      <p:sp>
        <p:nvSpPr>
          <p:cNvPr id="6" name="Text 2"/>
          <p:cNvSpPr txBox="1"/>
          <p:nvPr/>
        </p:nvSpPr>
        <p:spPr>
          <a:xfrm>
            <a:off x="822960" y="932688"/>
            <a:ext cx="10515600" cy="1005840"/>
          </a:xfrm>
          <a:prstGeom prst="rect">
            <a:avLst/>
          </a:prstGeom>
          <a:noFill/>
          <a:ln/>
        </p:spPr>
        <p:txBody>
          <a:bodyPr wrap="square" lIns="0" tIns="0" rIns="0" bIns="0" rtlCol="0" anchor="t"/>
          <a:lstStyle/>
          <a:p>
            <a:pPr algn="l" indent="0" marL="0">
              <a:lnSpc>
                <a:spcPts val="3200"/>
              </a:lnSpc>
              <a:buNone/>
            </a:pPr>
            <a:r>
              <a:rPr lang="en-US" sz="2800" dirty="0">
                <a:solidFill>
                  <a:srgbClr val="F4F5F6"/>
                </a:solidFill>
                <a:latin typeface="Cambria" pitchFamily="34" charset="0"/>
                <a:ea typeface="Cambria" pitchFamily="34" charset="-122"/>
                <a:cs typeface="Cambria" pitchFamily="34" charset="-120"/>
              </a:rPr>
              <a:t>Canada has asked its people three questions in 159 years.</a:t>
            </a:r>
            <a:endParaRPr lang="en-US" sz="2800" dirty="0"/>
          </a:p>
        </p:txBody>
      </p:sp>
      <p:sp>
        <p:nvSpPr>
          <p:cNvPr id="7" name="Text 3"/>
          <p:cNvSpPr txBox="1"/>
          <p:nvPr/>
        </p:nvSpPr>
        <p:spPr>
          <a:xfrm>
            <a:off x="1218895" y="3127248"/>
            <a:ext cx="411480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CANADA — THREE · SINCE 1867</a:t>
            </a:r>
            <a:endParaRPr lang="en-US" sz="850" dirty="0"/>
          </a:p>
        </p:txBody>
      </p:sp>
      <p:sp>
        <p:nvSpPr>
          <p:cNvPr id="8" name="Text 4"/>
          <p:cNvSpPr txBox="1"/>
          <p:nvPr/>
        </p:nvSpPr>
        <p:spPr>
          <a:xfrm>
            <a:off x="1218895" y="4105656"/>
            <a:ext cx="411480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UNITED KINGDOM — THREE · EVER</a:t>
            </a:r>
            <a:endParaRPr lang="en-US" sz="850" dirty="0"/>
          </a:p>
        </p:txBody>
      </p:sp>
      <p:sp>
        <p:nvSpPr>
          <p:cNvPr id="9" name="Text 5"/>
          <p:cNvSpPr txBox="1"/>
          <p:nvPr/>
        </p:nvSpPr>
        <p:spPr>
          <a:xfrm>
            <a:off x="1218895" y="5084064"/>
            <a:ext cx="502920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UNITED STATES — ZERO · NO LEGAL MECHANISM</a:t>
            </a:r>
            <a:endParaRPr lang="en-US" sz="850" dirty="0"/>
          </a:p>
        </p:txBody>
      </p:sp>
      <p:sp>
        <p:nvSpPr>
          <p:cNvPr id="10" name="Text 6"/>
          <p:cNvSpPr txBox="1"/>
          <p:nvPr/>
        </p:nvSpPr>
        <p:spPr>
          <a:xfrm>
            <a:off x="2889504" y="3931920"/>
            <a:ext cx="45720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1898</a:t>
            </a:r>
            <a:endParaRPr lang="en-US" sz="850" dirty="0"/>
          </a:p>
        </p:txBody>
      </p:sp>
      <p:sp>
        <p:nvSpPr>
          <p:cNvPr id="11" name="Text 7"/>
          <p:cNvSpPr txBox="1"/>
          <p:nvPr/>
        </p:nvSpPr>
        <p:spPr>
          <a:xfrm>
            <a:off x="5586984" y="3931920"/>
            <a:ext cx="45720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1942</a:t>
            </a:r>
            <a:endParaRPr lang="en-US" sz="850" dirty="0"/>
          </a:p>
        </p:txBody>
      </p:sp>
      <p:sp>
        <p:nvSpPr>
          <p:cNvPr id="12" name="Text 8"/>
          <p:cNvSpPr txBox="1"/>
          <p:nvPr/>
        </p:nvSpPr>
        <p:spPr>
          <a:xfrm>
            <a:off x="8549640" y="3931920"/>
            <a:ext cx="45720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1992</a:t>
            </a:r>
            <a:endParaRPr lang="en-US" sz="850" dirty="0"/>
          </a:p>
        </p:txBody>
      </p:sp>
      <p:sp>
        <p:nvSpPr>
          <p:cNvPr id="13" name="Text 9"/>
          <p:cNvSpPr txBox="1"/>
          <p:nvPr/>
        </p:nvSpPr>
        <p:spPr>
          <a:xfrm>
            <a:off x="7616952" y="4910328"/>
            <a:ext cx="45720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1975</a:t>
            </a:r>
            <a:endParaRPr lang="en-US" sz="850" dirty="0"/>
          </a:p>
        </p:txBody>
      </p:sp>
      <p:sp>
        <p:nvSpPr>
          <p:cNvPr id="14" name="Text 10"/>
          <p:cNvSpPr txBox="1"/>
          <p:nvPr/>
        </p:nvSpPr>
        <p:spPr>
          <a:xfrm>
            <a:off x="9464040" y="4910328"/>
            <a:ext cx="109728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2011 · 2016</a:t>
            </a:r>
            <a:endParaRPr lang="en-US" sz="850" dirty="0"/>
          </a:p>
        </p:txBody>
      </p:sp>
      <p:sp>
        <p:nvSpPr>
          <p:cNvPr id="15" name="Text 11"/>
          <p:cNvSpPr txBox="1"/>
          <p:nvPr/>
        </p:nvSpPr>
        <p:spPr>
          <a:xfrm>
            <a:off x="9098280" y="3931920"/>
            <a:ext cx="265176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34 YEARS · NO QUESTION ASKED</a:t>
            </a:r>
            <a:endParaRPr lang="en-US" sz="800" dirty="0"/>
          </a:p>
        </p:txBody>
      </p:sp>
      <p:sp>
        <p:nvSpPr>
          <p:cNvPr id="16" name="Text 12"/>
          <p:cNvSpPr txBox="1"/>
          <p:nvPr/>
        </p:nvSpPr>
        <p:spPr>
          <a:xfrm>
            <a:off x="822960" y="6382512"/>
            <a:ext cx="640080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SOURCE: ELECTIONS CANADA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05</a:t>
            </a:r>
            <a:endParaRPr lang="en-US" sz="800" dirty="0"/>
          </a:p>
        </p:txBody>
      </p:sp>
      <p:sp>
        <p:nvSpPr>
          <p:cNvPr id="4" name="Text 1"/>
          <p:cNvSpPr txBox="1"/>
          <p:nvPr/>
        </p:nvSpPr>
        <p:spPr>
          <a:xfrm>
            <a:off x="822960" y="932688"/>
            <a:ext cx="9875520" cy="2377440"/>
          </a:xfrm>
          <a:prstGeom prst="rect">
            <a:avLst/>
          </a:prstGeom>
          <a:noFill/>
          <a:ln/>
        </p:spPr>
        <p:txBody>
          <a:bodyPr wrap="square" lIns="0" tIns="0" rIns="0" bIns="0" rtlCol="0" anchor="t"/>
          <a:lstStyle/>
          <a:p>
            <a:pPr algn="l" indent="0" marL="0">
              <a:lnSpc>
                <a:spcPts val="4600"/>
              </a:lnSpc>
              <a:buNone/>
            </a:pPr>
            <a:r>
              <a:rPr lang="en-US" sz="4000" dirty="0">
                <a:solidFill>
                  <a:srgbClr val="F4F5F6"/>
                </a:solidFill>
                <a:latin typeface="Cambria" pitchFamily="34" charset="0"/>
                <a:ea typeface="Cambria" pitchFamily="34" charset="-122"/>
                <a:cs typeface="Cambria" pitchFamily="34" charset="-120"/>
              </a:rPr>
              <a:t>Between elections, a citizen has no verb.</a:t>
            </a:r>
            <a:endParaRPr lang="en-US" sz="4000" dirty="0"/>
          </a:p>
        </p:txBody>
      </p:sp>
      <p:sp>
        <p:nvSpPr>
          <p:cNvPr id="5" name="Text 2"/>
          <p:cNvSpPr txBox="1"/>
          <p:nvPr/>
        </p:nvSpPr>
        <p:spPr>
          <a:xfrm>
            <a:off x="822960" y="3108960"/>
            <a:ext cx="5852160" cy="2377440"/>
          </a:xfrm>
          <a:prstGeom prst="rect">
            <a:avLst/>
          </a:prstGeom>
          <a:noFill/>
          <a:ln/>
        </p:spPr>
        <p:txBody>
          <a:bodyPr wrap="square" lIns="0" tIns="0" rIns="0" bIns="0" rtlCol="0" anchor="t"/>
          <a:lstStyle/>
          <a:p>
            <a:pPr algn="l" indent="0" marL="0">
              <a:lnSpc>
                <a:spcPts val="1900"/>
              </a:lnSpc>
              <a:buNone/>
            </a:pPr>
            <a:r>
              <a:rPr lang="en-US" sz="1300" dirty="0">
                <a:solidFill>
                  <a:srgbClr val="B8BABB"/>
                </a:solidFill>
                <a:latin typeface="Calibri" pitchFamily="34" charset="0"/>
                <a:ea typeface="Calibri" pitchFamily="34" charset="-122"/>
                <a:cs typeface="Calibri" pitchFamily="34" charset="-120"/>
              </a:rPr>
              <a:t>Polls are unverified. Petitions sign twice, from anywhere. Town halls are whoever shows up; social media is whoever shouts.</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None of it survives one skeptical question: how do you know those are real people?</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Anything cheaper than an election gets thrown out as bots.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06</a:t>
            </a:r>
            <a:endParaRPr lang="en-US" sz="800" dirty="0"/>
          </a:p>
        </p:txBody>
      </p:sp>
      <p:pic>
        <p:nvPicPr>
          <p:cNvPr id="4" name="Image 0" descr="/home/user/rpv-mobile-clone/pitch/ultimate/v2/plate05.jpg">    </p:cNvPr>
          <p:cNvPicPr>
            <a:picLocks noChangeAspect="1"/>
          </p:cNvPicPr>
          <p:nvPr/>
        </p:nvPicPr>
        <p:blipFill>
          <a:blip r:embed="rId1"/>
          <a:stretch>
            <a:fillRect/>
          </a:stretch>
        </p:blipFill>
        <p:spPr>
          <a:xfrm>
            <a:off x="6312103" y="489204"/>
            <a:ext cx="5879592" cy="5879592"/>
          </a:xfrm>
          <a:prstGeom prst="rect">
            <a:avLst/>
          </a:prstGeom>
        </p:spPr>
      </p:pic>
      <p:sp>
        <p:nvSpPr>
          <p:cNvPr id="5" name="Text 1"/>
          <p:cNvSpPr txBox="1"/>
          <p:nvPr/>
        </p:nvSpPr>
        <p:spPr>
          <a:xfrm>
            <a:off x="822960" y="932688"/>
            <a:ext cx="5669280" cy="2377440"/>
          </a:xfrm>
          <a:prstGeom prst="rect">
            <a:avLst/>
          </a:prstGeom>
          <a:noFill/>
          <a:ln/>
        </p:spPr>
        <p:txBody>
          <a:bodyPr wrap="square" lIns="0" tIns="0" rIns="0" bIns="0" rtlCol="0" anchor="t"/>
          <a:lstStyle/>
          <a:p>
            <a:pPr algn="l" indent="0" marL="0">
              <a:lnSpc>
                <a:spcPts val="4600"/>
              </a:lnSpc>
              <a:buNone/>
            </a:pPr>
            <a:r>
              <a:rPr lang="en-US" sz="4000" dirty="0">
                <a:solidFill>
                  <a:srgbClr val="F4F5F6"/>
                </a:solidFill>
                <a:latin typeface="Cambria" pitchFamily="34" charset="0"/>
                <a:ea typeface="Cambria" pitchFamily="34" charset="-122"/>
                <a:cs typeface="Cambria" pitchFamily="34" charset="-120"/>
              </a:rPr>
              <a:t>Three minutes. A few dollars.</a:t>
            </a:r>
            <a:endParaRPr lang="en-US" sz="4000" dirty="0"/>
          </a:p>
          <a:p>
            <a:pPr algn="l" indent="0" marL="0">
              <a:lnSpc>
                <a:spcPts val="4600"/>
              </a:lnSpc>
              <a:buNone/>
            </a:pPr>
            <a:r>
              <a:rPr lang="en-US" sz="4000" dirty="0">
                <a:solidFill>
                  <a:srgbClr val="EABA58"/>
                </a:solidFill>
                <a:latin typeface="Cambria" pitchFamily="34" charset="0"/>
                <a:ea typeface="Cambria" pitchFamily="34" charset="-122"/>
                <a:cs typeface="Cambria" pitchFamily="34" charset="-120"/>
              </a:rPr>
              <a:t>A verified human.</a:t>
            </a:r>
            <a:endParaRPr lang="en-US" sz="4000" dirty="0"/>
          </a:p>
        </p:txBody>
      </p:sp>
      <p:sp>
        <p:nvSpPr>
          <p:cNvPr id="6" name="Text 2"/>
          <p:cNvSpPr txBox="1"/>
          <p:nvPr/>
        </p:nvSpPr>
        <p:spPr>
          <a:xfrm>
            <a:off x="822960" y="3200400"/>
            <a:ext cx="4754880" cy="2194560"/>
          </a:xfrm>
          <a:prstGeom prst="rect">
            <a:avLst/>
          </a:prstGeom>
          <a:noFill/>
          <a:ln/>
        </p:spPr>
        <p:txBody>
          <a:bodyPr wrap="square" lIns="0" tIns="0" rIns="0" bIns="0" rtlCol="0" anchor="t"/>
          <a:lstStyle/>
          <a:p>
            <a:pPr algn="l" indent="0" marL="0">
              <a:lnSpc>
                <a:spcPts val="1900"/>
              </a:lnSpc>
              <a:buNone/>
            </a:pPr>
            <a:r>
              <a:rPr lang="en-US" sz="1300" dirty="0">
                <a:solidFill>
                  <a:srgbClr val="B8BABB"/>
                </a:solidFill>
                <a:latin typeface="Calibri" pitchFamily="34" charset="0"/>
                <a:ea typeface="Calibri" pitchFamily="34" charset="-122"/>
                <a:cs typeface="Calibri" pitchFamily="34" charset="-120"/>
              </a:rPr>
              <a:t>Remote government-ID verification — document plus liveness — recently became cheap and instant.</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What once required a courthouse now fits in a phone camera.</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This is the ingredient every previous attempt was missing.</a:t>
            </a:r>
            <a:endParaRPr lang="en-US" sz="1300" dirty="0"/>
          </a:p>
        </p:txBody>
      </p:sp>
      <p:sp>
        <p:nvSpPr>
          <p:cNvPr id="7" name="Text 3"/>
          <p:cNvSpPr txBox="1"/>
          <p:nvPr/>
        </p:nvSpPr>
        <p:spPr>
          <a:xfrm>
            <a:off x="9144000" y="658368"/>
            <a:ext cx="2834640" cy="201168"/>
          </a:xfrm>
          <a:prstGeom prst="rect">
            <a:avLst/>
          </a:prstGeom>
          <a:noFill/>
          <a:ln/>
        </p:spPr>
        <p:txBody>
          <a:bodyPr wrap="square" lIns="0" tIns="0" rIns="0" bIns="0" rtlCol="0" anchor="ctr"/>
          <a:lstStyle/>
          <a:p>
            <a:pPr algn="r" indent="0" marL="0">
              <a:buNone/>
            </a:pPr>
            <a:r>
              <a:rPr lang="en-US" sz="850" spc="200" kern="0" dirty="0">
                <a:solidFill>
                  <a:srgbClr val="7A7D7E"/>
                </a:solidFill>
                <a:latin typeface="Courier New" pitchFamily="34" charset="0"/>
                <a:ea typeface="Courier New" pitchFamily="34" charset="-122"/>
                <a:cs typeface="Courier New" pitchFamily="34" charset="-120"/>
              </a:rPr>
              <a:t>≈3 YEARS · CALGARY, ONCE</a:t>
            </a:r>
            <a:endParaRPr lang="en-US" sz="850" dirty="0"/>
          </a:p>
        </p:txBody>
      </p:sp>
      <p:sp>
        <p:nvSpPr>
          <p:cNvPr id="8" name="Text 4"/>
          <p:cNvSpPr txBox="1"/>
          <p:nvPr/>
        </p:nvSpPr>
        <p:spPr>
          <a:xfrm>
            <a:off x="7699248" y="3310128"/>
            <a:ext cx="3108960" cy="201168"/>
          </a:xfrm>
          <a:prstGeom prst="rect">
            <a:avLst/>
          </a:prstGeom>
          <a:noFill/>
          <a:ln/>
        </p:spPr>
        <p:txBody>
          <a:bodyPr wrap="square" lIns="0" tIns="0" rIns="0" bIns="0" rtlCol="0" anchor="ctr"/>
          <a:lstStyle/>
          <a:p>
            <a:pPr algn="ctr" indent="0" marL="0">
              <a:buNone/>
            </a:pPr>
            <a:r>
              <a:rPr lang="en-US" sz="850" spc="200" kern="0" dirty="0">
                <a:solidFill>
                  <a:srgbClr val="7A7D7E"/>
                </a:solidFill>
                <a:latin typeface="Courier New" pitchFamily="34" charset="0"/>
                <a:ea typeface="Courier New" pitchFamily="34" charset="-122"/>
                <a:cs typeface="Courier New" pitchFamily="34" charset="-120"/>
              </a:rPr>
              <a:t>≈3 MINUTES · REPRESENT, ANYONE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07</a:t>
            </a:r>
            <a:endParaRPr lang="en-US" sz="800" dirty="0"/>
          </a:p>
        </p:txBody>
      </p:sp>
      <p:sp>
        <p:nvSpPr>
          <p:cNvPr id="4" name="Text 1"/>
          <p:cNvSpPr txBox="1"/>
          <p:nvPr/>
        </p:nvSpPr>
        <p:spPr>
          <a:xfrm>
            <a:off x="822960" y="603504"/>
            <a:ext cx="10515600" cy="237744"/>
          </a:xfrm>
          <a:prstGeom prst="rect">
            <a:avLst/>
          </a:prstGeom>
          <a:noFill/>
          <a:ln/>
        </p:spPr>
        <p:txBody>
          <a:bodyPr wrap="square" lIns="0" tIns="0" rIns="0" bIns="0" rtlCol="0" anchor="ctr"/>
          <a:lstStyle/>
          <a:p>
            <a:pPr algn="l" indent="0" marL="0">
              <a:buNone/>
            </a:pPr>
            <a:r>
              <a:rPr lang="en-US" sz="900" spc="300" kern="0" dirty="0">
                <a:solidFill>
                  <a:srgbClr val="7A7D7E"/>
                </a:solidFill>
                <a:latin typeface="Courier New" pitchFamily="34" charset="0"/>
                <a:ea typeface="Courier New" pitchFamily="34" charset="-122"/>
                <a:cs typeface="Courier New" pitchFamily="34" charset="-120"/>
              </a:rPr>
              <a:t>LIVE ON IOS TODAY</a:t>
            </a:r>
            <a:endParaRPr lang="en-US" sz="900" dirty="0"/>
          </a:p>
        </p:txBody>
      </p:sp>
      <p:sp>
        <p:nvSpPr>
          <p:cNvPr id="5" name="Text 2"/>
          <p:cNvSpPr txBox="1"/>
          <p:nvPr/>
        </p:nvSpPr>
        <p:spPr>
          <a:xfrm>
            <a:off x="822960" y="932688"/>
            <a:ext cx="10515600" cy="1005840"/>
          </a:xfrm>
          <a:prstGeom prst="rect">
            <a:avLst/>
          </a:prstGeom>
          <a:noFill/>
          <a:ln/>
        </p:spPr>
        <p:txBody>
          <a:bodyPr wrap="square" lIns="0" tIns="0" rIns="0" bIns="0" rtlCol="0" anchor="t"/>
          <a:lstStyle/>
          <a:p>
            <a:pPr algn="l" indent="0" marL="0">
              <a:lnSpc>
                <a:spcPts val="3200"/>
              </a:lnSpc>
              <a:buNone/>
            </a:pPr>
            <a:r>
              <a:rPr lang="en-US" sz="2800" dirty="0">
                <a:solidFill>
                  <a:srgbClr val="F4F5F6"/>
                </a:solidFill>
                <a:latin typeface="Cambria" pitchFamily="34" charset="0"/>
                <a:ea typeface="Cambria" pitchFamily="34" charset="-122"/>
                <a:cs typeface="Cambria" pitchFamily="34" charset="-120"/>
              </a:rPr>
              <a:t>Verify once. Then vote on anything real.</a:t>
            </a:r>
            <a:endParaRPr lang="en-US" sz="2800" dirty="0"/>
          </a:p>
        </p:txBody>
      </p:sp>
      <p:sp>
        <p:nvSpPr>
          <p:cNvPr id="6" name="Text 3"/>
          <p:cNvSpPr txBox="1"/>
          <p:nvPr/>
        </p:nvSpPr>
        <p:spPr>
          <a:xfrm>
            <a:off x="822960" y="2377440"/>
            <a:ext cx="365760" cy="237744"/>
          </a:xfrm>
          <a:prstGeom prst="rect">
            <a:avLst/>
          </a:prstGeom>
          <a:noFill/>
          <a:ln/>
        </p:spPr>
        <p:txBody>
          <a:bodyPr wrap="square" lIns="0" tIns="0" rIns="0" bIns="0" rtlCol="0" anchor="ctr"/>
          <a:lstStyle/>
          <a:p>
            <a:pPr indent="0" marL="0">
              <a:buNone/>
            </a:pPr>
            <a:r>
              <a:rPr lang="en-US" sz="900" dirty="0">
                <a:solidFill>
                  <a:srgbClr val="7A7D7E"/>
                </a:solidFill>
                <a:latin typeface="Courier New" pitchFamily="34" charset="0"/>
                <a:ea typeface="Courier New" pitchFamily="34" charset="-122"/>
                <a:cs typeface="Courier New" pitchFamily="34" charset="-120"/>
              </a:rPr>
              <a:t>01</a:t>
            </a:r>
            <a:endParaRPr lang="en-US" sz="900" dirty="0"/>
          </a:p>
        </p:txBody>
      </p:sp>
      <p:sp>
        <p:nvSpPr>
          <p:cNvPr id="7" name="Text 4"/>
          <p:cNvSpPr txBox="1"/>
          <p:nvPr/>
        </p:nvSpPr>
        <p:spPr>
          <a:xfrm>
            <a:off x="1280160" y="2377440"/>
            <a:ext cx="4023360" cy="237744"/>
          </a:xfrm>
          <a:prstGeom prst="rect">
            <a:avLst/>
          </a:prstGeom>
          <a:noFill/>
          <a:ln/>
        </p:spPr>
        <p:txBody>
          <a:bodyPr wrap="square" lIns="0" tIns="0" rIns="0" bIns="0" rtlCol="0" anchor="ctr"/>
          <a:lstStyle/>
          <a:p>
            <a:pPr indent="0" marL="0">
              <a:buNone/>
            </a:pPr>
            <a:r>
              <a:rPr lang="en-US" sz="1000" spc="200" kern="0" dirty="0">
                <a:solidFill>
                  <a:srgbClr val="F4F5F6"/>
                </a:solidFill>
                <a:latin typeface="Courier New" pitchFamily="34" charset="0"/>
                <a:ea typeface="Courier New" pitchFamily="34" charset="-122"/>
                <a:cs typeface="Courier New" pitchFamily="34" charset="-120"/>
              </a:rPr>
              <a:t>SCAN GOVERNMENT ID</a:t>
            </a:r>
            <a:endParaRPr lang="en-US" sz="1000" dirty="0"/>
          </a:p>
        </p:txBody>
      </p:sp>
      <p:sp>
        <p:nvSpPr>
          <p:cNvPr id="8" name="Text 5"/>
          <p:cNvSpPr txBox="1"/>
          <p:nvPr/>
        </p:nvSpPr>
        <p:spPr>
          <a:xfrm>
            <a:off x="1280160" y="2633472"/>
            <a:ext cx="4023360" cy="27432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Documents verified, never stored.</a:t>
            </a:r>
            <a:endParaRPr lang="en-US" sz="1150" dirty="0"/>
          </a:p>
        </p:txBody>
      </p:sp>
      <p:sp>
        <p:nvSpPr>
          <p:cNvPr id="9" name="Text 6"/>
          <p:cNvSpPr txBox="1"/>
          <p:nvPr/>
        </p:nvSpPr>
        <p:spPr>
          <a:xfrm>
            <a:off x="822960" y="3291840"/>
            <a:ext cx="365760" cy="237744"/>
          </a:xfrm>
          <a:prstGeom prst="rect">
            <a:avLst/>
          </a:prstGeom>
          <a:noFill/>
          <a:ln/>
        </p:spPr>
        <p:txBody>
          <a:bodyPr wrap="square" lIns="0" tIns="0" rIns="0" bIns="0" rtlCol="0" anchor="ctr"/>
          <a:lstStyle/>
          <a:p>
            <a:pPr indent="0" marL="0">
              <a:buNone/>
            </a:pPr>
            <a:r>
              <a:rPr lang="en-US" sz="900" dirty="0">
                <a:solidFill>
                  <a:srgbClr val="7A7D7E"/>
                </a:solidFill>
                <a:latin typeface="Courier New" pitchFamily="34" charset="0"/>
                <a:ea typeface="Courier New" pitchFamily="34" charset="-122"/>
                <a:cs typeface="Courier New" pitchFamily="34" charset="-120"/>
              </a:rPr>
              <a:t>02</a:t>
            </a:r>
            <a:endParaRPr lang="en-US" sz="900" dirty="0"/>
          </a:p>
        </p:txBody>
      </p:sp>
      <p:sp>
        <p:nvSpPr>
          <p:cNvPr id="10" name="Text 7"/>
          <p:cNvSpPr txBox="1"/>
          <p:nvPr/>
        </p:nvSpPr>
        <p:spPr>
          <a:xfrm>
            <a:off x="1280160" y="3291840"/>
            <a:ext cx="4023360" cy="237744"/>
          </a:xfrm>
          <a:prstGeom prst="rect">
            <a:avLst/>
          </a:prstGeom>
          <a:noFill/>
          <a:ln/>
        </p:spPr>
        <p:txBody>
          <a:bodyPr wrap="square" lIns="0" tIns="0" rIns="0" bIns="0" rtlCol="0" anchor="ctr"/>
          <a:lstStyle/>
          <a:p>
            <a:pPr indent="0" marL="0">
              <a:buNone/>
            </a:pPr>
            <a:r>
              <a:rPr lang="en-US" sz="1000" spc="200" kern="0" dirty="0">
                <a:solidFill>
                  <a:srgbClr val="F4F5F6"/>
                </a:solidFill>
                <a:latin typeface="Courier New" pitchFamily="34" charset="0"/>
                <a:ea typeface="Courier New" pitchFamily="34" charset="-122"/>
                <a:cs typeface="Courier New" pitchFamily="34" charset="-120"/>
              </a:rPr>
              <a:t>PASS LIVENESS CHECK</a:t>
            </a:r>
            <a:endParaRPr lang="en-US" sz="1000" dirty="0"/>
          </a:p>
        </p:txBody>
      </p:sp>
      <p:sp>
        <p:nvSpPr>
          <p:cNvPr id="11" name="Text 8"/>
          <p:cNvSpPr txBox="1"/>
          <p:nvPr/>
        </p:nvSpPr>
        <p:spPr>
          <a:xfrm>
            <a:off x="1280160" y="3547872"/>
            <a:ext cx="4023360" cy="27432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About three minutes, once.</a:t>
            </a:r>
            <a:endParaRPr lang="en-US" sz="1150" dirty="0"/>
          </a:p>
        </p:txBody>
      </p:sp>
      <p:sp>
        <p:nvSpPr>
          <p:cNvPr id="12" name="Text 9"/>
          <p:cNvSpPr txBox="1"/>
          <p:nvPr/>
        </p:nvSpPr>
        <p:spPr>
          <a:xfrm>
            <a:off x="822960" y="4206240"/>
            <a:ext cx="365760" cy="237744"/>
          </a:xfrm>
          <a:prstGeom prst="rect">
            <a:avLst/>
          </a:prstGeom>
          <a:noFill/>
          <a:ln/>
        </p:spPr>
        <p:txBody>
          <a:bodyPr wrap="square" lIns="0" tIns="0" rIns="0" bIns="0" rtlCol="0" anchor="ctr"/>
          <a:lstStyle/>
          <a:p>
            <a:pPr indent="0" marL="0">
              <a:buNone/>
            </a:pPr>
            <a:r>
              <a:rPr lang="en-US" sz="900" dirty="0">
                <a:solidFill>
                  <a:srgbClr val="7A7D7E"/>
                </a:solidFill>
                <a:latin typeface="Courier New" pitchFamily="34" charset="0"/>
                <a:ea typeface="Courier New" pitchFamily="34" charset="-122"/>
                <a:cs typeface="Courier New" pitchFamily="34" charset="-120"/>
              </a:rPr>
              <a:t>03</a:t>
            </a:r>
            <a:endParaRPr lang="en-US" sz="900" dirty="0"/>
          </a:p>
        </p:txBody>
      </p:sp>
      <p:sp>
        <p:nvSpPr>
          <p:cNvPr id="13" name="Text 10"/>
          <p:cNvSpPr txBox="1"/>
          <p:nvPr/>
        </p:nvSpPr>
        <p:spPr>
          <a:xfrm>
            <a:off x="1280160" y="4206240"/>
            <a:ext cx="4023360" cy="237744"/>
          </a:xfrm>
          <a:prstGeom prst="rect">
            <a:avLst/>
          </a:prstGeom>
          <a:noFill/>
          <a:ln/>
        </p:spPr>
        <p:txBody>
          <a:bodyPr wrap="square" lIns="0" tIns="0" rIns="0" bIns="0" rtlCol="0" anchor="ctr"/>
          <a:lstStyle/>
          <a:p>
            <a:pPr indent="0" marL="0">
              <a:buNone/>
            </a:pPr>
            <a:r>
              <a:rPr lang="en-US" sz="1000" spc="200" kern="0" dirty="0">
                <a:solidFill>
                  <a:srgbClr val="F4F5F6"/>
                </a:solidFill>
                <a:latin typeface="Courier New" pitchFamily="34" charset="0"/>
                <a:ea typeface="Courier New" pitchFamily="34" charset="-122"/>
                <a:cs typeface="Courier New" pitchFamily="34" charset="-120"/>
              </a:rPr>
              <a:t>VOTE · REGION LOCKED TO YOUR ID</a:t>
            </a:r>
            <a:endParaRPr lang="en-US" sz="1000" dirty="0"/>
          </a:p>
        </p:txBody>
      </p:sp>
      <p:sp>
        <p:nvSpPr>
          <p:cNvPr id="14" name="Text 11"/>
          <p:cNvSpPr txBox="1"/>
          <p:nvPr/>
        </p:nvSpPr>
        <p:spPr>
          <a:xfrm>
            <a:off x="1280160" y="4462272"/>
            <a:ext cx="4023360" cy="274320"/>
          </a:xfrm>
          <a:prstGeom prst="rect">
            <a:avLst/>
          </a:prstGeom>
          <a:noFill/>
          <a:ln/>
        </p:spPr>
        <p:txBody>
          <a:bodyPr wrap="square" lIns="0" tIns="0" rIns="0" bIns="0" rtlCol="0" anchor="ctr"/>
          <a:lstStyle/>
          <a:p>
            <a:pPr indent="0" marL="0">
              <a:buNone/>
            </a:pPr>
            <a:r>
              <a:rPr lang="en-US" sz="1150" dirty="0">
                <a:solidFill>
                  <a:srgbClr val="B8BABB"/>
                </a:solidFill>
                <a:latin typeface="Calibri" pitchFamily="34" charset="0"/>
                <a:ea typeface="Calibri" pitchFamily="34" charset="-122"/>
                <a:cs typeface="Calibri" pitchFamily="34" charset="-120"/>
              </a:rPr>
              <a:t>City, provincial, national — one person, one vote.</a:t>
            </a:r>
            <a:endParaRPr lang="en-US" sz="1150" dirty="0"/>
          </a:p>
        </p:txBody>
      </p:sp>
      <p:sp>
        <p:nvSpPr>
          <p:cNvPr id="15" name="Shape 12"/>
          <p:cNvSpPr/>
          <p:nvPr/>
        </p:nvSpPr>
        <p:spPr>
          <a:xfrm>
            <a:off x="7680960" y="1737360"/>
            <a:ext cx="3108960" cy="10973"/>
          </a:xfrm>
          <a:prstGeom prst="rect">
            <a:avLst/>
          </a:prstGeom>
          <a:solidFill>
            <a:srgbClr val="23282A"/>
          </a:solidFill>
          <a:ln/>
        </p:spPr>
      </p:sp>
      <p:sp>
        <p:nvSpPr>
          <p:cNvPr id="16" name="Shape 13"/>
          <p:cNvSpPr/>
          <p:nvPr/>
        </p:nvSpPr>
        <p:spPr>
          <a:xfrm>
            <a:off x="7680960" y="2578608"/>
            <a:ext cx="3108960" cy="10973"/>
          </a:xfrm>
          <a:prstGeom prst="rect">
            <a:avLst/>
          </a:prstGeom>
          <a:solidFill>
            <a:srgbClr val="23282A"/>
          </a:solidFill>
          <a:ln/>
        </p:spPr>
      </p:sp>
      <p:sp>
        <p:nvSpPr>
          <p:cNvPr id="17" name="Shape 14"/>
          <p:cNvSpPr/>
          <p:nvPr/>
        </p:nvSpPr>
        <p:spPr>
          <a:xfrm>
            <a:off x="7680960" y="1737360"/>
            <a:ext cx="10973" cy="841248"/>
          </a:xfrm>
          <a:prstGeom prst="rect">
            <a:avLst/>
          </a:prstGeom>
          <a:solidFill>
            <a:srgbClr val="23282A"/>
          </a:solidFill>
          <a:ln/>
        </p:spPr>
      </p:sp>
      <p:sp>
        <p:nvSpPr>
          <p:cNvPr id="18" name="Shape 15"/>
          <p:cNvSpPr/>
          <p:nvPr/>
        </p:nvSpPr>
        <p:spPr>
          <a:xfrm>
            <a:off x="10789920" y="1737360"/>
            <a:ext cx="10973" cy="852221"/>
          </a:xfrm>
          <a:prstGeom prst="rect">
            <a:avLst/>
          </a:prstGeom>
          <a:solidFill>
            <a:srgbClr val="23282A"/>
          </a:solidFill>
          <a:ln/>
        </p:spPr>
      </p:sp>
      <p:sp>
        <p:nvSpPr>
          <p:cNvPr id="19" name="Text 16"/>
          <p:cNvSpPr txBox="1"/>
          <p:nvPr/>
        </p:nvSpPr>
        <p:spPr>
          <a:xfrm>
            <a:off x="7680960" y="1481328"/>
            <a:ext cx="310896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GOVERNMENT ID</a:t>
            </a:r>
            <a:endParaRPr lang="en-US" sz="850" dirty="0"/>
          </a:p>
        </p:txBody>
      </p:sp>
      <p:sp>
        <p:nvSpPr>
          <p:cNvPr id="20" name="Shape 17"/>
          <p:cNvSpPr/>
          <p:nvPr/>
        </p:nvSpPr>
        <p:spPr>
          <a:xfrm>
            <a:off x="7680960" y="3063240"/>
            <a:ext cx="3108960" cy="10973"/>
          </a:xfrm>
          <a:prstGeom prst="rect">
            <a:avLst/>
          </a:prstGeom>
          <a:solidFill>
            <a:srgbClr val="23282A"/>
          </a:solidFill>
          <a:ln/>
        </p:spPr>
      </p:sp>
      <p:sp>
        <p:nvSpPr>
          <p:cNvPr id="21" name="Shape 18"/>
          <p:cNvSpPr/>
          <p:nvPr/>
        </p:nvSpPr>
        <p:spPr>
          <a:xfrm>
            <a:off x="7680960" y="3904488"/>
            <a:ext cx="3108960" cy="10973"/>
          </a:xfrm>
          <a:prstGeom prst="rect">
            <a:avLst/>
          </a:prstGeom>
          <a:solidFill>
            <a:srgbClr val="23282A"/>
          </a:solidFill>
          <a:ln/>
        </p:spPr>
      </p:sp>
      <p:sp>
        <p:nvSpPr>
          <p:cNvPr id="22" name="Shape 19"/>
          <p:cNvSpPr/>
          <p:nvPr/>
        </p:nvSpPr>
        <p:spPr>
          <a:xfrm>
            <a:off x="7680960" y="3063240"/>
            <a:ext cx="10973" cy="841248"/>
          </a:xfrm>
          <a:prstGeom prst="rect">
            <a:avLst/>
          </a:prstGeom>
          <a:solidFill>
            <a:srgbClr val="23282A"/>
          </a:solidFill>
          <a:ln/>
        </p:spPr>
      </p:sp>
      <p:sp>
        <p:nvSpPr>
          <p:cNvPr id="23" name="Shape 20"/>
          <p:cNvSpPr/>
          <p:nvPr/>
        </p:nvSpPr>
        <p:spPr>
          <a:xfrm>
            <a:off x="10789920" y="3063240"/>
            <a:ext cx="10973" cy="852221"/>
          </a:xfrm>
          <a:prstGeom prst="rect">
            <a:avLst/>
          </a:prstGeom>
          <a:solidFill>
            <a:srgbClr val="23282A"/>
          </a:solidFill>
          <a:ln/>
        </p:spPr>
      </p:sp>
      <p:sp>
        <p:nvSpPr>
          <p:cNvPr id="24" name="Text 21"/>
          <p:cNvSpPr txBox="1"/>
          <p:nvPr/>
        </p:nvSpPr>
        <p:spPr>
          <a:xfrm>
            <a:off x="7680960" y="2807208"/>
            <a:ext cx="310896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LIVENESS</a:t>
            </a:r>
            <a:endParaRPr lang="en-US" sz="850" dirty="0"/>
          </a:p>
        </p:txBody>
      </p:sp>
      <p:sp>
        <p:nvSpPr>
          <p:cNvPr id="25" name="Shape 22"/>
          <p:cNvSpPr/>
          <p:nvPr/>
        </p:nvSpPr>
        <p:spPr>
          <a:xfrm>
            <a:off x="7680960" y="4389120"/>
            <a:ext cx="3108960" cy="10973"/>
          </a:xfrm>
          <a:prstGeom prst="rect">
            <a:avLst/>
          </a:prstGeom>
          <a:solidFill>
            <a:srgbClr val="23282A"/>
          </a:solidFill>
          <a:ln/>
        </p:spPr>
      </p:sp>
      <p:sp>
        <p:nvSpPr>
          <p:cNvPr id="26" name="Shape 23"/>
          <p:cNvSpPr/>
          <p:nvPr/>
        </p:nvSpPr>
        <p:spPr>
          <a:xfrm>
            <a:off x="7680960" y="5230368"/>
            <a:ext cx="3108960" cy="10973"/>
          </a:xfrm>
          <a:prstGeom prst="rect">
            <a:avLst/>
          </a:prstGeom>
          <a:solidFill>
            <a:srgbClr val="23282A"/>
          </a:solidFill>
          <a:ln/>
        </p:spPr>
      </p:sp>
      <p:sp>
        <p:nvSpPr>
          <p:cNvPr id="27" name="Shape 24"/>
          <p:cNvSpPr/>
          <p:nvPr/>
        </p:nvSpPr>
        <p:spPr>
          <a:xfrm>
            <a:off x="7680960" y="4389120"/>
            <a:ext cx="10973" cy="841248"/>
          </a:xfrm>
          <a:prstGeom prst="rect">
            <a:avLst/>
          </a:prstGeom>
          <a:solidFill>
            <a:srgbClr val="23282A"/>
          </a:solidFill>
          <a:ln/>
        </p:spPr>
      </p:sp>
      <p:sp>
        <p:nvSpPr>
          <p:cNvPr id="28" name="Shape 25"/>
          <p:cNvSpPr/>
          <p:nvPr/>
        </p:nvSpPr>
        <p:spPr>
          <a:xfrm>
            <a:off x="10789920" y="4389120"/>
            <a:ext cx="10973" cy="852221"/>
          </a:xfrm>
          <a:prstGeom prst="rect">
            <a:avLst/>
          </a:prstGeom>
          <a:solidFill>
            <a:srgbClr val="23282A"/>
          </a:solidFill>
          <a:ln/>
        </p:spPr>
      </p:sp>
      <p:sp>
        <p:nvSpPr>
          <p:cNvPr id="29" name="Text 26"/>
          <p:cNvSpPr txBox="1"/>
          <p:nvPr/>
        </p:nvSpPr>
        <p:spPr>
          <a:xfrm>
            <a:off x="7680960" y="4133088"/>
            <a:ext cx="310896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BALLOT</a:t>
            </a:r>
            <a:endParaRPr lang="en-US" sz="850" dirty="0"/>
          </a:p>
        </p:txBody>
      </p:sp>
      <p:sp>
        <p:nvSpPr>
          <p:cNvPr id="30" name="Shape 27"/>
          <p:cNvSpPr/>
          <p:nvPr/>
        </p:nvSpPr>
        <p:spPr>
          <a:xfrm>
            <a:off x="9225382" y="4581144"/>
            <a:ext cx="20117" cy="457200"/>
          </a:xfrm>
          <a:prstGeom prst="rect">
            <a:avLst/>
          </a:prstGeom>
          <a:solidFill>
            <a:srgbClr val="EABA58"/>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0707"/>
        </a:solidFill>
      </p:bgPr>
    </p:bg>
    <p:spTree>
      <p:nvGrpSpPr>
        <p:cNvPr id="1" name=""/>
        <p:cNvGrpSpPr/>
        <p:nvPr/>
      </p:nvGrpSpPr>
      <p:grpSpPr>
        <a:xfrm>
          <a:off x="0" y="0"/>
          <a:ext cx="0" cy="0"/>
          <a:chOff x="0" y="0"/>
          <a:chExt cx="0" cy="0"/>
        </a:xfrm>
      </p:grpSpPr>
      <p:pic>
        <p:nvPicPr>
          <p:cNvPr id="3" name="Image 0" descr="/home/user/rpv-mobile-clone/pitch/ultimate/v2/plate04.jpg">    </p:cNvPr>
          <p:cNvPicPr>
            <a:picLocks noChangeAspect="1"/>
          </p:cNvPicPr>
          <p:nvPr/>
        </p:nvPicPr>
        <p:blipFill>
          <a:blip r:embed="rId1"/>
          <a:stretch>
            <a:fillRect/>
          </a:stretch>
        </p:blipFill>
        <p:spPr>
          <a:xfrm>
            <a:off x="6096305" y="0"/>
            <a:ext cx="6096305" cy="6858000"/>
          </a:xfrm>
          <a:prstGeom prst="rect">
            <a:avLst/>
          </a:prstGeom>
        </p:spPr>
      </p:pic>
      <p:sp>
        <p:nvSpPr>
          <p:cNvPr id="4"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08</a:t>
            </a:r>
            <a:endParaRPr lang="en-US" sz="800" dirty="0"/>
          </a:p>
        </p:txBody>
      </p:sp>
      <p:sp>
        <p:nvSpPr>
          <p:cNvPr id="5" name="Text 1"/>
          <p:cNvSpPr txBox="1"/>
          <p:nvPr/>
        </p:nvSpPr>
        <p:spPr>
          <a:xfrm>
            <a:off x="822960" y="603504"/>
            <a:ext cx="10515600" cy="237744"/>
          </a:xfrm>
          <a:prstGeom prst="rect">
            <a:avLst/>
          </a:prstGeom>
          <a:noFill/>
          <a:ln/>
        </p:spPr>
        <p:txBody>
          <a:bodyPr wrap="square" lIns="0" tIns="0" rIns="0" bIns="0" rtlCol="0" anchor="ctr"/>
          <a:lstStyle/>
          <a:p>
            <a:pPr algn="l" indent="0" marL="0">
              <a:buNone/>
            </a:pPr>
            <a:r>
              <a:rPr lang="en-US" sz="900" spc="300" kern="0" dirty="0">
                <a:solidFill>
                  <a:srgbClr val="7A7D7E"/>
                </a:solidFill>
                <a:latin typeface="Courier New" pitchFamily="34" charset="0"/>
                <a:ea typeface="Courier New" pitchFamily="34" charset="-122"/>
                <a:cs typeface="Courier New" pitchFamily="34" charset="-120"/>
              </a:rPr>
              <a:t>SEALED UNTIL 10 VERIFIED BALLOTS</a:t>
            </a:r>
            <a:endParaRPr lang="en-US" sz="900" dirty="0"/>
          </a:p>
        </p:txBody>
      </p:sp>
      <p:sp>
        <p:nvSpPr>
          <p:cNvPr id="6" name="Text 2"/>
          <p:cNvSpPr txBox="1"/>
          <p:nvPr/>
        </p:nvSpPr>
        <p:spPr>
          <a:xfrm>
            <a:off x="822960" y="932688"/>
            <a:ext cx="4937760" cy="1371600"/>
          </a:xfrm>
          <a:prstGeom prst="rect">
            <a:avLst/>
          </a:prstGeom>
          <a:noFill/>
          <a:ln/>
        </p:spPr>
        <p:txBody>
          <a:bodyPr wrap="square" lIns="0" tIns="0" rIns="0" bIns="0" rtlCol="0" anchor="t"/>
          <a:lstStyle/>
          <a:p>
            <a:pPr algn="l" indent="0" marL="0">
              <a:lnSpc>
                <a:spcPts val="3200"/>
              </a:lnSpc>
              <a:buNone/>
            </a:pPr>
            <a:r>
              <a:rPr lang="en-US" sz="2800" dirty="0">
                <a:solidFill>
                  <a:srgbClr val="F4F5F6"/>
                </a:solidFill>
                <a:latin typeface="Cambria" pitchFamily="34" charset="0"/>
                <a:ea typeface="Cambria" pitchFamily="34" charset="-122"/>
                <a:cs typeface="Cambria" pitchFamily="34" charset="-120"/>
              </a:rPr>
              <a:t>Built so nobody can call it fake.</a:t>
            </a:r>
            <a:endParaRPr lang="en-US" sz="2800" dirty="0"/>
          </a:p>
        </p:txBody>
      </p:sp>
      <p:sp>
        <p:nvSpPr>
          <p:cNvPr id="7" name="Text 3"/>
          <p:cNvSpPr txBox="1"/>
          <p:nvPr/>
        </p:nvSpPr>
        <p:spPr>
          <a:xfrm>
            <a:off x="822960" y="2606040"/>
            <a:ext cx="365760" cy="237744"/>
          </a:xfrm>
          <a:prstGeom prst="rect">
            <a:avLst/>
          </a:prstGeom>
          <a:noFill/>
          <a:ln/>
        </p:spPr>
        <p:txBody>
          <a:bodyPr wrap="square" lIns="0" tIns="0" rIns="0" bIns="0" rtlCol="0" anchor="ctr"/>
          <a:lstStyle/>
          <a:p>
            <a:pPr indent="0" marL="0">
              <a:buNone/>
            </a:pPr>
            <a:r>
              <a:rPr lang="en-US" sz="900" dirty="0">
                <a:solidFill>
                  <a:srgbClr val="7A7D7E"/>
                </a:solidFill>
                <a:latin typeface="Courier New" pitchFamily="34" charset="0"/>
                <a:ea typeface="Courier New" pitchFamily="34" charset="-122"/>
                <a:cs typeface="Courier New" pitchFamily="34" charset="-120"/>
              </a:rPr>
              <a:t>01</a:t>
            </a:r>
            <a:endParaRPr lang="en-US" sz="900" dirty="0"/>
          </a:p>
        </p:txBody>
      </p:sp>
      <p:sp>
        <p:nvSpPr>
          <p:cNvPr id="8" name="Text 4"/>
          <p:cNvSpPr txBox="1"/>
          <p:nvPr/>
        </p:nvSpPr>
        <p:spPr>
          <a:xfrm>
            <a:off x="1280160" y="2606040"/>
            <a:ext cx="4572000" cy="237744"/>
          </a:xfrm>
          <a:prstGeom prst="rect">
            <a:avLst/>
          </a:prstGeom>
          <a:noFill/>
          <a:ln/>
        </p:spPr>
        <p:txBody>
          <a:bodyPr wrap="square" lIns="0" tIns="0" rIns="0" bIns="0" rtlCol="0" anchor="ctr"/>
          <a:lstStyle/>
          <a:p>
            <a:pPr indent="0" marL="0">
              <a:buNone/>
            </a:pPr>
            <a:r>
              <a:rPr lang="en-US" sz="1000" spc="200" kern="0" dirty="0">
                <a:solidFill>
                  <a:srgbClr val="F4F5F6"/>
                </a:solidFill>
                <a:latin typeface="Courier New" pitchFamily="34" charset="0"/>
                <a:ea typeface="Courier New" pitchFamily="34" charset="-122"/>
                <a:cs typeface="Courier New" pitchFamily="34" charset="-120"/>
              </a:rPr>
              <a:t>DOCUMENTS NEVER STORED</a:t>
            </a:r>
            <a:endParaRPr lang="en-US" sz="1000" dirty="0"/>
          </a:p>
        </p:txBody>
      </p:sp>
      <p:sp>
        <p:nvSpPr>
          <p:cNvPr id="9" name="Text 5"/>
          <p:cNvSpPr txBox="1"/>
          <p:nvPr/>
        </p:nvSpPr>
        <p:spPr>
          <a:xfrm>
            <a:off x="822960" y="3200400"/>
            <a:ext cx="365760" cy="237744"/>
          </a:xfrm>
          <a:prstGeom prst="rect">
            <a:avLst/>
          </a:prstGeom>
          <a:noFill/>
          <a:ln/>
        </p:spPr>
        <p:txBody>
          <a:bodyPr wrap="square" lIns="0" tIns="0" rIns="0" bIns="0" rtlCol="0" anchor="ctr"/>
          <a:lstStyle/>
          <a:p>
            <a:pPr indent="0" marL="0">
              <a:buNone/>
            </a:pPr>
            <a:r>
              <a:rPr lang="en-US" sz="900" dirty="0">
                <a:solidFill>
                  <a:srgbClr val="7A7D7E"/>
                </a:solidFill>
                <a:latin typeface="Courier New" pitchFamily="34" charset="0"/>
                <a:ea typeface="Courier New" pitchFamily="34" charset="-122"/>
                <a:cs typeface="Courier New" pitchFamily="34" charset="-120"/>
              </a:rPr>
              <a:t>02</a:t>
            </a:r>
            <a:endParaRPr lang="en-US" sz="900" dirty="0"/>
          </a:p>
        </p:txBody>
      </p:sp>
      <p:sp>
        <p:nvSpPr>
          <p:cNvPr id="10" name="Text 6"/>
          <p:cNvSpPr txBox="1"/>
          <p:nvPr/>
        </p:nvSpPr>
        <p:spPr>
          <a:xfrm>
            <a:off x="1280160" y="3200400"/>
            <a:ext cx="4572000" cy="237744"/>
          </a:xfrm>
          <a:prstGeom prst="rect">
            <a:avLst/>
          </a:prstGeom>
          <a:noFill/>
          <a:ln/>
        </p:spPr>
        <p:txBody>
          <a:bodyPr wrap="square" lIns="0" tIns="0" rIns="0" bIns="0" rtlCol="0" anchor="ctr"/>
          <a:lstStyle/>
          <a:p>
            <a:pPr indent="0" marL="0">
              <a:buNone/>
            </a:pPr>
            <a:r>
              <a:rPr lang="en-US" sz="1000" spc="200" kern="0" dirty="0">
                <a:solidFill>
                  <a:srgbClr val="F4F5F6"/>
                </a:solidFill>
                <a:latin typeface="Courier New" pitchFamily="34" charset="0"/>
                <a:ea typeface="Courier New" pitchFamily="34" charset="-122"/>
                <a:cs typeface="Courier New" pitchFamily="34" charset="-120"/>
              </a:rPr>
              <a:t>ONE HUMAN, ONE VOTE</a:t>
            </a:r>
            <a:endParaRPr lang="en-US" sz="1000" dirty="0"/>
          </a:p>
        </p:txBody>
      </p:sp>
      <p:sp>
        <p:nvSpPr>
          <p:cNvPr id="11" name="Text 7"/>
          <p:cNvSpPr txBox="1"/>
          <p:nvPr/>
        </p:nvSpPr>
        <p:spPr>
          <a:xfrm>
            <a:off x="822960" y="3794760"/>
            <a:ext cx="365760" cy="237744"/>
          </a:xfrm>
          <a:prstGeom prst="rect">
            <a:avLst/>
          </a:prstGeom>
          <a:noFill/>
          <a:ln/>
        </p:spPr>
        <p:txBody>
          <a:bodyPr wrap="square" lIns="0" tIns="0" rIns="0" bIns="0" rtlCol="0" anchor="ctr"/>
          <a:lstStyle/>
          <a:p>
            <a:pPr indent="0" marL="0">
              <a:buNone/>
            </a:pPr>
            <a:r>
              <a:rPr lang="en-US" sz="900" dirty="0">
                <a:solidFill>
                  <a:srgbClr val="7A7D7E"/>
                </a:solidFill>
                <a:latin typeface="Courier New" pitchFamily="34" charset="0"/>
                <a:ea typeface="Courier New" pitchFamily="34" charset="-122"/>
                <a:cs typeface="Courier New" pitchFamily="34" charset="-120"/>
              </a:rPr>
              <a:t>03</a:t>
            </a:r>
            <a:endParaRPr lang="en-US" sz="900" dirty="0"/>
          </a:p>
        </p:txBody>
      </p:sp>
      <p:sp>
        <p:nvSpPr>
          <p:cNvPr id="12" name="Text 8"/>
          <p:cNvSpPr txBox="1"/>
          <p:nvPr/>
        </p:nvSpPr>
        <p:spPr>
          <a:xfrm>
            <a:off x="1280160" y="3794760"/>
            <a:ext cx="4572000" cy="237744"/>
          </a:xfrm>
          <a:prstGeom prst="rect">
            <a:avLst/>
          </a:prstGeom>
          <a:noFill/>
          <a:ln/>
        </p:spPr>
        <p:txBody>
          <a:bodyPr wrap="square" lIns="0" tIns="0" rIns="0" bIns="0" rtlCol="0" anchor="ctr"/>
          <a:lstStyle/>
          <a:p>
            <a:pPr indent="0" marL="0">
              <a:buNone/>
            </a:pPr>
            <a:r>
              <a:rPr lang="en-US" sz="1000" spc="200" kern="0" dirty="0">
                <a:solidFill>
                  <a:srgbClr val="F4F5F6"/>
                </a:solidFill>
                <a:latin typeface="Courier New" pitchFamily="34" charset="0"/>
                <a:ea typeface="Courier New" pitchFamily="34" charset="-122"/>
                <a:cs typeface="Courier New" pitchFamily="34" charset="-120"/>
              </a:rPr>
              <a:t>REGION LOCKED FROM THE ID</a:t>
            </a:r>
            <a:endParaRPr lang="en-US" sz="1000" dirty="0"/>
          </a:p>
        </p:txBody>
      </p:sp>
      <p:sp>
        <p:nvSpPr>
          <p:cNvPr id="13" name="Text 9"/>
          <p:cNvSpPr txBox="1"/>
          <p:nvPr/>
        </p:nvSpPr>
        <p:spPr>
          <a:xfrm>
            <a:off x="822960" y="4389120"/>
            <a:ext cx="365760" cy="237744"/>
          </a:xfrm>
          <a:prstGeom prst="rect">
            <a:avLst/>
          </a:prstGeom>
          <a:noFill/>
          <a:ln/>
        </p:spPr>
        <p:txBody>
          <a:bodyPr wrap="square" lIns="0" tIns="0" rIns="0" bIns="0" rtlCol="0" anchor="ctr"/>
          <a:lstStyle/>
          <a:p>
            <a:pPr indent="0" marL="0">
              <a:buNone/>
            </a:pPr>
            <a:r>
              <a:rPr lang="en-US" sz="900" dirty="0">
                <a:solidFill>
                  <a:srgbClr val="7A7D7E"/>
                </a:solidFill>
                <a:latin typeface="Courier New" pitchFamily="34" charset="0"/>
                <a:ea typeface="Courier New" pitchFamily="34" charset="-122"/>
                <a:cs typeface="Courier New" pitchFamily="34" charset="-120"/>
              </a:rPr>
              <a:t>04</a:t>
            </a:r>
            <a:endParaRPr lang="en-US" sz="900" dirty="0"/>
          </a:p>
        </p:txBody>
      </p:sp>
      <p:sp>
        <p:nvSpPr>
          <p:cNvPr id="14" name="Text 10"/>
          <p:cNvSpPr txBox="1"/>
          <p:nvPr/>
        </p:nvSpPr>
        <p:spPr>
          <a:xfrm>
            <a:off x="1280160" y="4389120"/>
            <a:ext cx="4572000" cy="237744"/>
          </a:xfrm>
          <a:prstGeom prst="rect">
            <a:avLst/>
          </a:prstGeom>
          <a:noFill/>
          <a:ln/>
        </p:spPr>
        <p:txBody>
          <a:bodyPr wrap="square" lIns="0" tIns="0" rIns="0" bIns="0" rtlCol="0" anchor="ctr"/>
          <a:lstStyle/>
          <a:p>
            <a:pPr indent="0" marL="0">
              <a:buNone/>
            </a:pPr>
            <a:r>
              <a:rPr lang="en-US" sz="1000" spc="200" kern="0" dirty="0">
                <a:solidFill>
                  <a:srgbClr val="F4F5F6"/>
                </a:solidFill>
                <a:latin typeface="Courier New" pitchFamily="34" charset="0"/>
                <a:ea typeface="Courier New" pitchFamily="34" charset="-122"/>
                <a:cs typeface="Courier New" pitchFamily="34" charset="-120"/>
              </a:rPr>
              <a:t>PUBLIC-LEDGER RECEIPTS · PILOT</a:t>
            </a:r>
            <a:endParaRPr lang="en-US" sz="1000" dirty="0"/>
          </a:p>
        </p:txBody>
      </p:sp>
      <p:sp>
        <p:nvSpPr>
          <p:cNvPr id="15" name="Text 11"/>
          <p:cNvSpPr txBox="1"/>
          <p:nvPr/>
        </p:nvSpPr>
        <p:spPr>
          <a:xfrm>
            <a:off x="822960" y="4983480"/>
            <a:ext cx="365760" cy="237744"/>
          </a:xfrm>
          <a:prstGeom prst="rect">
            <a:avLst/>
          </a:prstGeom>
          <a:noFill/>
          <a:ln/>
        </p:spPr>
        <p:txBody>
          <a:bodyPr wrap="square" lIns="0" tIns="0" rIns="0" bIns="0" rtlCol="0" anchor="ctr"/>
          <a:lstStyle/>
          <a:p>
            <a:pPr indent="0" marL="0">
              <a:buNone/>
            </a:pPr>
            <a:r>
              <a:rPr lang="en-US" sz="900" dirty="0">
                <a:solidFill>
                  <a:srgbClr val="7A7D7E"/>
                </a:solidFill>
                <a:latin typeface="Courier New" pitchFamily="34" charset="0"/>
                <a:ea typeface="Courier New" pitchFamily="34" charset="-122"/>
                <a:cs typeface="Courier New" pitchFamily="34" charset="-120"/>
              </a:rPr>
              <a:t>05</a:t>
            </a:r>
            <a:endParaRPr lang="en-US" sz="900" dirty="0"/>
          </a:p>
        </p:txBody>
      </p:sp>
      <p:sp>
        <p:nvSpPr>
          <p:cNvPr id="16" name="Text 12"/>
          <p:cNvSpPr txBox="1"/>
          <p:nvPr/>
        </p:nvSpPr>
        <p:spPr>
          <a:xfrm>
            <a:off x="1280160" y="4983480"/>
            <a:ext cx="4572000" cy="237744"/>
          </a:xfrm>
          <a:prstGeom prst="rect">
            <a:avLst/>
          </a:prstGeom>
          <a:noFill/>
          <a:ln/>
        </p:spPr>
        <p:txBody>
          <a:bodyPr wrap="square" lIns="0" tIns="0" rIns="0" bIns="0" rtlCol="0" anchor="ctr"/>
          <a:lstStyle/>
          <a:p>
            <a:pPr indent="0" marL="0">
              <a:buNone/>
            </a:pPr>
            <a:r>
              <a:rPr lang="en-US" sz="1000" spc="200" kern="0" dirty="0">
                <a:solidFill>
                  <a:srgbClr val="F4F5F6"/>
                </a:solidFill>
                <a:latin typeface="Courier New" pitchFamily="34" charset="0"/>
                <a:ea typeface="Courier New" pitchFamily="34" charset="-122"/>
                <a:cs typeface="Courier New" pitchFamily="34" charset="-120"/>
              </a:rPr>
              <a:t>NO RESULT UNTIL 10 VERIFIED BALLOTS</a:t>
            </a:r>
            <a:endParaRPr lang="en-US" sz="1000" dirty="0"/>
          </a:p>
        </p:txBody>
      </p:sp>
      <p:sp>
        <p:nvSpPr>
          <p:cNvPr id="17" name="Text 13"/>
          <p:cNvSpPr txBox="1"/>
          <p:nvPr/>
        </p:nvSpPr>
        <p:spPr>
          <a:xfrm>
            <a:off x="6766560" y="1609344"/>
            <a:ext cx="411480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SEALED · BELOW 10 VERIFIED BALLOTS</a:t>
            </a:r>
            <a:endParaRPr lang="en-US" sz="800" dirty="0"/>
          </a:p>
        </p:txBody>
      </p:sp>
      <p:sp>
        <p:nvSpPr>
          <p:cNvPr id="18" name="Text 14"/>
          <p:cNvSpPr txBox="1"/>
          <p:nvPr/>
        </p:nvSpPr>
        <p:spPr>
          <a:xfrm>
            <a:off x="6766560" y="2459736"/>
            <a:ext cx="411480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SEALED · BELOW 10 VERIFIED BALLOTS</a:t>
            </a:r>
            <a:endParaRPr lang="en-US" sz="800" dirty="0"/>
          </a:p>
        </p:txBody>
      </p:sp>
      <p:sp>
        <p:nvSpPr>
          <p:cNvPr id="19" name="Text 15"/>
          <p:cNvSpPr txBox="1"/>
          <p:nvPr/>
        </p:nvSpPr>
        <p:spPr>
          <a:xfrm>
            <a:off x="6766560" y="3319272"/>
            <a:ext cx="411480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SEALED · BELOW 10 VERIFIED BALLOTS</a:t>
            </a:r>
            <a:endParaRPr lang="en-US" sz="800" dirty="0"/>
          </a:p>
        </p:txBody>
      </p:sp>
      <p:sp>
        <p:nvSpPr>
          <p:cNvPr id="20" name="Text 16"/>
          <p:cNvSpPr txBox="1"/>
          <p:nvPr/>
        </p:nvSpPr>
        <p:spPr>
          <a:xfrm>
            <a:off x="6766560" y="4169664"/>
            <a:ext cx="411480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SEALED · BELOW 10 VERIFIED BALLOTS</a:t>
            </a:r>
            <a:endParaRPr lang="en-US" sz="800" dirty="0"/>
          </a:p>
        </p:txBody>
      </p:sp>
      <p:sp>
        <p:nvSpPr>
          <p:cNvPr id="21" name="Text 17"/>
          <p:cNvSpPr txBox="1"/>
          <p:nvPr/>
        </p:nvSpPr>
        <p:spPr>
          <a:xfrm>
            <a:off x="6766560" y="5020056"/>
            <a:ext cx="411480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OPEN · 10 VERIFIED BALLOTS REACHED</a:t>
            </a:r>
            <a:endParaRPr lang="en-US" sz="800" dirty="0"/>
          </a:p>
        </p:txBody>
      </p:sp>
      <p:sp>
        <p:nvSpPr>
          <p:cNvPr id="22" name="Text 18"/>
          <p:cNvSpPr txBox="1"/>
          <p:nvPr/>
        </p:nvSpPr>
        <p:spPr>
          <a:xfrm>
            <a:off x="6766560" y="5358384"/>
            <a:ext cx="411480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FILL WIDTH ILLUSTRATIVE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09</a:t>
            </a:r>
            <a:endParaRPr lang="en-US" sz="800" dirty="0"/>
          </a:p>
        </p:txBody>
      </p:sp>
      <p:sp>
        <p:nvSpPr>
          <p:cNvPr id="4" name="Text 1"/>
          <p:cNvSpPr txBox="1"/>
          <p:nvPr/>
        </p:nvSpPr>
        <p:spPr>
          <a:xfrm>
            <a:off x="822960" y="603504"/>
            <a:ext cx="10515600" cy="237744"/>
          </a:xfrm>
          <a:prstGeom prst="rect">
            <a:avLst/>
          </a:prstGeom>
          <a:noFill/>
          <a:ln/>
        </p:spPr>
        <p:txBody>
          <a:bodyPr wrap="square" lIns="0" tIns="0" rIns="0" bIns="0" rtlCol="0" anchor="ctr"/>
          <a:lstStyle/>
          <a:p>
            <a:pPr algn="l" indent="0" marL="0">
              <a:buNone/>
            </a:pPr>
            <a:r>
              <a:rPr lang="en-US" sz="900" spc="300" kern="0" dirty="0">
                <a:solidFill>
                  <a:srgbClr val="7A7D7E"/>
                </a:solidFill>
                <a:latin typeface="Courier New" pitchFamily="34" charset="0"/>
                <a:ea typeface="Courier New" pitchFamily="34" charset="-122"/>
                <a:cs typeface="Courier New" pitchFamily="34" charset="-120"/>
              </a:rPr>
              <a:t>BRIGADE · COUNTABLE · VOTIZEN</a:t>
            </a:r>
            <a:endParaRPr lang="en-US" sz="900" dirty="0"/>
          </a:p>
        </p:txBody>
      </p:sp>
      <p:sp>
        <p:nvSpPr>
          <p:cNvPr id="5" name="Text 2"/>
          <p:cNvSpPr txBox="1"/>
          <p:nvPr/>
        </p:nvSpPr>
        <p:spPr>
          <a:xfrm>
            <a:off x="822960" y="932688"/>
            <a:ext cx="9875520" cy="2377440"/>
          </a:xfrm>
          <a:prstGeom prst="rect">
            <a:avLst/>
          </a:prstGeom>
          <a:noFill/>
          <a:ln/>
        </p:spPr>
        <p:txBody>
          <a:bodyPr wrap="square" lIns="0" tIns="0" rIns="0" bIns="0" rtlCol="0" anchor="t"/>
          <a:lstStyle/>
          <a:p>
            <a:pPr algn="l" indent="0" marL="0">
              <a:lnSpc>
                <a:spcPts val="4600"/>
              </a:lnSpc>
              <a:buNone/>
            </a:pPr>
            <a:r>
              <a:rPr lang="en-US" sz="4000" dirty="0">
                <a:solidFill>
                  <a:srgbClr val="F4F5F6"/>
                </a:solidFill>
                <a:latin typeface="Cambria" pitchFamily="34" charset="0"/>
                <a:ea typeface="Cambria" pitchFamily="34" charset="-122"/>
                <a:cs typeface="Cambria" pitchFamily="34" charset="-120"/>
              </a:rPr>
              <a:t>An investor coach told me this space is a tar pit.</a:t>
            </a:r>
            <a:endParaRPr lang="en-US" sz="4000" dirty="0"/>
          </a:p>
        </p:txBody>
      </p:sp>
      <p:sp>
        <p:nvSpPr>
          <p:cNvPr id="6" name="Text 3"/>
          <p:cNvSpPr txBox="1"/>
          <p:nvPr/>
        </p:nvSpPr>
        <p:spPr>
          <a:xfrm>
            <a:off x="822960" y="3566160"/>
            <a:ext cx="5852160" cy="1645920"/>
          </a:xfrm>
          <a:prstGeom prst="rect">
            <a:avLst/>
          </a:prstGeom>
          <a:noFill/>
          <a:ln/>
        </p:spPr>
        <p:txBody>
          <a:bodyPr wrap="square" lIns="0" tIns="0" rIns="0" bIns="0" rtlCol="0" anchor="t"/>
          <a:lstStyle/>
          <a:p>
            <a:pPr algn="l" indent="0" marL="0">
              <a:lnSpc>
                <a:spcPts val="1900"/>
              </a:lnSpc>
              <a:buNone/>
            </a:pPr>
            <a:r>
              <a:rPr lang="en-US" sz="1300" dirty="0">
                <a:solidFill>
                  <a:srgbClr val="B8BABB"/>
                </a:solidFill>
                <a:latin typeface="Calibri" pitchFamily="34" charset="0"/>
                <a:ea typeface="Calibri" pitchFamily="34" charset="-122"/>
                <a:cs typeface="Calibri" pitchFamily="34" charset="-120"/>
              </a:rPr>
              <a:t>Brigade — Sean Parker behind it, roughly $9M raised. Dead. Countable. Dead. Votizen. Dead.</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Autopsy, every time: input anyone could dismiss as bots, and nobody who had to pay.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10</a:t>
            </a:r>
            <a:endParaRPr lang="en-US" sz="800" dirty="0"/>
          </a:p>
        </p:txBody>
      </p:sp>
      <p:sp>
        <p:nvSpPr>
          <p:cNvPr id="4" name="Text 1"/>
          <p:cNvSpPr txBox="1"/>
          <p:nvPr/>
        </p:nvSpPr>
        <p:spPr>
          <a:xfrm>
            <a:off x="822960" y="932688"/>
            <a:ext cx="9692640" cy="2377440"/>
          </a:xfrm>
          <a:prstGeom prst="rect">
            <a:avLst/>
          </a:prstGeom>
          <a:noFill/>
          <a:ln/>
        </p:spPr>
        <p:txBody>
          <a:bodyPr wrap="square" lIns="0" tIns="0" rIns="0" bIns="0" rtlCol="0" anchor="t"/>
          <a:lstStyle/>
          <a:p>
            <a:pPr algn="l" indent="0" marL="0">
              <a:lnSpc>
                <a:spcPts val="4600"/>
              </a:lnSpc>
              <a:buNone/>
            </a:pPr>
            <a:r>
              <a:rPr lang="en-US" sz="4000" dirty="0">
                <a:solidFill>
                  <a:srgbClr val="F4F5F6"/>
                </a:solidFill>
                <a:latin typeface="Cambria" pitchFamily="34" charset="0"/>
                <a:ea typeface="Cambria" pitchFamily="34" charset="-122"/>
                <a:cs typeface="Cambria" pitchFamily="34" charset="-120"/>
              </a:rPr>
              <a:t>Brigade needed a technology that didn’t exist. </a:t>
            </a:r>
            <a:pPr algn="l" indent="0" marL="0">
              <a:lnSpc>
                <a:spcPts val="4600"/>
              </a:lnSpc>
              <a:buNone/>
            </a:pPr>
            <a:r>
              <a:rPr lang="en-US" sz="4000" dirty="0">
                <a:solidFill>
                  <a:srgbClr val="EABA58"/>
                </a:solidFill>
                <a:latin typeface="Cambria" pitchFamily="34" charset="0"/>
                <a:ea typeface="Cambria" pitchFamily="34" charset="-122"/>
                <a:cs typeface="Cambria" pitchFamily="34" charset="-120"/>
              </a:rPr>
              <a:t>It does now.</a:t>
            </a:r>
            <a:endParaRPr lang="en-US" sz="4000" dirty="0"/>
          </a:p>
        </p:txBody>
      </p:sp>
      <p:sp>
        <p:nvSpPr>
          <p:cNvPr id="5" name="Text 2"/>
          <p:cNvSpPr txBox="1"/>
          <p:nvPr/>
        </p:nvSpPr>
        <p:spPr>
          <a:xfrm>
            <a:off x="822960" y="3383280"/>
            <a:ext cx="5852160" cy="2194560"/>
          </a:xfrm>
          <a:prstGeom prst="rect">
            <a:avLst/>
          </a:prstGeom>
          <a:noFill/>
          <a:ln/>
        </p:spPr>
        <p:txBody>
          <a:bodyPr wrap="square" lIns="0" tIns="0" rIns="0" bIns="0" rtlCol="0" anchor="t"/>
          <a:lstStyle/>
          <a:p>
            <a:pPr algn="l" indent="0" marL="0">
              <a:lnSpc>
                <a:spcPts val="1900"/>
              </a:lnSpc>
              <a:buNone/>
            </a:pPr>
            <a:r>
              <a:rPr lang="en-US" sz="1300" dirty="0">
                <a:solidFill>
                  <a:srgbClr val="B8BABB"/>
                </a:solidFill>
                <a:latin typeface="Calibri" pitchFamily="34" charset="0"/>
                <a:ea typeface="Calibri" pitchFamily="34" charset="-122"/>
                <a:cs typeface="Calibri" pitchFamily="34" charset="-120"/>
              </a:rPr>
              <a:t>What they lacked: proof a voice was human. Cheap ID verification arrived after they died.</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Who they lacked: a paying customer. Ours already buy voting software.</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The graveyard isn’t a warning. It’s proof the demand kept coming back.</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707"/>
        </a:solidFill>
      </p:bgPr>
    </p:bg>
    <p:spTree>
      <p:nvGrpSpPr>
        <p:cNvPr id="1" name=""/>
        <p:cNvGrpSpPr/>
        <p:nvPr/>
      </p:nvGrpSpPr>
      <p:grpSpPr>
        <a:xfrm>
          <a:off x="0" y="0"/>
          <a:ext cx="0" cy="0"/>
          <a:chOff x="0" y="0"/>
          <a:chExt cx="0" cy="0"/>
        </a:xfrm>
      </p:grpSpPr>
      <p:pic>
        <p:nvPicPr>
          <p:cNvPr id="3" name="Image 0" descr="/home/user/rpv-mobile-clone/pitch/ultimate/v2/plate06.jp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11</a:t>
            </a:r>
            <a:endParaRPr lang="en-US" sz="800" dirty="0"/>
          </a:p>
        </p:txBody>
      </p:sp>
      <p:sp>
        <p:nvSpPr>
          <p:cNvPr id="5" name="Text 1"/>
          <p:cNvSpPr txBox="1"/>
          <p:nvPr/>
        </p:nvSpPr>
        <p:spPr>
          <a:xfrm>
            <a:off x="822960" y="603504"/>
            <a:ext cx="10515600" cy="237744"/>
          </a:xfrm>
          <a:prstGeom prst="rect">
            <a:avLst/>
          </a:prstGeom>
          <a:noFill/>
          <a:ln/>
        </p:spPr>
        <p:txBody>
          <a:bodyPr wrap="square" lIns="0" tIns="0" rIns="0" bIns="0" rtlCol="0" anchor="ctr"/>
          <a:lstStyle/>
          <a:p>
            <a:pPr algn="l" indent="0" marL="0">
              <a:buNone/>
            </a:pPr>
            <a:r>
              <a:rPr lang="en-US" sz="900" spc="300" kern="0" dirty="0">
                <a:solidFill>
                  <a:srgbClr val="7A7D7E"/>
                </a:solidFill>
                <a:latin typeface="Courier New" pitchFamily="34" charset="0"/>
                <a:ea typeface="Courier New" pitchFamily="34" charset="-122"/>
                <a:cs typeface="Courier New" pitchFamily="34" charset="-120"/>
              </a:rPr>
              <a:t>LIVE · APP STORE</a:t>
            </a:r>
            <a:endParaRPr lang="en-US" sz="900" dirty="0"/>
          </a:p>
        </p:txBody>
      </p:sp>
      <p:sp>
        <p:nvSpPr>
          <p:cNvPr id="6" name="Text 2"/>
          <p:cNvSpPr txBox="1"/>
          <p:nvPr/>
        </p:nvSpPr>
        <p:spPr>
          <a:xfrm>
            <a:off x="822960" y="932688"/>
            <a:ext cx="10515600" cy="1005840"/>
          </a:xfrm>
          <a:prstGeom prst="rect">
            <a:avLst/>
          </a:prstGeom>
          <a:noFill/>
          <a:ln/>
        </p:spPr>
        <p:txBody>
          <a:bodyPr wrap="square" lIns="0" tIns="0" rIns="0" bIns="0" rtlCol="0" anchor="t"/>
          <a:lstStyle/>
          <a:p>
            <a:pPr algn="l" indent="0" marL="0">
              <a:lnSpc>
                <a:spcPts val="3200"/>
              </a:lnSpc>
              <a:buNone/>
            </a:pPr>
            <a:r>
              <a:rPr lang="en-US" sz="2800" dirty="0">
                <a:solidFill>
                  <a:srgbClr val="F4F5F6"/>
                </a:solidFill>
                <a:latin typeface="Cambria" pitchFamily="34" charset="0"/>
                <a:ea typeface="Cambria" pitchFamily="34" charset="-122"/>
                <a:cs typeface="Cambria" pitchFamily="34" charset="-120"/>
              </a:rPr>
              <a:t>Our traction, at true scale.</a:t>
            </a:r>
            <a:endParaRPr lang="en-US" sz="2800" dirty="0"/>
          </a:p>
        </p:txBody>
      </p:sp>
      <p:sp>
        <p:nvSpPr>
          <p:cNvPr id="7" name="Text 3"/>
          <p:cNvSpPr txBox="1"/>
          <p:nvPr/>
        </p:nvSpPr>
        <p:spPr>
          <a:xfrm>
            <a:off x="1527048" y="4864608"/>
            <a:ext cx="292608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10,000 VOTERS · FOR SCALE</a:t>
            </a:r>
            <a:endParaRPr lang="en-US" sz="850" dirty="0"/>
          </a:p>
        </p:txBody>
      </p:sp>
      <p:sp>
        <p:nvSpPr>
          <p:cNvPr id="8" name="Text 4"/>
          <p:cNvSpPr txBox="1"/>
          <p:nvPr/>
        </p:nvSpPr>
        <p:spPr>
          <a:xfrm>
            <a:off x="4617720" y="4864608"/>
            <a:ext cx="2011680" cy="201168"/>
          </a:xfrm>
          <a:prstGeom prst="rect">
            <a:avLst/>
          </a:prstGeom>
          <a:noFill/>
          <a:ln/>
        </p:spPr>
        <p:txBody>
          <a:bodyPr wrap="square" lIns="0" tIns="0" rIns="0" bIns="0" rtlCol="0" anchor="ctr"/>
          <a:lstStyle/>
          <a:p>
            <a:pPr algn="ctr" indent="0" marL="0">
              <a:buNone/>
            </a:pPr>
            <a:r>
              <a:rPr lang="en-US" sz="850" spc="200" kern="0" dirty="0">
                <a:solidFill>
                  <a:srgbClr val="7A7D7E"/>
                </a:solidFill>
                <a:latin typeface="Courier New" pitchFamily="34" charset="0"/>
                <a:ea typeface="Courier New" pitchFamily="34" charset="-122"/>
                <a:cs typeface="Courier New" pitchFamily="34" charset="-120"/>
              </a:rPr>
              <a:t>≈157 QUESTIONS ASKED</a:t>
            </a:r>
            <a:endParaRPr lang="en-US" sz="850" dirty="0"/>
          </a:p>
        </p:txBody>
      </p:sp>
      <p:sp>
        <p:nvSpPr>
          <p:cNvPr id="9" name="Text 5"/>
          <p:cNvSpPr txBox="1"/>
          <p:nvPr/>
        </p:nvSpPr>
        <p:spPr>
          <a:xfrm>
            <a:off x="6812280" y="4864608"/>
            <a:ext cx="2103120" cy="201168"/>
          </a:xfrm>
          <a:prstGeom prst="rect">
            <a:avLst/>
          </a:prstGeom>
          <a:noFill/>
          <a:ln/>
        </p:spPr>
        <p:txBody>
          <a:bodyPr wrap="square" lIns="0" tIns="0" rIns="0" bIns="0" rtlCol="0" anchor="ctr"/>
          <a:lstStyle/>
          <a:p>
            <a:pPr algn="ctr" indent="0" marL="0">
              <a:buNone/>
            </a:pPr>
            <a:r>
              <a:rPr lang="en-US" sz="850" spc="200" kern="0" dirty="0">
                <a:solidFill>
                  <a:srgbClr val="7A7D7E"/>
                </a:solidFill>
                <a:latin typeface="Courier New" pitchFamily="34" charset="0"/>
                <a:ea typeface="Courier New" pitchFamily="34" charset="-122"/>
                <a:cs typeface="Courier New" pitchFamily="34" charset="-120"/>
              </a:rPr>
              <a:t>≈190 BALLOTS RECORDED</a:t>
            </a:r>
            <a:endParaRPr lang="en-US" sz="850" dirty="0"/>
          </a:p>
        </p:txBody>
      </p:sp>
      <p:sp>
        <p:nvSpPr>
          <p:cNvPr id="10" name="Text 6"/>
          <p:cNvSpPr txBox="1"/>
          <p:nvPr/>
        </p:nvSpPr>
        <p:spPr>
          <a:xfrm>
            <a:off x="9006840" y="4864608"/>
            <a:ext cx="265176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A FEW DOZEN VERIFIED HUMANS</a:t>
            </a:r>
            <a:endParaRPr lang="en-US" sz="850" dirty="0"/>
          </a:p>
        </p:txBody>
      </p:sp>
      <p:sp>
        <p:nvSpPr>
          <p:cNvPr id="11" name="Text 7"/>
          <p:cNvSpPr txBox="1"/>
          <p:nvPr/>
        </p:nvSpPr>
        <p:spPr>
          <a:xfrm>
            <a:off x="9006840" y="5084064"/>
            <a:ext cx="292608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EACH PASSED GOVERNMENT ID + LIVENESS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12</a:t>
            </a:r>
            <a:endParaRPr lang="en-US" sz="800" dirty="0"/>
          </a:p>
        </p:txBody>
      </p:sp>
      <p:sp>
        <p:nvSpPr>
          <p:cNvPr id="4" name="Text 1"/>
          <p:cNvSpPr txBox="1"/>
          <p:nvPr/>
        </p:nvSpPr>
        <p:spPr>
          <a:xfrm>
            <a:off x="822960" y="603504"/>
            <a:ext cx="10515600" cy="237744"/>
          </a:xfrm>
          <a:prstGeom prst="rect">
            <a:avLst/>
          </a:prstGeom>
          <a:noFill/>
          <a:ln/>
        </p:spPr>
        <p:txBody>
          <a:bodyPr wrap="square" lIns="0" tIns="0" rIns="0" bIns="0" rtlCol="0" anchor="ctr"/>
          <a:lstStyle/>
          <a:p>
            <a:pPr algn="l" indent="0" marL="0">
              <a:buNone/>
            </a:pPr>
            <a:r>
              <a:rPr lang="en-US" sz="900" spc="300" kern="0" dirty="0">
                <a:solidFill>
                  <a:srgbClr val="7A7D7E"/>
                </a:solidFill>
                <a:latin typeface="Courier New" pitchFamily="34" charset="0"/>
                <a:ea typeface="Courier New" pitchFamily="34" charset="-122"/>
                <a:cs typeface="Courier New" pitchFamily="34" charset="-120"/>
              </a:rPr>
              <a:t>ADVOCACY · UNIONS · MUNICIPALITIES · MEDIA</a:t>
            </a:r>
            <a:endParaRPr lang="en-US" sz="900" dirty="0"/>
          </a:p>
        </p:txBody>
      </p:sp>
      <p:sp>
        <p:nvSpPr>
          <p:cNvPr id="5" name="Text 2"/>
          <p:cNvSpPr txBox="1"/>
          <p:nvPr/>
        </p:nvSpPr>
        <p:spPr>
          <a:xfrm>
            <a:off x="822960" y="932688"/>
            <a:ext cx="10515600" cy="1005840"/>
          </a:xfrm>
          <a:prstGeom prst="rect">
            <a:avLst/>
          </a:prstGeom>
          <a:noFill/>
          <a:ln/>
        </p:spPr>
        <p:txBody>
          <a:bodyPr wrap="square" lIns="0" tIns="0" rIns="0" bIns="0" rtlCol="0" anchor="t"/>
          <a:lstStyle/>
          <a:p>
            <a:pPr algn="l" indent="0" marL="0">
              <a:lnSpc>
                <a:spcPts val="3200"/>
              </a:lnSpc>
              <a:buNone/>
            </a:pPr>
            <a:r>
              <a:rPr lang="en-US" sz="2800" dirty="0">
                <a:solidFill>
                  <a:srgbClr val="F4F5F6"/>
                </a:solidFill>
                <a:latin typeface="Cambria" pitchFamily="34" charset="0"/>
                <a:ea typeface="Cambria" pitchFamily="34" charset="-122"/>
                <a:cs typeface="Cambria" pitchFamily="34" charset="-120"/>
              </a:rPr>
              <a:t>Organizations pay to ask. Citizens never pay to answer.</a:t>
            </a:r>
            <a:endParaRPr lang="en-US" sz="2800" dirty="0"/>
          </a:p>
        </p:txBody>
      </p:sp>
      <p:sp>
        <p:nvSpPr>
          <p:cNvPr id="6" name="Text 3"/>
          <p:cNvSpPr txBox="1"/>
          <p:nvPr/>
        </p:nvSpPr>
        <p:spPr>
          <a:xfrm>
            <a:off x="822960" y="2514600"/>
            <a:ext cx="2377440" cy="731520"/>
          </a:xfrm>
          <a:prstGeom prst="rect">
            <a:avLst/>
          </a:prstGeom>
          <a:noFill/>
          <a:ln/>
        </p:spPr>
        <p:txBody>
          <a:bodyPr wrap="square" lIns="0" tIns="0" rIns="0" bIns="0" rtlCol="0" anchor="ctr"/>
          <a:lstStyle/>
          <a:p>
            <a:pPr indent="0" marL="0">
              <a:buNone/>
            </a:pPr>
            <a:r>
              <a:rPr lang="en-US" sz="4000" dirty="0">
                <a:solidFill>
                  <a:srgbClr val="EABA58"/>
                </a:solidFill>
                <a:latin typeface="Cambria" pitchFamily="34" charset="0"/>
                <a:ea typeface="Cambria" pitchFamily="34" charset="-122"/>
                <a:cs typeface="Cambria" pitchFamily="34" charset="-120"/>
              </a:rPr>
              <a:t>$0</a:t>
            </a:r>
            <a:endParaRPr lang="en-US" sz="4000" dirty="0"/>
          </a:p>
        </p:txBody>
      </p:sp>
      <p:sp>
        <p:nvSpPr>
          <p:cNvPr id="7" name="Shape 4"/>
          <p:cNvSpPr/>
          <p:nvPr/>
        </p:nvSpPr>
        <p:spPr>
          <a:xfrm>
            <a:off x="822960" y="3355848"/>
            <a:ext cx="548640" cy="10973"/>
          </a:xfrm>
          <a:prstGeom prst="rect">
            <a:avLst/>
          </a:prstGeom>
          <a:solidFill>
            <a:srgbClr val="23282A"/>
          </a:solidFill>
          <a:ln/>
        </p:spPr>
      </p:sp>
      <p:sp>
        <p:nvSpPr>
          <p:cNvPr id="8" name="Text 5"/>
          <p:cNvSpPr txBox="1"/>
          <p:nvPr/>
        </p:nvSpPr>
        <p:spPr>
          <a:xfrm>
            <a:off x="822960" y="3447288"/>
            <a:ext cx="2377440" cy="219456"/>
          </a:xfrm>
          <a:prstGeom prst="rect">
            <a:avLst/>
          </a:prstGeom>
          <a:noFill/>
          <a:ln/>
        </p:spPr>
        <p:txBody>
          <a:bodyPr wrap="square" lIns="0" tIns="0" rIns="0" bIns="0" rtlCol="0" anchor="ctr"/>
          <a:lstStyle/>
          <a:p>
            <a:pPr indent="0" marL="0">
              <a:buNone/>
            </a:pPr>
            <a:r>
              <a:rPr lang="en-US" sz="850" spc="200" kern="0" dirty="0">
                <a:solidFill>
                  <a:srgbClr val="7A7D7E"/>
                </a:solidFill>
                <a:latin typeface="Courier New" pitchFamily="34" charset="0"/>
                <a:ea typeface="Courier New" pitchFamily="34" charset="-122"/>
                <a:cs typeface="Courier New" pitchFamily="34" charset="-120"/>
              </a:rPr>
              <a:t>CITIZENS · FOREVER</a:t>
            </a:r>
            <a:endParaRPr lang="en-US" sz="850" dirty="0"/>
          </a:p>
        </p:txBody>
      </p:sp>
      <p:sp>
        <p:nvSpPr>
          <p:cNvPr id="9" name="Text 6"/>
          <p:cNvSpPr txBox="1"/>
          <p:nvPr/>
        </p:nvSpPr>
        <p:spPr>
          <a:xfrm>
            <a:off x="822960" y="3703320"/>
            <a:ext cx="2377440" cy="502920"/>
          </a:xfrm>
          <a:prstGeom prst="rect">
            <a:avLst/>
          </a:prstGeom>
          <a:noFill/>
          <a:ln/>
        </p:spPr>
        <p:txBody>
          <a:bodyPr wrap="square" lIns="0" tIns="0" rIns="0" bIns="0" rtlCol="0" anchor="ctr"/>
          <a:lstStyle/>
          <a:p>
            <a:pPr indent="0" marL="0">
              <a:lnSpc>
                <a:spcPts val="1500"/>
              </a:lnSpc>
              <a:buNone/>
            </a:pPr>
            <a:r>
              <a:rPr lang="en-US" sz="1050" dirty="0">
                <a:solidFill>
                  <a:srgbClr val="7A7D7E"/>
                </a:solidFill>
                <a:latin typeface="Calibri" pitchFamily="34" charset="0"/>
                <a:ea typeface="Calibri" pitchFamily="34" charset="-122"/>
                <a:cs typeface="Calibri" pitchFamily="34" charset="-120"/>
              </a:rPr>
              <a:t>Voting is never paid.</a:t>
            </a:r>
            <a:endParaRPr lang="en-US" sz="1050" dirty="0"/>
          </a:p>
        </p:txBody>
      </p:sp>
      <p:sp>
        <p:nvSpPr>
          <p:cNvPr id="10" name="Text 7"/>
          <p:cNvSpPr txBox="1"/>
          <p:nvPr/>
        </p:nvSpPr>
        <p:spPr>
          <a:xfrm>
            <a:off x="3520440" y="2514600"/>
            <a:ext cx="2377440" cy="731520"/>
          </a:xfrm>
          <a:prstGeom prst="rect">
            <a:avLst/>
          </a:prstGeom>
          <a:noFill/>
          <a:ln/>
        </p:spPr>
        <p:txBody>
          <a:bodyPr wrap="square" lIns="0" tIns="0" rIns="0" bIns="0" rtlCol="0" anchor="ctr"/>
          <a:lstStyle/>
          <a:p>
            <a:pPr indent="0" marL="0">
              <a:buNone/>
            </a:pPr>
            <a:r>
              <a:rPr lang="en-US" sz="4000" dirty="0">
                <a:solidFill>
                  <a:srgbClr val="F4F5F6"/>
                </a:solidFill>
                <a:latin typeface="Cambria" pitchFamily="34" charset="0"/>
                <a:ea typeface="Cambria" pitchFamily="34" charset="-122"/>
                <a:cs typeface="Cambria" pitchFamily="34" charset="-120"/>
              </a:rPr>
              <a:t>$59</a:t>
            </a:r>
            <a:endParaRPr lang="en-US" sz="4000" dirty="0"/>
          </a:p>
        </p:txBody>
      </p:sp>
      <p:sp>
        <p:nvSpPr>
          <p:cNvPr id="11" name="Shape 8"/>
          <p:cNvSpPr/>
          <p:nvPr/>
        </p:nvSpPr>
        <p:spPr>
          <a:xfrm>
            <a:off x="3520440" y="3355848"/>
            <a:ext cx="548640" cy="10973"/>
          </a:xfrm>
          <a:prstGeom prst="rect">
            <a:avLst/>
          </a:prstGeom>
          <a:solidFill>
            <a:srgbClr val="23282A"/>
          </a:solidFill>
          <a:ln/>
        </p:spPr>
      </p:sp>
      <p:sp>
        <p:nvSpPr>
          <p:cNvPr id="12" name="Text 9"/>
          <p:cNvSpPr txBox="1"/>
          <p:nvPr/>
        </p:nvSpPr>
        <p:spPr>
          <a:xfrm>
            <a:off x="3520440" y="3447288"/>
            <a:ext cx="2377440" cy="219456"/>
          </a:xfrm>
          <a:prstGeom prst="rect">
            <a:avLst/>
          </a:prstGeom>
          <a:noFill/>
          <a:ln/>
        </p:spPr>
        <p:txBody>
          <a:bodyPr wrap="square" lIns="0" tIns="0" rIns="0" bIns="0" rtlCol="0" anchor="ctr"/>
          <a:lstStyle/>
          <a:p>
            <a:pPr indent="0" marL="0">
              <a:buNone/>
            </a:pPr>
            <a:r>
              <a:rPr lang="en-US" sz="850" spc="200" kern="0" dirty="0">
                <a:solidFill>
                  <a:srgbClr val="7A7D7E"/>
                </a:solidFill>
                <a:latin typeface="Courier New" pitchFamily="34" charset="0"/>
                <a:ea typeface="Courier New" pitchFamily="34" charset="-122"/>
                <a:cs typeface="Courier New" pitchFamily="34" charset="-120"/>
              </a:rPr>
              <a:t>ORG TIER · MONTHLY</a:t>
            </a:r>
            <a:endParaRPr lang="en-US" sz="850" dirty="0"/>
          </a:p>
        </p:txBody>
      </p:sp>
      <p:sp>
        <p:nvSpPr>
          <p:cNvPr id="13" name="Text 10"/>
          <p:cNvSpPr txBox="1"/>
          <p:nvPr/>
        </p:nvSpPr>
        <p:spPr>
          <a:xfrm>
            <a:off x="6217920" y="2514600"/>
            <a:ext cx="2377440" cy="731520"/>
          </a:xfrm>
          <a:prstGeom prst="rect">
            <a:avLst/>
          </a:prstGeom>
          <a:noFill/>
          <a:ln/>
        </p:spPr>
        <p:txBody>
          <a:bodyPr wrap="square" lIns="0" tIns="0" rIns="0" bIns="0" rtlCol="0" anchor="ctr"/>
          <a:lstStyle/>
          <a:p>
            <a:pPr indent="0" marL="0">
              <a:buNone/>
            </a:pPr>
            <a:r>
              <a:rPr lang="en-US" sz="4000" dirty="0">
                <a:solidFill>
                  <a:srgbClr val="F4F5F6"/>
                </a:solidFill>
                <a:latin typeface="Cambria" pitchFamily="34" charset="0"/>
                <a:ea typeface="Cambria" pitchFamily="34" charset="-122"/>
                <a:cs typeface="Cambria" pitchFamily="34" charset="-120"/>
              </a:rPr>
              <a:t>$179</a:t>
            </a:r>
            <a:endParaRPr lang="en-US" sz="4000" dirty="0"/>
          </a:p>
        </p:txBody>
      </p:sp>
      <p:sp>
        <p:nvSpPr>
          <p:cNvPr id="14" name="Shape 11"/>
          <p:cNvSpPr/>
          <p:nvPr/>
        </p:nvSpPr>
        <p:spPr>
          <a:xfrm>
            <a:off x="6217920" y="3355848"/>
            <a:ext cx="548640" cy="10973"/>
          </a:xfrm>
          <a:prstGeom prst="rect">
            <a:avLst/>
          </a:prstGeom>
          <a:solidFill>
            <a:srgbClr val="23282A"/>
          </a:solidFill>
          <a:ln/>
        </p:spPr>
      </p:sp>
      <p:sp>
        <p:nvSpPr>
          <p:cNvPr id="15" name="Text 12"/>
          <p:cNvSpPr txBox="1"/>
          <p:nvPr/>
        </p:nvSpPr>
        <p:spPr>
          <a:xfrm>
            <a:off x="6217920" y="3447288"/>
            <a:ext cx="2377440" cy="219456"/>
          </a:xfrm>
          <a:prstGeom prst="rect">
            <a:avLst/>
          </a:prstGeom>
          <a:noFill/>
          <a:ln/>
        </p:spPr>
        <p:txBody>
          <a:bodyPr wrap="square" lIns="0" tIns="0" rIns="0" bIns="0" rtlCol="0" anchor="ctr"/>
          <a:lstStyle/>
          <a:p>
            <a:pPr indent="0" marL="0">
              <a:buNone/>
            </a:pPr>
            <a:r>
              <a:rPr lang="en-US" sz="850" spc="200" kern="0" dirty="0">
                <a:solidFill>
                  <a:srgbClr val="7A7D7E"/>
                </a:solidFill>
                <a:latin typeface="Courier New" pitchFamily="34" charset="0"/>
                <a:ea typeface="Courier New" pitchFamily="34" charset="-122"/>
                <a:cs typeface="Courier New" pitchFamily="34" charset="-120"/>
              </a:rPr>
              <a:t>ORG TIER · MONTHLY</a:t>
            </a:r>
            <a:endParaRPr lang="en-US" sz="850" dirty="0"/>
          </a:p>
        </p:txBody>
      </p:sp>
      <p:sp>
        <p:nvSpPr>
          <p:cNvPr id="16" name="Text 13"/>
          <p:cNvSpPr txBox="1"/>
          <p:nvPr/>
        </p:nvSpPr>
        <p:spPr>
          <a:xfrm>
            <a:off x="8915400" y="2514600"/>
            <a:ext cx="2377440" cy="731520"/>
          </a:xfrm>
          <a:prstGeom prst="rect">
            <a:avLst/>
          </a:prstGeom>
          <a:noFill/>
          <a:ln/>
        </p:spPr>
        <p:txBody>
          <a:bodyPr wrap="square" lIns="0" tIns="0" rIns="0" bIns="0" rtlCol="0" anchor="ctr"/>
          <a:lstStyle/>
          <a:p>
            <a:pPr indent="0" marL="0">
              <a:buNone/>
            </a:pPr>
            <a:r>
              <a:rPr lang="en-US" sz="4000" dirty="0">
                <a:solidFill>
                  <a:srgbClr val="F4F5F6"/>
                </a:solidFill>
                <a:latin typeface="Cambria" pitchFamily="34" charset="0"/>
                <a:ea typeface="Cambria" pitchFamily="34" charset="-122"/>
                <a:cs typeface="Cambria" pitchFamily="34" charset="-120"/>
              </a:rPr>
              <a:t>$499</a:t>
            </a:r>
            <a:endParaRPr lang="en-US" sz="4000" dirty="0"/>
          </a:p>
        </p:txBody>
      </p:sp>
      <p:sp>
        <p:nvSpPr>
          <p:cNvPr id="17" name="Shape 14"/>
          <p:cNvSpPr/>
          <p:nvPr/>
        </p:nvSpPr>
        <p:spPr>
          <a:xfrm>
            <a:off x="8915400" y="3355848"/>
            <a:ext cx="548640" cy="10973"/>
          </a:xfrm>
          <a:prstGeom prst="rect">
            <a:avLst/>
          </a:prstGeom>
          <a:solidFill>
            <a:srgbClr val="23282A"/>
          </a:solidFill>
          <a:ln/>
        </p:spPr>
      </p:sp>
      <p:sp>
        <p:nvSpPr>
          <p:cNvPr id="18" name="Text 15"/>
          <p:cNvSpPr txBox="1"/>
          <p:nvPr/>
        </p:nvSpPr>
        <p:spPr>
          <a:xfrm>
            <a:off x="8915400" y="3447288"/>
            <a:ext cx="2377440" cy="219456"/>
          </a:xfrm>
          <a:prstGeom prst="rect">
            <a:avLst/>
          </a:prstGeom>
          <a:noFill/>
          <a:ln/>
        </p:spPr>
        <p:txBody>
          <a:bodyPr wrap="square" lIns="0" tIns="0" rIns="0" bIns="0" rtlCol="0" anchor="ctr"/>
          <a:lstStyle/>
          <a:p>
            <a:pPr indent="0" marL="0">
              <a:buNone/>
            </a:pPr>
            <a:r>
              <a:rPr lang="en-US" sz="850" spc="200" kern="0" dirty="0">
                <a:solidFill>
                  <a:srgbClr val="7A7D7E"/>
                </a:solidFill>
                <a:latin typeface="Courier New" pitchFamily="34" charset="0"/>
                <a:ea typeface="Courier New" pitchFamily="34" charset="-122"/>
                <a:cs typeface="Courier New" pitchFamily="34" charset="-120"/>
              </a:rPr>
              <a:t>ORG TIER · MONTHLY</a:t>
            </a:r>
            <a:endParaRPr lang="en-US" sz="850" dirty="0"/>
          </a:p>
        </p:txBody>
      </p:sp>
      <p:sp>
        <p:nvSpPr>
          <p:cNvPr id="19" name="Shape 16"/>
          <p:cNvSpPr/>
          <p:nvPr/>
        </p:nvSpPr>
        <p:spPr>
          <a:xfrm>
            <a:off x="822960" y="5074920"/>
            <a:ext cx="10543032" cy="10973"/>
          </a:xfrm>
          <a:prstGeom prst="rect">
            <a:avLst/>
          </a:prstGeom>
          <a:solidFill>
            <a:srgbClr val="23282A"/>
          </a:solidFill>
          <a:ln/>
        </p:spPr>
      </p:sp>
      <p:sp>
        <p:nvSpPr>
          <p:cNvPr id="20" name="Text 17"/>
          <p:cNvSpPr txBox="1"/>
          <p:nvPr/>
        </p:nvSpPr>
        <p:spPr>
          <a:xfrm>
            <a:off x="822960" y="5230368"/>
            <a:ext cx="1051560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ONE-TIME UNLOCKS $199–$999  ·  ORGS ALREADY PAY: ELECTIONBUDDY · SIMPLY VOTING</a:t>
            </a:r>
            <a:endParaRPr lang="en-US" sz="850" dirty="0"/>
          </a:p>
        </p:txBody>
      </p:sp>
      <p:sp>
        <p:nvSpPr>
          <p:cNvPr id="21" name="Text 18"/>
          <p:cNvSpPr txBox="1"/>
          <p:nvPr/>
        </p:nvSpPr>
        <p:spPr>
          <a:xfrm>
            <a:off x="822960" y="5623560"/>
            <a:ext cx="7315200" cy="274320"/>
          </a:xfrm>
          <a:prstGeom prst="rect">
            <a:avLst/>
          </a:prstGeom>
          <a:noFill/>
          <a:ln/>
        </p:spPr>
        <p:txBody>
          <a:bodyPr wrap="square" lIns="0" tIns="0" rIns="0" bIns="0" rtlCol="0" anchor="ctr"/>
          <a:lstStyle/>
          <a:p>
            <a:pPr indent="0" marL="0">
              <a:buNone/>
            </a:pPr>
            <a:r>
              <a:rPr lang="en-US" sz="1300" dirty="0">
                <a:solidFill>
                  <a:srgbClr val="B8BABB"/>
                </a:solidFill>
                <a:latin typeface="Calibri" pitchFamily="34" charset="0"/>
                <a:ea typeface="Calibri" pitchFamily="34" charset="-122"/>
                <a:cs typeface="Calibri" pitchFamily="34" charset="-120"/>
              </a:rPr>
              <a:t>Voting is free for citizens forever. That’s a principle, not a gap.</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13</a:t>
            </a:r>
            <a:endParaRPr lang="en-US" sz="800" dirty="0"/>
          </a:p>
        </p:txBody>
      </p:sp>
      <p:sp>
        <p:nvSpPr>
          <p:cNvPr id="4" name="Text 1"/>
          <p:cNvSpPr txBox="1"/>
          <p:nvPr/>
        </p:nvSpPr>
        <p:spPr>
          <a:xfrm>
            <a:off x="822960" y="932688"/>
            <a:ext cx="9875520" cy="2377440"/>
          </a:xfrm>
          <a:prstGeom prst="rect">
            <a:avLst/>
          </a:prstGeom>
          <a:noFill/>
          <a:ln/>
        </p:spPr>
        <p:txBody>
          <a:bodyPr wrap="square" lIns="0" tIns="0" rIns="0" bIns="0" rtlCol="0" anchor="t"/>
          <a:lstStyle/>
          <a:p>
            <a:pPr algn="l" indent="0" marL="0">
              <a:lnSpc>
                <a:spcPts val="4600"/>
              </a:lnSpc>
              <a:buNone/>
            </a:pPr>
            <a:r>
              <a:rPr lang="en-US" sz="4000" dirty="0">
                <a:solidFill>
                  <a:srgbClr val="F4F5F6"/>
                </a:solidFill>
                <a:latin typeface="Cambria" pitchFamily="34" charset="0"/>
                <a:ea typeface="Cambria" pitchFamily="34" charset="-122"/>
                <a:cs typeface="Cambria" pitchFamily="34" charset="-120"/>
              </a:rPr>
              <a:t>A kitchen table in Calgary. A shipped app.</a:t>
            </a:r>
            <a:endParaRPr lang="en-US" sz="4000" dirty="0"/>
          </a:p>
          <a:p>
            <a:pPr algn="l" indent="0" marL="0">
              <a:lnSpc>
                <a:spcPts val="4600"/>
              </a:lnSpc>
              <a:buNone/>
            </a:pPr>
            <a:r>
              <a:rPr lang="en-US" sz="4000" dirty="0">
                <a:solidFill>
                  <a:srgbClr val="F4F5F6"/>
                </a:solidFill>
                <a:latin typeface="Cambria" pitchFamily="34" charset="0"/>
                <a:ea typeface="Cambria" pitchFamily="34" charset="-122"/>
                <a:cs typeface="Cambria" pitchFamily="34" charset="-120"/>
              </a:rPr>
              <a:t>A cofounder.</a:t>
            </a:r>
            <a:endParaRPr lang="en-US" sz="4000" dirty="0"/>
          </a:p>
        </p:txBody>
      </p:sp>
      <p:sp>
        <p:nvSpPr>
          <p:cNvPr id="5" name="Text 2"/>
          <p:cNvSpPr txBox="1"/>
          <p:nvPr/>
        </p:nvSpPr>
        <p:spPr>
          <a:xfrm>
            <a:off x="822960" y="3383280"/>
            <a:ext cx="5852160" cy="2194560"/>
          </a:xfrm>
          <a:prstGeom prst="rect">
            <a:avLst/>
          </a:prstGeom>
          <a:noFill/>
          <a:ln/>
        </p:spPr>
        <p:txBody>
          <a:bodyPr wrap="square" lIns="0" tIns="0" rIns="0" bIns="0" rtlCol="0" anchor="t"/>
          <a:lstStyle/>
          <a:p>
            <a:pPr algn="l" indent="0" marL="0">
              <a:lnSpc>
                <a:spcPts val="1900"/>
              </a:lnSpc>
              <a:buNone/>
            </a:pPr>
            <a:r>
              <a:rPr lang="en-US" sz="1300" dirty="0">
                <a:solidFill>
                  <a:srgbClr val="B8BABB"/>
                </a:solidFill>
                <a:latin typeface="Calibri" pitchFamily="34" charset="0"/>
                <a:ea typeface="Calibri" pitchFamily="34" charset="-122"/>
                <a:cs typeface="Calibri" pitchFamily="34" charset="-120"/>
              </a:rPr>
              <a:t>Lance Morrison, founder — self-funded from day one, non-technical, shipped anyway.</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A cofounder recently joined.</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The verification, the ledger receipts, the sealed results: live, not slideware.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40707"/>
        </a:solidFill>
      </p:bgPr>
    </p:bg>
    <p:spTree>
      <p:nvGrpSpPr>
        <p:cNvPr id="1" name=""/>
        <p:cNvGrpSpPr/>
        <p:nvPr/>
      </p:nvGrpSpPr>
      <p:grpSpPr>
        <a:xfrm>
          <a:off x="0" y="0"/>
          <a:ext cx="0" cy="0"/>
          <a:chOff x="0" y="0"/>
          <a:chExt cx="0" cy="0"/>
        </a:xfrm>
      </p:grpSpPr>
      <p:pic>
        <p:nvPicPr>
          <p:cNvPr id="3" name="Image 0" descr="/home/user/rpv-mobile-clone/pitch/ultimate/v2/plate07.jp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14</a:t>
            </a:r>
            <a:endParaRPr lang="en-US" sz="800" dirty="0"/>
          </a:p>
        </p:txBody>
      </p:sp>
      <p:sp>
        <p:nvSpPr>
          <p:cNvPr id="5" name="Text 1"/>
          <p:cNvSpPr txBox="1"/>
          <p:nvPr/>
        </p:nvSpPr>
        <p:spPr>
          <a:xfrm>
            <a:off x="822960" y="603504"/>
            <a:ext cx="10515600" cy="237744"/>
          </a:xfrm>
          <a:prstGeom prst="rect">
            <a:avLst/>
          </a:prstGeom>
          <a:noFill/>
          <a:ln/>
        </p:spPr>
        <p:txBody>
          <a:bodyPr wrap="square" lIns="0" tIns="0" rIns="0" bIns="0" rtlCol="0" anchor="ctr"/>
          <a:lstStyle/>
          <a:p>
            <a:pPr algn="l" indent="0" marL="0">
              <a:buNone/>
            </a:pPr>
            <a:r>
              <a:rPr lang="en-US" sz="900" spc="300" kern="0" dirty="0">
                <a:solidFill>
                  <a:srgbClr val="7A7D7E"/>
                </a:solidFill>
                <a:latin typeface="Courier New" pitchFamily="34" charset="0"/>
                <a:ea typeface="Courier New" pitchFamily="34" charset="-122"/>
                <a:cs typeface="Courier New" pitchFamily="34" charset="-120"/>
              </a:rPr>
              <a:t>THE CAPITAL, PRECISELY</a:t>
            </a:r>
            <a:endParaRPr lang="en-US" sz="900" dirty="0"/>
          </a:p>
        </p:txBody>
      </p:sp>
      <p:sp>
        <p:nvSpPr>
          <p:cNvPr id="6" name="Text 2"/>
          <p:cNvSpPr txBox="1"/>
          <p:nvPr/>
        </p:nvSpPr>
        <p:spPr>
          <a:xfrm>
            <a:off x="822960" y="932688"/>
            <a:ext cx="10515600" cy="1005840"/>
          </a:xfrm>
          <a:prstGeom prst="rect">
            <a:avLst/>
          </a:prstGeom>
          <a:noFill/>
          <a:ln/>
        </p:spPr>
        <p:txBody>
          <a:bodyPr wrap="square" lIns="0" tIns="0" rIns="0" bIns="0" rtlCol="0" anchor="t"/>
          <a:lstStyle/>
          <a:p>
            <a:pPr algn="l" indent="0" marL="0">
              <a:lnSpc>
                <a:spcPts val="3200"/>
              </a:lnSpc>
              <a:buNone/>
            </a:pPr>
            <a:r>
              <a:rPr lang="en-US" sz="2800" dirty="0">
                <a:solidFill>
                  <a:srgbClr val="F4F5F6"/>
                </a:solidFill>
                <a:latin typeface="Cambria" pitchFamily="34" charset="0"/>
                <a:ea typeface="Cambria" pitchFamily="34" charset="-122"/>
                <a:cs typeface="Cambria" pitchFamily="34" charset="-120"/>
              </a:rPr>
              <a:t>One million dollars, released by proof.</a:t>
            </a:r>
            <a:endParaRPr lang="en-US" sz="2800" dirty="0"/>
          </a:p>
        </p:txBody>
      </p:sp>
      <p:sp>
        <p:nvSpPr>
          <p:cNvPr id="7" name="Text 3"/>
          <p:cNvSpPr txBox="1"/>
          <p:nvPr/>
        </p:nvSpPr>
        <p:spPr>
          <a:xfrm>
            <a:off x="1218895" y="3913632"/>
            <a:ext cx="2926080" cy="201168"/>
          </a:xfrm>
          <a:prstGeom prst="rect">
            <a:avLst/>
          </a:prstGeom>
          <a:noFill/>
          <a:ln/>
        </p:spPr>
        <p:txBody>
          <a:bodyPr wrap="square" lIns="0" tIns="0" rIns="0" bIns="0" rtlCol="0" anchor="ctr"/>
          <a:lstStyle/>
          <a:p>
            <a:pPr algn="l" indent="0" marL="0">
              <a:buNone/>
            </a:pPr>
            <a:r>
              <a:rPr lang="en-US" sz="850" spc="200" kern="0" dirty="0">
                <a:solidFill>
                  <a:srgbClr val="7A7D7E"/>
                </a:solidFill>
                <a:latin typeface="Courier New" pitchFamily="34" charset="0"/>
                <a:ea typeface="Courier New" pitchFamily="34" charset="-122"/>
                <a:cs typeface="Courier New" pitchFamily="34" charset="-120"/>
              </a:rPr>
              <a:t>CAD $1,000,000 · COMMITTED</a:t>
            </a:r>
            <a:endParaRPr lang="en-US" sz="850" dirty="0"/>
          </a:p>
        </p:txBody>
      </p:sp>
      <p:sp>
        <p:nvSpPr>
          <p:cNvPr id="8" name="Text 4"/>
          <p:cNvSpPr txBox="1"/>
          <p:nvPr/>
        </p:nvSpPr>
        <p:spPr>
          <a:xfrm>
            <a:off x="2423160" y="4681728"/>
            <a:ext cx="2468880" cy="201168"/>
          </a:xfrm>
          <a:prstGeom prst="rect">
            <a:avLst/>
          </a:prstGeom>
          <a:noFill/>
          <a:ln/>
        </p:spPr>
        <p:txBody>
          <a:bodyPr wrap="square" lIns="0" tIns="0" rIns="0" bIns="0" rtlCol="0" anchor="ctr"/>
          <a:lstStyle/>
          <a:p>
            <a:pPr algn="ctr" indent="0" marL="0">
              <a:buNone/>
            </a:pPr>
            <a:r>
              <a:rPr lang="en-US" sz="850" spc="200" kern="0" dirty="0">
                <a:solidFill>
                  <a:srgbClr val="7A7D7E"/>
                </a:solidFill>
                <a:latin typeface="Courier New" pitchFamily="34" charset="0"/>
                <a:ea typeface="Courier New" pitchFamily="34" charset="-122"/>
                <a:cs typeface="Courier New" pitchFamily="34" charset="-120"/>
              </a:rPr>
              <a:t>VERIFIED-USER MILESTONE · 01</a:t>
            </a:r>
            <a:endParaRPr lang="en-US" sz="850" dirty="0"/>
          </a:p>
        </p:txBody>
      </p:sp>
      <p:sp>
        <p:nvSpPr>
          <p:cNvPr id="9" name="Text 5"/>
          <p:cNvSpPr txBox="1"/>
          <p:nvPr/>
        </p:nvSpPr>
        <p:spPr>
          <a:xfrm>
            <a:off x="4864608" y="4681728"/>
            <a:ext cx="2468880" cy="201168"/>
          </a:xfrm>
          <a:prstGeom prst="rect">
            <a:avLst/>
          </a:prstGeom>
          <a:noFill/>
          <a:ln/>
        </p:spPr>
        <p:txBody>
          <a:bodyPr wrap="square" lIns="0" tIns="0" rIns="0" bIns="0" rtlCol="0" anchor="ctr"/>
          <a:lstStyle/>
          <a:p>
            <a:pPr algn="ctr" indent="0" marL="0">
              <a:buNone/>
            </a:pPr>
            <a:r>
              <a:rPr lang="en-US" sz="850" spc="200" kern="0" dirty="0">
                <a:solidFill>
                  <a:srgbClr val="7A7D7E"/>
                </a:solidFill>
                <a:latin typeface="Courier New" pitchFamily="34" charset="0"/>
                <a:ea typeface="Courier New" pitchFamily="34" charset="-122"/>
                <a:cs typeface="Courier New" pitchFamily="34" charset="-120"/>
              </a:rPr>
              <a:t>VERIFIED-USER MILESTONE · 02</a:t>
            </a:r>
            <a:endParaRPr lang="en-US" sz="850" dirty="0"/>
          </a:p>
        </p:txBody>
      </p:sp>
      <p:sp>
        <p:nvSpPr>
          <p:cNvPr id="10" name="Text 6"/>
          <p:cNvSpPr txBox="1"/>
          <p:nvPr/>
        </p:nvSpPr>
        <p:spPr>
          <a:xfrm>
            <a:off x="7296912" y="4681728"/>
            <a:ext cx="2468880" cy="201168"/>
          </a:xfrm>
          <a:prstGeom prst="rect">
            <a:avLst/>
          </a:prstGeom>
          <a:noFill/>
          <a:ln/>
        </p:spPr>
        <p:txBody>
          <a:bodyPr wrap="square" lIns="0" tIns="0" rIns="0" bIns="0" rtlCol="0" anchor="ctr"/>
          <a:lstStyle/>
          <a:p>
            <a:pPr algn="ctr" indent="0" marL="0">
              <a:buNone/>
            </a:pPr>
            <a:r>
              <a:rPr lang="en-US" sz="850" spc="200" kern="0" dirty="0">
                <a:solidFill>
                  <a:srgbClr val="7A7D7E"/>
                </a:solidFill>
                <a:latin typeface="Courier New" pitchFamily="34" charset="0"/>
                <a:ea typeface="Courier New" pitchFamily="34" charset="-122"/>
                <a:cs typeface="Courier New" pitchFamily="34" charset="-120"/>
              </a:rPr>
              <a:t>VERIFIED-USER MILESTONE · 03</a:t>
            </a:r>
            <a:endParaRPr lang="en-US" sz="850" dirty="0"/>
          </a:p>
        </p:txBody>
      </p:sp>
      <p:sp>
        <p:nvSpPr>
          <p:cNvPr id="11" name="Text 7"/>
          <p:cNvSpPr txBox="1"/>
          <p:nvPr/>
        </p:nvSpPr>
        <p:spPr>
          <a:xfrm>
            <a:off x="9738360" y="4681728"/>
            <a:ext cx="2468880" cy="201168"/>
          </a:xfrm>
          <a:prstGeom prst="rect">
            <a:avLst/>
          </a:prstGeom>
          <a:noFill/>
          <a:ln/>
        </p:spPr>
        <p:txBody>
          <a:bodyPr wrap="square" lIns="0" tIns="0" rIns="0" bIns="0" rtlCol="0" anchor="ctr"/>
          <a:lstStyle/>
          <a:p>
            <a:pPr algn="ctr" indent="0" marL="0">
              <a:buNone/>
            </a:pPr>
            <a:r>
              <a:rPr lang="en-US" sz="850" spc="200" kern="0" dirty="0">
                <a:solidFill>
                  <a:srgbClr val="7A7D7E"/>
                </a:solidFill>
                <a:latin typeface="Courier New" pitchFamily="34" charset="0"/>
                <a:ea typeface="Courier New" pitchFamily="34" charset="-122"/>
                <a:cs typeface="Courier New" pitchFamily="34" charset="-120"/>
              </a:rPr>
              <a:t>VERIFIED-USER MILESTONE · 04</a:t>
            </a:r>
            <a:endParaRPr lang="en-US" sz="850" dirty="0"/>
          </a:p>
        </p:txBody>
      </p:sp>
      <p:sp>
        <p:nvSpPr>
          <p:cNvPr id="12" name="Text 8"/>
          <p:cNvSpPr txBox="1"/>
          <p:nvPr/>
        </p:nvSpPr>
        <p:spPr>
          <a:xfrm>
            <a:off x="822960" y="5257800"/>
            <a:ext cx="6949440" cy="1188720"/>
          </a:xfrm>
          <a:prstGeom prst="rect">
            <a:avLst/>
          </a:prstGeom>
          <a:noFill/>
          <a:ln/>
        </p:spPr>
        <p:txBody>
          <a:bodyPr wrap="square" lIns="0" tIns="0" rIns="0" bIns="0" rtlCol="0" anchor="t"/>
          <a:lstStyle/>
          <a:p>
            <a:pPr algn="l" indent="0" marL="0">
              <a:lnSpc>
                <a:spcPts val="1900"/>
              </a:lnSpc>
              <a:buNone/>
            </a:pPr>
            <a:r>
              <a:rPr lang="en-US" sz="1300" dirty="0">
                <a:solidFill>
                  <a:srgbClr val="B8BABB"/>
                </a:solidFill>
                <a:latin typeface="Calibri" pitchFamily="34" charset="0"/>
                <a:ea typeface="Calibri" pitchFamily="34" charset="-122"/>
                <a:cs typeface="Calibri" pitchFamily="34" charset="-120"/>
              </a:rPr>
              <a:t>Not raised. Committed — CAD $1,000,000 from an angel investor, released in tranches tied to verified-user milestones.</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The ask: join the round alongside it, on the same milestone discipline.</a:t>
            </a:r>
            <a:endParaRPr lang="en-US" sz="1300" dirty="0"/>
          </a:p>
          <a:p>
            <a:pPr algn="l" indent="0" marL="0">
              <a:lnSpc>
                <a:spcPts val="1900"/>
              </a:lnSpc>
              <a:spcBef>
                <a:spcPts val="800"/>
              </a:spcBef>
              <a:buNone/>
            </a:pPr>
            <a:r>
              <a:rPr lang="en-US" sz="1300" dirty="0">
                <a:solidFill>
                  <a:srgbClr val="B8BABB"/>
                </a:solidFill>
                <a:latin typeface="Calibri" pitchFamily="34" charset="0"/>
                <a:ea typeface="Calibri" pitchFamily="34" charset="-122"/>
                <a:cs typeface="Calibri" pitchFamily="34" charset="-120"/>
              </a:rPr>
              <a:t>Every dollar is accountable to the one number that can’t be faked: verified humans.</a:t>
            </a:r>
            <a:endParaRPr lang="en-US" sz="1300" dirty="0"/>
          </a:p>
        </p:txBody>
      </p:sp>
      <p:sp>
        <p:nvSpPr>
          <p:cNvPr id="13" name="Text 9"/>
          <p:cNvSpPr txBox="1"/>
          <p:nvPr/>
        </p:nvSpPr>
        <p:spPr>
          <a:xfrm>
            <a:off x="822960" y="6382512"/>
            <a:ext cx="3657600" cy="201168"/>
          </a:xfrm>
          <a:prstGeom prst="rect">
            <a:avLst/>
          </a:prstGeom>
          <a:noFill/>
          <a:ln/>
        </p:spPr>
        <p:txBody>
          <a:bodyPr wrap="square" lIns="0" tIns="0" rIns="0" bIns="0" rtlCol="0" anchor="ctr"/>
          <a:lstStyle/>
          <a:p>
            <a:pPr algn="l" indent="0" marL="0">
              <a:buNone/>
            </a:pPr>
            <a:r>
              <a:rPr lang="en-US" sz="800" spc="200" kern="0" dirty="0">
                <a:solidFill>
                  <a:srgbClr val="7A7D7E"/>
                </a:solidFill>
                <a:latin typeface="Courier New" pitchFamily="34" charset="0"/>
                <a:ea typeface="Courier New" pitchFamily="34" charset="-122"/>
                <a:cs typeface="Courier New" pitchFamily="34" charset="-120"/>
              </a:rPr>
              <a:t>TRANCHE COUNT AND SPACING ILLUSTRATIVE</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11384280" y="6345936"/>
            <a:ext cx="457200" cy="219456"/>
          </a:xfrm>
          <a:prstGeom prst="rect">
            <a:avLst/>
          </a:prstGeom>
          <a:noFill/>
          <a:ln/>
        </p:spPr>
        <p:txBody>
          <a:bodyPr wrap="square" lIns="0" tIns="0" rIns="0" bIns="0" rtlCol="0" anchor="ctr"/>
          <a:lstStyle/>
          <a:p>
            <a:pPr algn="r" indent="0" marL="0">
              <a:buNone/>
            </a:pPr>
            <a:r>
              <a:rPr lang="en-US" sz="800" dirty="0">
                <a:solidFill>
                  <a:srgbClr val="7A7D7E"/>
                </a:solidFill>
                <a:latin typeface="Courier New" pitchFamily="34" charset="0"/>
                <a:ea typeface="Courier New" pitchFamily="34" charset="-122"/>
                <a:cs typeface="Courier New" pitchFamily="34" charset="-120"/>
              </a:rPr>
              <a:t>15</a:t>
            </a:r>
            <a:endParaRPr lang="en-US" sz="800" dirty="0"/>
          </a:p>
        </p:txBody>
      </p:sp>
      <p:sp>
        <p:nvSpPr>
          <p:cNvPr id="4" name="Shape 1"/>
          <p:cNvSpPr/>
          <p:nvPr/>
        </p:nvSpPr>
        <p:spPr>
          <a:xfrm>
            <a:off x="6086704" y="2103120"/>
            <a:ext cx="18288" cy="457200"/>
          </a:xfrm>
          <a:prstGeom prst="rect">
            <a:avLst/>
          </a:prstGeom>
          <a:solidFill>
            <a:srgbClr val="EABA58"/>
          </a:solidFill>
          <a:ln/>
        </p:spPr>
      </p:sp>
      <p:sp>
        <p:nvSpPr>
          <p:cNvPr id="5" name="Text 2"/>
          <p:cNvSpPr txBox="1"/>
          <p:nvPr/>
        </p:nvSpPr>
        <p:spPr>
          <a:xfrm>
            <a:off x="0" y="2761488"/>
            <a:ext cx="12191695" cy="384048"/>
          </a:xfrm>
          <a:prstGeom prst="rect">
            <a:avLst/>
          </a:prstGeom>
          <a:noFill/>
          <a:ln/>
        </p:spPr>
        <p:txBody>
          <a:bodyPr wrap="square" lIns="0" tIns="0" rIns="0" bIns="0" rtlCol="0" anchor="ctr"/>
          <a:lstStyle/>
          <a:p>
            <a:pPr algn="ctr" indent="0" marL="0">
              <a:buNone/>
            </a:pPr>
            <a:r>
              <a:rPr lang="en-US" sz="2100" spc="600" kern="0" dirty="0">
                <a:solidFill>
                  <a:srgbClr val="F4F5F6"/>
                </a:solidFill>
                <a:latin typeface="Cambria" pitchFamily="34" charset="0"/>
                <a:ea typeface="Cambria" pitchFamily="34" charset="-122"/>
                <a:cs typeface="Cambria" pitchFamily="34" charset="-120"/>
              </a:rPr>
              <a:t>REPRESENT</a:t>
            </a:r>
            <a:endParaRPr lang="en-US" sz="2100" dirty="0"/>
          </a:p>
        </p:txBody>
      </p:sp>
      <p:sp>
        <p:nvSpPr>
          <p:cNvPr id="6" name="Text 3"/>
          <p:cNvSpPr txBox="1"/>
          <p:nvPr/>
        </p:nvSpPr>
        <p:spPr>
          <a:xfrm>
            <a:off x="0" y="3310128"/>
            <a:ext cx="12191695" cy="777240"/>
          </a:xfrm>
          <a:prstGeom prst="rect">
            <a:avLst/>
          </a:prstGeom>
          <a:noFill/>
          <a:ln/>
        </p:spPr>
        <p:txBody>
          <a:bodyPr wrap="square" lIns="0" tIns="0" rIns="0" bIns="0" rtlCol="0" anchor="ctr"/>
          <a:lstStyle/>
          <a:p>
            <a:pPr algn="ctr" indent="0" marL="0">
              <a:buNone/>
            </a:pPr>
            <a:r>
              <a:rPr lang="en-US" sz="4000" dirty="0">
                <a:solidFill>
                  <a:srgbClr val="F4F5F6"/>
                </a:solidFill>
                <a:latin typeface="Cambria" pitchFamily="34" charset="0"/>
                <a:ea typeface="Cambria" pitchFamily="34" charset="-122"/>
                <a:cs typeface="Cambria" pitchFamily="34" charset="-120"/>
              </a:rPr>
              <a:t>This time, the ballot box stays.</a:t>
            </a:r>
            <a:endParaRPr lang="en-US" sz="4000" dirty="0"/>
          </a:p>
        </p:txBody>
      </p:sp>
      <p:sp>
        <p:nvSpPr>
          <p:cNvPr id="7" name="Text 4"/>
          <p:cNvSpPr txBox="1"/>
          <p:nvPr/>
        </p:nvSpPr>
        <p:spPr>
          <a:xfrm>
            <a:off x="0" y="4315968"/>
            <a:ext cx="12191695" cy="274320"/>
          </a:xfrm>
          <a:prstGeom prst="rect">
            <a:avLst/>
          </a:prstGeom>
          <a:noFill/>
          <a:ln/>
        </p:spPr>
        <p:txBody>
          <a:bodyPr wrap="square" lIns="0" tIns="0" rIns="0" bIns="0" rtlCol="0" anchor="ctr"/>
          <a:lstStyle/>
          <a:p>
            <a:pPr algn="ctr" indent="0" marL="0">
              <a:buNone/>
            </a:pPr>
            <a:r>
              <a:rPr lang="en-US" sz="1200" dirty="0">
                <a:solidFill>
                  <a:srgbClr val="7A7D7E"/>
                </a:solidFill>
                <a:latin typeface="Calibri" pitchFamily="34" charset="0"/>
                <a:ea typeface="Calibri" pitchFamily="34" charset="-122"/>
                <a:cs typeface="Calibri" pitchFamily="34" charset="-120"/>
              </a:rPr>
              <a:t>The next question is waiting. Ask it with us.  ·  representvote.com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Represent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 — Proof of us</dc:title>
  <dc:subject>PptxGenJS Presentation</dc:subject>
  <dc:creator>Lance Morrison</dc:creator>
  <cp:lastModifiedBy>Lance Morrison</cp:lastModifiedBy>
  <cp:revision>1</cp:revision>
  <dcterms:created xsi:type="dcterms:W3CDTF">2026-09-03T06:03:41Z</dcterms:created>
  <dcterms:modified xsi:type="dcterms:W3CDTF">2026-09-03T06:03:41Z</dcterms:modified>
</cp:coreProperties>
</file>