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Cold open — no greeting slide, no agenda. "Not three a year. Three, ever. Three national referendums since Confederation. The last one was 1992 — Charlottetown. That is the entire record of my country turning to its citizens and saying: what do you think? Everything else — every war, every treaty, every budget — was decided about us, without asking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are under about fifty-two, you have never once been asked a question by Canada. Look at this line. Everybody in it knows one vote every four years changes almost nothing — and they show up anyway, carrying the same small, stubborn hope. That hope has had nowhere to go for an entire generation."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not a Canadian quirk. The United Kingdom has managed three referendums in its entire history. And the United States has held zero national referendums — and here is the part people don’t believe: there is no legal mechanism to hold one. It’s not broken. It was never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city ran one plebiscite — should Calgary bid for the Olympics? Roughly three years from committee to answer. $2.2 million to run one vote. And 304,582 Calgarians showed up — 171,750 no, 132,832 yes. The demand is not hypothetical: when people are actually asked, they answer. Then the whole apparatus was torn down the next day. Being asked feels like being respected. We make it feel like a once-in-a-generation event."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uncomfortable truth: even an honest representative cannot hear 300,000 constituents. There is no instrument. Emails, petitions, town halls — all dismissible, because none of it is verified. You are the opinion of one, and the opinion of one is nothing. The failure isn’t moral. It’s infrastructure. In both directions, the channel simply does not exist."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"You’ve seen this pitch before, and it ended badly. Brigade — Sean Parker, roughly nine million dollars, dead. Countable. Votizen. Civic tech is a famous tar pit, and I’m naming it before you do. They all died of exactly two wounds: their product was unverifiable opinion — one bot accusation and it evaporates — and nobody had to pay for it. Hold those two wounds in mind. The rest of this deck closes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"Phones, databases, cryptography — all of it existed for twenty-five years. What didn’t exist was cheap, remote proof that a voter is one real person in one real place. That collapsed from impossible to about three minutes and a few dollars only in the last couple of years. Brigade was early. This is the moment the product they wanted becomes buildable — and we’ve already built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before advancing to this slide. Then: "This is Represent. Live on the App Store today. Every voter verifies once with government ID and a liveness check. Your region comes from your ID — so a Calgary question is answered only by verified Calgarians. One person, one vote. You cannot verify twice. Democracy gives you one day every four years. We built the other one thousand, four hundred and sixty."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designed for a hostile audience. Results stay sealed until ten verified ballots — no bandwagons, no fake landslides. Every count is written to a public ledger — currently a pilot on a test network — with per-voter receipts, so a skeptic can audit the tally without trusting Represent at all. Verification runs through Didit; we never store your documents. Yes/no, multiple-choice, ranked-choice, private organizational ballots. This isn’t opinion. It’s evidence. That’s wound number one, closed."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exactly where we are, with no inflation: about 157 public questions on the record, about 190 verified ballots cast, a few dozen verified users. Small — but every single one of those ballots is a government-ID-verified human being, which is a claim Brigade could never make at any scale. Everything in this deck holds itself to that standard. Verified numbers only." [FOUNDER: pull the exact live counts from the database on the morning of the pitch and update this slide — exact beats approximate, and it is on-brand to be exact.]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"Citizens never pay to vote — permanent principle. Organizations pay: unions, associations, co-ops, boards running ratifications, elections, bylaw votes. Fifty-nine to four ninety-nine a month by size, plus one-time verification unlocks from one ninety-nine to nine ninety-nine. And this buyer isn’t theoretical — ElectionBuddy and Simply Voting are profitable companies in exactly this market. Neither offers government-ID-verified voters or a public auditable ledger. That’s wound number two, closed." [Q&amp;A ARMOR: if asked ‘they’re profitable without verification, why is it a premium?’ — answer: the expensive part of an internal vote is the argument afterwards; a disputed ratification costs an org far more than $499/month, and only a verified roll ends the dispute.]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"Organizations fund the business. Density wins the mission. We concentrate on Alberta first: build verified density in one place, and a politician facing a verified majority of their own constituents has nothing left to dismiss — not bots, not a loud minority, not the opinion of one. That’s the flywheel: paid on one side, unignorable on the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 Lance Morrison. I started this with my own money, in Calgary, and a cofounder recently joined me. An angel has committed one million Canadian dollars — and I want to be precise: committed, not raised, released in tranches tied to verified-user milestones. Someone has already looked at these small honest numbers and staked a million dollars on where they go. The terms hold me accountable, and I like it that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seconds of silence before speaking. Then: "Three referendums in 159 years — not because people didn’t want to answer, but because asking cost millions and took years. It doesn’t anymore. When people get the chance to decide for themselves, the majority chooses good. We’re building the instrument that finally lets them." Hold again after.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[FOUNDER — REQUIRED BEFORE PITCH DAY: state your one true ask out loud here. Pick the sentence that is actually true, e.g. “We’re raising a further $X alongside the committed $1M,” or “We’re looking for co-investors on the same milestone terms,” or “We want introductions to organizations and to your civic-minded LPs.” Never say ‘portions.’] Then: "The million is committed, in tranches tied to verified-user milestones. It buys two proofs: the first verified constituency — Alberta — and the first paying organizations. One proves the flywheel. The other proves the business. Canada asked three questions in 159 years. Help us ask the fourth — and every one after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nothing. Let the room break the silence.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40707"/>
        </a:solidFill>
      </p:bgPr>
    </p:bg>
    <p:spTree>
      <p:nvGrpSpPr>
        <p:cNvPr id="1" name=""/>
        <p:cNvGrpSpPr/>
        <p:nvPr/>
      </p:nvGrpSpPr>
      <p:grpSpPr>
        <a:xfrm>
          <a:off x="0" y="0"/>
          <a:ext cx="0" cy="0"/>
          <a:chOff x="0" y="0"/>
          <a:chExt cx="0" cy="0"/>
        </a:xfrm>
      </p:grpSpPr>
      <p:sp>
        <p:nvSpPr>
          <p:cNvPr id="2" name="Text 0"/>
          <p:cNvSpPr txBox="1"/>
          <p:nvPr/>
        </p:nvSpPr>
        <p:spPr>
          <a:xfrm>
            <a:off x="1011911" y="6382512"/>
            <a:ext cx="2743200" cy="274320"/>
          </a:xfrm>
          <a:prstGeom prst="rect">
            <a:avLst/>
          </a:prstGeom>
          <a:noFill/>
          <a:ln/>
        </p:spPr>
        <p:txBody>
          <a:bodyPr wrap="square" lIns="0" tIns="0" rIns="0" bIns="0" rtlCol="0" anchor="ctr"/>
          <a:lstStyle/>
          <a:p>
            <a:pPr indent="0" marL="0">
              <a:buNone/>
            </a:pPr>
            <a:r>
              <a:rPr lang="en-US" sz="900" spc="400" kern="0" dirty="0">
                <a:solidFill>
                  <a:srgbClr val="7A7D7E"/>
                </a:solidFill>
                <a:latin typeface="Courier New" pitchFamily="34" charset="0"/>
                <a:ea typeface="Courier New" pitchFamily="34" charset="-122"/>
                <a:cs typeface="Courier New" pitchFamily="34" charset="-120"/>
              </a:rPr>
              <a:t>REPRESENT</a:t>
            </a:r>
            <a:endParaRPr lang="en-US" sz="900" dirty="0"/>
          </a:p>
        </p:txBody>
      </p:sp>
      <p:sp>
        <p:nvSpPr>
          <p:cNvPr id="3" name="Text 1"/>
          <p:cNvSpPr txBox="1"/>
          <p:nvPr/>
        </p:nvSpPr>
        <p:spPr>
          <a:xfrm>
            <a:off x="9350984" y="6382512"/>
            <a:ext cx="1828800" cy="274320"/>
          </a:xfrm>
          <a:prstGeom prst="rect">
            <a:avLst/>
          </a:prstGeom>
          <a:noFill/>
          <a:ln/>
        </p:spPr>
        <p:txBody>
          <a:bodyPr wrap="square" lIns="0" tIns="0" rIns="0" bIns="0" rtlCol="0" anchor="ctr"/>
          <a:lstStyle/>
          <a:p>
            <a:pPr algn="r" indent="0" marL="0">
              <a:buNone/>
            </a:pPr>
            <a:r>
              <a:rPr lang="en-US" sz="900" spc="200" kern="0" dirty="0">
                <a:solidFill>
                  <a:srgbClr val="7A7D7E"/>
                </a:solidFill>
                <a:latin typeface="Courier New" pitchFamily="34" charset="0"/>
                <a:ea typeface="Courier New" pitchFamily="34" charset="-122"/>
                <a:cs typeface="Courier New" pitchFamily="34" charset="-120"/>
              </a:rPr>
              <a:t>01 / 16</a:t>
            </a:r>
            <a:endParaRPr lang="en-US" sz="900" dirty="0"/>
          </a:p>
        </p:txBody>
      </p:sp>
      <p:sp>
        <p:nvSpPr>
          <p:cNvPr id="4" name="Text 2"/>
          <p:cNvSpPr txBox="1"/>
          <p:nvPr/>
        </p:nvSpPr>
        <p:spPr>
          <a:xfrm>
            <a:off x="7064984" y="546354"/>
            <a:ext cx="4114800" cy="274320"/>
          </a:xfrm>
          <a:prstGeom prst="rect">
            <a:avLst/>
          </a:prstGeom>
          <a:noFill/>
          <a:ln/>
        </p:spPr>
        <p:txBody>
          <a:bodyPr wrap="square" lIns="0" tIns="0" rIns="0" bIns="0" rtlCol="0" anchor="ctr"/>
          <a:lstStyle/>
          <a:p>
            <a:pPr algn="r" indent="0" marL="0">
              <a:buNone/>
            </a:pPr>
            <a:r>
              <a:rPr lang="en-US" sz="950" spc="300" kern="0" dirty="0">
                <a:solidFill>
                  <a:srgbClr val="7A7D7E"/>
                </a:solidFill>
                <a:latin typeface="Courier New" pitchFamily="34" charset="0"/>
                <a:ea typeface="Courier New" pitchFamily="34" charset="-122"/>
                <a:cs typeface="Courier New" pitchFamily="34" charset="-120"/>
              </a:rPr>
              <a:t>I · THE SILENCE</a:t>
            </a:r>
            <a:endParaRPr lang="en-US" sz="950" dirty="0"/>
          </a:p>
        </p:txBody>
      </p:sp>
      <p:pic>
        <p:nvPicPr>
          <p:cNvPr id="6" name="Image 0" descr="/home/user/rpv-mobile-clone/pitch/deck/icon.png">    </p:cNvPr>
          <p:cNvPicPr>
            <a:picLocks noChangeAspect="1"/>
          </p:cNvPicPr>
          <p:nvPr/>
        </p:nvPicPr>
        <p:blipFill>
          <a:blip r:embed="rId1"/>
          <a:stretch>
            <a:fillRect/>
          </a:stretch>
        </p:blipFill>
        <p:spPr>
          <a:xfrm>
            <a:off x="1011911" y="637794"/>
            <a:ext cx="384048" cy="384048"/>
          </a:xfrm>
          <a:prstGeom prst="rect">
            <a:avLst/>
          </a:prstGeom>
        </p:spPr>
      </p:pic>
      <p:sp>
        <p:nvSpPr>
          <p:cNvPr id="7" name="Text 3"/>
          <p:cNvSpPr txBox="1"/>
          <p:nvPr/>
        </p:nvSpPr>
        <p:spPr>
          <a:xfrm>
            <a:off x="1011911" y="1920240"/>
            <a:ext cx="10167874" cy="2194560"/>
          </a:xfrm>
          <a:prstGeom prst="rect">
            <a:avLst/>
          </a:prstGeom>
          <a:noFill/>
          <a:ln/>
        </p:spPr>
        <p:txBody>
          <a:bodyPr wrap="square" lIns="0" tIns="0" rIns="0" bIns="0" rtlCol="0" anchor="t"/>
          <a:lstStyle/>
          <a:p>
            <a:pPr algn="l" indent="0" marL="0">
              <a:lnSpc>
                <a:spcPct val="108000"/>
              </a:lnSpc>
              <a:buNone/>
            </a:pPr>
            <a:r>
              <a:rPr lang="en-US" sz="4600" dirty="0">
                <a:solidFill>
                  <a:srgbClr val="F4F5F6"/>
                </a:solidFill>
                <a:latin typeface="Cambria" pitchFamily="34" charset="0"/>
                <a:ea typeface="Cambria" pitchFamily="34" charset="-122"/>
                <a:cs typeface="Cambria" pitchFamily="34" charset="-120"/>
              </a:rPr>
              <a:t>Since 1867, Canada has asked its people</a:t>
            </a:r>
            <a:endParaRPr lang="en-US" sz="4600" dirty="0"/>
          </a:p>
          <a:p>
            <a:pPr algn="l" indent="0" marL="0">
              <a:lnSpc>
                <a:spcPct val="108000"/>
              </a:lnSpc>
              <a:buNone/>
            </a:pPr>
            <a:r>
              <a:rPr lang="en-US" sz="4600" dirty="0">
                <a:solidFill>
                  <a:srgbClr val="EABA58"/>
                </a:solidFill>
                <a:latin typeface="Cambria" pitchFamily="34" charset="0"/>
                <a:ea typeface="Cambria" pitchFamily="34" charset="-122"/>
                <a:cs typeface="Cambria" pitchFamily="34" charset="-120"/>
              </a:rPr>
              <a:t>three questions.</a:t>
            </a:r>
            <a:endParaRPr lang="en-US" sz="4600" dirty="0"/>
          </a:p>
        </p:txBody>
      </p:sp>
      <p:sp>
        <p:nvSpPr>
          <p:cNvPr id="8" name="Text 4"/>
          <p:cNvSpPr txBox="1"/>
          <p:nvPr/>
        </p:nvSpPr>
        <p:spPr>
          <a:xfrm>
            <a:off x="1011911" y="3840480"/>
            <a:ext cx="10167874" cy="292608"/>
          </a:xfrm>
          <a:prstGeom prst="rect">
            <a:avLst/>
          </a:prstGeom>
          <a:noFill/>
          <a:ln/>
        </p:spPr>
        <p:txBody>
          <a:bodyPr wrap="square" lIns="0" tIns="0" rIns="0" bIns="0" rtlCol="0" anchor="ctr"/>
          <a:lstStyle/>
          <a:p>
            <a:pPr algn="l" indent="0" marL="0">
              <a:buNone/>
            </a:pPr>
            <a:r>
              <a:rPr lang="en-US" sz="1200" spc="400" kern="0" dirty="0">
                <a:solidFill>
                  <a:srgbClr val="7A7D7E"/>
                </a:solidFill>
                <a:latin typeface="Courier New" pitchFamily="34" charset="0"/>
                <a:ea typeface="Courier New" pitchFamily="34" charset="-122"/>
                <a:cs typeface="Courier New" pitchFamily="34" charset="-120"/>
              </a:rPr>
              <a:t>THREE. IN 159 YEARS. THE LAST · 1992 · CHARLOTTETOWN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40707"/>
        </a:solidFill>
      </p:bgPr>
    </p:bg>
    <p:spTree>
      <p:nvGrpSpPr>
        <p:cNvPr id="1" name=""/>
        <p:cNvGrpSpPr/>
        <p:nvPr/>
      </p:nvGrpSpPr>
      <p:grpSpPr>
        <a:xfrm>
          <a:off x="0" y="0"/>
          <a:ext cx="0" cy="0"/>
          <a:chOff x="0" y="0"/>
          <a:chExt cx="0" cy="0"/>
        </a:xfrm>
      </p:grpSpPr>
      <p:pic>
        <p:nvPicPr>
          <p:cNvPr id="3" name="Image 0" descr="/home/user/rpv-mobile-clone/pitch/ultimate/gym-scrim.jpg">    </p:cNvPr>
          <p:cNvPicPr>
            <a:picLocks noChangeAspect="1"/>
          </p:cNvPicPr>
          <p:nvPr/>
        </p:nvPicPr>
        <p:blipFill>
          <a:blip r:embed="rId1"/>
          <a:stretch>
            <a:fillRect/>
          </a:stretch>
        </p:blipFill>
        <p:spPr>
          <a:xfrm>
            <a:off x="7738732" y="0"/>
            <a:ext cx="4452963" cy="6858000"/>
          </a:xfrm>
          <a:prstGeom prst="rect">
            <a:avLst/>
          </a:prstGeom>
        </p:spPr>
      </p:pic>
      <p:sp>
        <p:nvSpPr>
          <p:cNvPr id="4" name="Text 0"/>
          <p:cNvSpPr txBox="1"/>
          <p:nvPr/>
        </p:nvSpPr>
        <p:spPr>
          <a:xfrm>
            <a:off x="1011911" y="4114800"/>
            <a:ext cx="6309360" cy="2194560"/>
          </a:xfrm>
          <a:prstGeom prst="rect">
            <a:avLst/>
          </a:prstGeom>
          <a:noFill/>
          <a:ln/>
        </p:spPr>
        <p:txBody>
          <a:bodyPr wrap="square" lIns="0" tIns="0" rIns="0" bIns="0" rtlCol="0" anchor="t"/>
          <a:lstStyle/>
          <a:p>
            <a:pPr algn="l" indent="0" marL="0">
              <a:lnSpc>
                <a:spcPct val="108000"/>
              </a:lnSpc>
              <a:buNone/>
            </a:pPr>
            <a:r>
              <a:rPr lang="en-US" sz="3600" dirty="0">
                <a:solidFill>
                  <a:srgbClr val="F4F5F6"/>
                </a:solidFill>
                <a:latin typeface="Cambria" pitchFamily="34" charset="0"/>
                <a:ea typeface="Cambria" pitchFamily="34" charset="-122"/>
                <a:cs typeface="Cambria" pitchFamily="34" charset="-120"/>
              </a:rPr>
              <a:t>If you’re under 52, your country</a:t>
            </a:r>
            <a:endParaRPr lang="en-US" sz="3600" dirty="0"/>
          </a:p>
          <a:p>
            <a:pPr algn="l" indent="0" marL="0">
              <a:lnSpc>
                <a:spcPct val="108000"/>
              </a:lnSpc>
              <a:buNone/>
            </a:pPr>
            <a:r>
              <a:rPr lang="en-US" sz="3600" dirty="0">
                <a:solidFill>
                  <a:srgbClr val="F4F5F6"/>
                </a:solidFill>
                <a:latin typeface="Cambria" pitchFamily="34" charset="0"/>
                <a:ea typeface="Cambria" pitchFamily="34" charset="-122"/>
                <a:cs typeface="Cambria" pitchFamily="34" charset="-120"/>
              </a:rPr>
              <a:t>has never asked you anything.</a:t>
            </a:r>
            <a:endParaRPr lang="en-US" sz="3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40707"/>
        </a:solidFill>
      </p:bgPr>
    </p:bg>
    <p:spTree>
      <p:nvGrpSpPr>
        <p:cNvPr id="1" name=""/>
        <p:cNvGrpSpPr/>
        <p:nvPr/>
      </p:nvGrpSpPr>
      <p:grpSpPr>
        <a:xfrm>
          <a:off x="0" y="0"/>
          <a:ext cx="0" cy="0"/>
          <a:chOff x="0" y="0"/>
          <a:chExt cx="0" cy="0"/>
        </a:xfrm>
      </p:grpSpPr>
      <p:sp>
        <p:nvSpPr>
          <p:cNvPr id="2" name="Text 0"/>
          <p:cNvSpPr txBox="1"/>
          <p:nvPr/>
        </p:nvSpPr>
        <p:spPr>
          <a:xfrm>
            <a:off x="1011911" y="6382512"/>
            <a:ext cx="2743200" cy="274320"/>
          </a:xfrm>
          <a:prstGeom prst="rect">
            <a:avLst/>
          </a:prstGeom>
          <a:noFill/>
          <a:ln/>
        </p:spPr>
        <p:txBody>
          <a:bodyPr wrap="square" lIns="0" tIns="0" rIns="0" bIns="0" rtlCol="0" anchor="ctr"/>
          <a:lstStyle/>
          <a:p>
            <a:pPr indent="0" marL="0">
              <a:buNone/>
            </a:pPr>
            <a:r>
              <a:rPr lang="en-US" sz="900" spc="400" kern="0" dirty="0">
                <a:solidFill>
                  <a:srgbClr val="7A7D7E"/>
                </a:solidFill>
                <a:latin typeface="Courier New" pitchFamily="34" charset="0"/>
                <a:ea typeface="Courier New" pitchFamily="34" charset="-122"/>
                <a:cs typeface="Courier New" pitchFamily="34" charset="-120"/>
              </a:rPr>
              <a:t>REPRESENT</a:t>
            </a:r>
            <a:endParaRPr lang="en-US" sz="900" dirty="0"/>
          </a:p>
        </p:txBody>
      </p:sp>
      <p:sp>
        <p:nvSpPr>
          <p:cNvPr id="3" name="Text 1"/>
          <p:cNvSpPr txBox="1"/>
          <p:nvPr/>
        </p:nvSpPr>
        <p:spPr>
          <a:xfrm>
            <a:off x="9350984" y="6382512"/>
            <a:ext cx="1828800" cy="274320"/>
          </a:xfrm>
          <a:prstGeom prst="rect">
            <a:avLst/>
          </a:prstGeom>
          <a:noFill/>
          <a:ln/>
        </p:spPr>
        <p:txBody>
          <a:bodyPr wrap="square" lIns="0" tIns="0" rIns="0" bIns="0" rtlCol="0" anchor="ctr"/>
          <a:lstStyle/>
          <a:p>
            <a:pPr algn="r" indent="0" marL="0">
              <a:buNone/>
            </a:pPr>
            <a:r>
              <a:rPr lang="en-US" sz="900" spc="200" kern="0" dirty="0">
                <a:solidFill>
                  <a:srgbClr val="7A7D7E"/>
                </a:solidFill>
                <a:latin typeface="Courier New" pitchFamily="34" charset="0"/>
                <a:ea typeface="Courier New" pitchFamily="34" charset="-122"/>
                <a:cs typeface="Courier New" pitchFamily="34" charset="-120"/>
              </a:rPr>
              <a:t>03 / 16</a:t>
            </a:r>
            <a:endParaRPr lang="en-US" sz="900" dirty="0"/>
          </a:p>
        </p:txBody>
      </p:sp>
      <p:sp>
        <p:nvSpPr>
          <p:cNvPr id="4" name="Text 2"/>
          <p:cNvSpPr txBox="1"/>
          <p:nvPr/>
        </p:nvSpPr>
        <p:spPr>
          <a:xfrm>
            <a:off x="7064984" y="546354"/>
            <a:ext cx="4114800" cy="274320"/>
          </a:xfrm>
          <a:prstGeom prst="rect">
            <a:avLst/>
          </a:prstGeom>
          <a:noFill/>
          <a:ln/>
        </p:spPr>
        <p:txBody>
          <a:bodyPr wrap="square" lIns="0" tIns="0" rIns="0" bIns="0" rtlCol="0" anchor="ctr"/>
          <a:lstStyle/>
          <a:p>
            <a:pPr algn="r" indent="0" marL="0">
              <a:buNone/>
            </a:pPr>
            <a:r>
              <a:rPr lang="en-US" sz="950" spc="300" kern="0" dirty="0">
                <a:solidFill>
                  <a:srgbClr val="7A7D7E"/>
                </a:solidFill>
                <a:latin typeface="Courier New" pitchFamily="34" charset="0"/>
                <a:ea typeface="Courier New" pitchFamily="34" charset="-122"/>
                <a:cs typeface="Courier New" pitchFamily="34" charset="-120"/>
              </a:rPr>
              <a:t>I · THE SILENCE</a:t>
            </a:r>
            <a:endParaRPr lang="en-US" sz="950" dirty="0"/>
          </a:p>
        </p:txBody>
      </p:sp>
      <p:sp>
        <p:nvSpPr>
          <p:cNvPr id="6" name="Text 3"/>
          <p:cNvSpPr txBox="1"/>
          <p:nvPr/>
        </p:nvSpPr>
        <p:spPr>
          <a:xfrm>
            <a:off x="1011911" y="957834"/>
            <a:ext cx="10167874" cy="292608"/>
          </a:xfrm>
          <a:prstGeom prst="rect">
            <a:avLst/>
          </a:prstGeom>
          <a:noFill/>
          <a:ln/>
        </p:spPr>
        <p:txBody>
          <a:bodyPr wrap="square" lIns="0" tIns="0" rIns="0" bIns="0" rtlCol="0" anchor="ctr"/>
          <a:lstStyle/>
          <a:p>
            <a:pPr algn="l" indent="0" marL="0">
              <a:buNone/>
            </a:pPr>
            <a:r>
              <a:rPr lang="en-US" sz="1100" spc="400" kern="0" dirty="0">
                <a:solidFill>
                  <a:srgbClr val="7A7D7E"/>
                </a:solidFill>
                <a:latin typeface="Courier New" pitchFamily="34" charset="0"/>
                <a:ea typeface="Courier New" pitchFamily="34" charset="-122"/>
                <a:cs typeface="Courier New" pitchFamily="34" charset="-120"/>
              </a:rPr>
              <a:t>HOW OFTEN DOES A COUNTRY ASK ITS PEOPLE?</a:t>
            </a:r>
            <a:endParaRPr lang="en-US" sz="1100" dirty="0"/>
          </a:p>
        </p:txBody>
      </p:sp>
      <p:sp>
        <p:nvSpPr>
          <p:cNvPr id="7" name="Text 4"/>
          <p:cNvSpPr txBox="1"/>
          <p:nvPr/>
        </p:nvSpPr>
        <p:spPr>
          <a:xfrm>
            <a:off x="1011911" y="1737360"/>
            <a:ext cx="3114971" cy="2834640"/>
          </a:xfrm>
          <a:prstGeom prst="rect">
            <a:avLst/>
          </a:prstGeom>
          <a:noFill/>
          <a:ln/>
        </p:spPr>
        <p:txBody>
          <a:bodyPr wrap="square" lIns="0" tIns="0" rIns="0" bIns="0" rtlCol="0" anchor="ctr"/>
          <a:lstStyle/>
          <a:p>
            <a:pPr algn="ctr" indent="0" marL="0">
              <a:buNone/>
            </a:pPr>
            <a:r>
              <a:rPr lang="en-US" sz="17000" dirty="0">
                <a:solidFill>
                  <a:srgbClr val="B8BABB"/>
                </a:solidFill>
                <a:latin typeface="Cambria" pitchFamily="34" charset="0"/>
                <a:ea typeface="Cambria" pitchFamily="34" charset="-122"/>
                <a:cs typeface="Cambria" pitchFamily="34" charset="-120"/>
              </a:rPr>
              <a:t>3</a:t>
            </a:r>
            <a:endParaRPr lang="en-US" sz="17000" dirty="0"/>
          </a:p>
        </p:txBody>
      </p:sp>
      <p:sp>
        <p:nvSpPr>
          <p:cNvPr id="8" name="Text 5"/>
          <p:cNvSpPr txBox="1"/>
          <p:nvPr/>
        </p:nvSpPr>
        <p:spPr>
          <a:xfrm>
            <a:off x="1011911" y="4800600"/>
            <a:ext cx="3114971" cy="548640"/>
          </a:xfrm>
          <a:prstGeom prst="rect">
            <a:avLst/>
          </a:prstGeom>
          <a:noFill/>
          <a:ln/>
        </p:spPr>
        <p:txBody>
          <a:bodyPr wrap="square" lIns="0" tIns="0" rIns="0" bIns="0" rtlCol="0" anchor="ctr"/>
          <a:lstStyle/>
          <a:p>
            <a:pPr algn="ctr" indent="0" marL="0">
              <a:buNone/>
            </a:pPr>
            <a:r>
              <a:rPr lang="en-US" sz="1050" spc="200" kern="0" dirty="0">
                <a:solidFill>
                  <a:srgbClr val="7A7D7E"/>
                </a:solidFill>
                <a:latin typeface="Courier New" pitchFamily="34" charset="0"/>
                <a:ea typeface="Courier New" pitchFamily="34" charset="-122"/>
                <a:cs typeface="Courier New" pitchFamily="34" charset="-120"/>
              </a:rPr>
              <a:t>CANADA · SINCE 1867</a:t>
            </a:r>
            <a:endParaRPr lang="en-US" sz="1050" dirty="0"/>
          </a:p>
        </p:txBody>
      </p:sp>
      <p:sp>
        <p:nvSpPr>
          <p:cNvPr id="9" name="Text 6"/>
          <p:cNvSpPr txBox="1"/>
          <p:nvPr/>
        </p:nvSpPr>
        <p:spPr>
          <a:xfrm>
            <a:off x="4401202" y="1737360"/>
            <a:ext cx="3114971" cy="2834640"/>
          </a:xfrm>
          <a:prstGeom prst="rect">
            <a:avLst/>
          </a:prstGeom>
          <a:noFill/>
          <a:ln/>
        </p:spPr>
        <p:txBody>
          <a:bodyPr wrap="square" lIns="0" tIns="0" rIns="0" bIns="0" rtlCol="0" anchor="ctr"/>
          <a:lstStyle/>
          <a:p>
            <a:pPr algn="ctr" indent="0" marL="0">
              <a:buNone/>
            </a:pPr>
            <a:r>
              <a:rPr lang="en-US" sz="17000" dirty="0">
                <a:solidFill>
                  <a:srgbClr val="B8BABB"/>
                </a:solidFill>
                <a:latin typeface="Cambria" pitchFamily="34" charset="0"/>
                <a:ea typeface="Cambria" pitchFamily="34" charset="-122"/>
                <a:cs typeface="Cambria" pitchFamily="34" charset="-120"/>
              </a:rPr>
              <a:t>3</a:t>
            </a:r>
            <a:endParaRPr lang="en-US" sz="17000" dirty="0"/>
          </a:p>
        </p:txBody>
      </p:sp>
      <p:sp>
        <p:nvSpPr>
          <p:cNvPr id="10" name="Text 7"/>
          <p:cNvSpPr txBox="1"/>
          <p:nvPr/>
        </p:nvSpPr>
        <p:spPr>
          <a:xfrm>
            <a:off x="4401202" y="4800600"/>
            <a:ext cx="3114971" cy="548640"/>
          </a:xfrm>
          <a:prstGeom prst="rect">
            <a:avLst/>
          </a:prstGeom>
          <a:noFill/>
          <a:ln/>
        </p:spPr>
        <p:txBody>
          <a:bodyPr wrap="square" lIns="0" tIns="0" rIns="0" bIns="0" rtlCol="0" anchor="ctr"/>
          <a:lstStyle/>
          <a:p>
            <a:pPr algn="ctr" indent="0" marL="0">
              <a:buNone/>
            </a:pPr>
            <a:r>
              <a:rPr lang="en-US" sz="1050" spc="200" kern="0" dirty="0">
                <a:solidFill>
                  <a:srgbClr val="7A7D7E"/>
                </a:solidFill>
                <a:latin typeface="Courier New" pitchFamily="34" charset="0"/>
                <a:ea typeface="Courier New" pitchFamily="34" charset="-122"/>
                <a:cs typeface="Courier New" pitchFamily="34" charset="-120"/>
              </a:rPr>
              <a:t>UNITED KINGDOM · EVER</a:t>
            </a:r>
            <a:endParaRPr lang="en-US" sz="1050" dirty="0"/>
          </a:p>
        </p:txBody>
      </p:sp>
      <p:sp>
        <p:nvSpPr>
          <p:cNvPr id="11" name="Text 8"/>
          <p:cNvSpPr txBox="1"/>
          <p:nvPr/>
        </p:nvSpPr>
        <p:spPr>
          <a:xfrm>
            <a:off x="7790493" y="1737360"/>
            <a:ext cx="3114971" cy="2834640"/>
          </a:xfrm>
          <a:prstGeom prst="rect">
            <a:avLst/>
          </a:prstGeom>
          <a:noFill/>
          <a:ln/>
        </p:spPr>
        <p:txBody>
          <a:bodyPr wrap="square" lIns="0" tIns="0" rIns="0" bIns="0" rtlCol="0" anchor="ctr"/>
          <a:lstStyle/>
          <a:p>
            <a:pPr algn="ctr" indent="0" marL="0">
              <a:buNone/>
            </a:pPr>
            <a:r>
              <a:rPr lang="en-US" sz="17000" dirty="0">
                <a:solidFill>
                  <a:srgbClr val="EABA58"/>
                </a:solidFill>
                <a:latin typeface="Cambria" pitchFamily="34" charset="0"/>
                <a:ea typeface="Cambria" pitchFamily="34" charset="-122"/>
                <a:cs typeface="Cambria" pitchFamily="34" charset="-120"/>
              </a:rPr>
              <a:t>0</a:t>
            </a:r>
            <a:endParaRPr lang="en-US" sz="17000" dirty="0"/>
          </a:p>
        </p:txBody>
      </p:sp>
      <p:sp>
        <p:nvSpPr>
          <p:cNvPr id="12" name="Text 9"/>
          <p:cNvSpPr txBox="1"/>
          <p:nvPr/>
        </p:nvSpPr>
        <p:spPr>
          <a:xfrm>
            <a:off x="7790493" y="4800600"/>
            <a:ext cx="3114971" cy="548640"/>
          </a:xfrm>
          <a:prstGeom prst="rect">
            <a:avLst/>
          </a:prstGeom>
          <a:noFill/>
          <a:ln/>
        </p:spPr>
        <p:txBody>
          <a:bodyPr wrap="square" lIns="0" tIns="0" rIns="0" bIns="0" rtlCol="0" anchor="ctr"/>
          <a:lstStyle/>
          <a:p>
            <a:pPr algn="ctr" indent="0" marL="0">
              <a:buNone/>
            </a:pPr>
            <a:r>
              <a:rPr lang="en-US" sz="1050" spc="200" kern="0" dirty="0">
                <a:solidFill>
                  <a:srgbClr val="7A7D7E"/>
                </a:solidFill>
                <a:latin typeface="Courier New" pitchFamily="34" charset="0"/>
                <a:ea typeface="Courier New" pitchFamily="34" charset="-122"/>
                <a:cs typeface="Courier New" pitchFamily="34" charset="-120"/>
              </a:rPr>
              <a:t>UNITED STATES · NO LEGAL MECHANISM</a:t>
            </a:r>
            <a:endParaRPr lang="en-US" sz="1050" dirty="0"/>
          </a:p>
        </p:txBody>
      </p:sp>
      <p:sp>
        <p:nvSpPr>
          <p:cNvPr id="13" name="Text 10"/>
          <p:cNvSpPr txBox="1"/>
          <p:nvPr/>
        </p:nvSpPr>
        <p:spPr>
          <a:xfrm>
            <a:off x="1011911" y="5532120"/>
            <a:ext cx="10167874" cy="2194560"/>
          </a:xfrm>
          <a:prstGeom prst="rect">
            <a:avLst/>
          </a:prstGeom>
          <a:noFill/>
          <a:ln/>
        </p:spPr>
        <p:txBody>
          <a:bodyPr wrap="square" lIns="0" tIns="0" rIns="0" bIns="0" rtlCol="0" anchor="t"/>
          <a:lstStyle/>
          <a:p>
            <a:pPr algn="ctr" indent="0" marL="0">
              <a:lnSpc>
                <a:spcPct val="108000"/>
              </a:lnSpc>
              <a:buNone/>
            </a:pPr>
            <a:r>
              <a:rPr lang="en-US" sz="2400" dirty="0">
                <a:solidFill>
                  <a:srgbClr val="B8BABB"/>
                </a:solidFill>
                <a:latin typeface="Cambria" pitchFamily="34" charset="0"/>
                <a:ea typeface="Cambria" pitchFamily="34" charset="-122"/>
                <a:cs typeface="Cambria" pitchFamily="34" charset="-120"/>
              </a:rPr>
              <a:t>It’s not broken. It was never built.</a:t>
            </a:r>
            <a:endParaRPr lang="en-US"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40707"/>
        </a:solidFill>
      </p:bgPr>
    </p:bg>
    <p:spTree>
      <p:nvGrpSpPr>
        <p:cNvPr id="1" name=""/>
        <p:cNvGrpSpPr/>
        <p:nvPr/>
      </p:nvGrpSpPr>
      <p:grpSpPr>
        <a:xfrm>
          <a:off x="0" y="0"/>
          <a:ext cx="0" cy="0"/>
          <a:chOff x="0" y="0"/>
          <a:chExt cx="0" cy="0"/>
        </a:xfrm>
      </p:grpSpPr>
      <p:sp>
        <p:nvSpPr>
          <p:cNvPr id="2" name="Text 0"/>
          <p:cNvSpPr txBox="1"/>
          <p:nvPr/>
        </p:nvSpPr>
        <p:spPr>
          <a:xfrm>
            <a:off x="1011911" y="6382512"/>
            <a:ext cx="2743200" cy="274320"/>
          </a:xfrm>
          <a:prstGeom prst="rect">
            <a:avLst/>
          </a:prstGeom>
          <a:noFill/>
          <a:ln/>
        </p:spPr>
        <p:txBody>
          <a:bodyPr wrap="square" lIns="0" tIns="0" rIns="0" bIns="0" rtlCol="0" anchor="ctr"/>
          <a:lstStyle/>
          <a:p>
            <a:pPr indent="0" marL="0">
              <a:buNone/>
            </a:pPr>
            <a:r>
              <a:rPr lang="en-US" sz="900" spc="400" kern="0" dirty="0">
                <a:solidFill>
                  <a:srgbClr val="7A7D7E"/>
                </a:solidFill>
                <a:latin typeface="Courier New" pitchFamily="34" charset="0"/>
                <a:ea typeface="Courier New" pitchFamily="34" charset="-122"/>
                <a:cs typeface="Courier New" pitchFamily="34" charset="-120"/>
              </a:rPr>
              <a:t>REPRESENT</a:t>
            </a:r>
            <a:endParaRPr lang="en-US" sz="900" dirty="0"/>
          </a:p>
        </p:txBody>
      </p:sp>
      <p:sp>
        <p:nvSpPr>
          <p:cNvPr id="3" name="Text 1"/>
          <p:cNvSpPr txBox="1"/>
          <p:nvPr/>
        </p:nvSpPr>
        <p:spPr>
          <a:xfrm>
            <a:off x="9350984" y="6382512"/>
            <a:ext cx="1828800" cy="274320"/>
          </a:xfrm>
          <a:prstGeom prst="rect">
            <a:avLst/>
          </a:prstGeom>
          <a:noFill/>
          <a:ln/>
        </p:spPr>
        <p:txBody>
          <a:bodyPr wrap="square" lIns="0" tIns="0" rIns="0" bIns="0" rtlCol="0" anchor="ctr"/>
          <a:lstStyle/>
          <a:p>
            <a:pPr algn="r" indent="0" marL="0">
              <a:buNone/>
            </a:pPr>
            <a:r>
              <a:rPr lang="en-US" sz="900" spc="200" kern="0" dirty="0">
                <a:solidFill>
                  <a:srgbClr val="7A7D7E"/>
                </a:solidFill>
                <a:latin typeface="Courier New" pitchFamily="34" charset="0"/>
                <a:ea typeface="Courier New" pitchFamily="34" charset="-122"/>
                <a:cs typeface="Courier New" pitchFamily="34" charset="-120"/>
              </a:rPr>
              <a:t>04 / 16</a:t>
            </a:r>
            <a:endParaRPr lang="en-US" sz="900" dirty="0"/>
          </a:p>
        </p:txBody>
      </p:sp>
      <p:sp>
        <p:nvSpPr>
          <p:cNvPr id="4" name="Text 2"/>
          <p:cNvSpPr txBox="1"/>
          <p:nvPr/>
        </p:nvSpPr>
        <p:spPr>
          <a:xfrm>
            <a:off x="7064984" y="546354"/>
            <a:ext cx="4114800" cy="274320"/>
          </a:xfrm>
          <a:prstGeom prst="rect">
            <a:avLst/>
          </a:prstGeom>
          <a:noFill/>
          <a:ln/>
        </p:spPr>
        <p:txBody>
          <a:bodyPr wrap="square" lIns="0" tIns="0" rIns="0" bIns="0" rtlCol="0" anchor="ctr"/>
          <a:lstStyle/>
          <a:p>
            <a:pPr algn="r" indent="0" marL="0">
              <a:buNone/>
            </a:pPr>
            <a:r>
              <a:rPr lang="en-US" sz="950" spc="300" kern="0" dirty="0">
                <a:solidFill>
                  <a:srgbClr val="7A7D7E"/>
                </a:solidFill>
                <a:latin typeface="Courier New" pitchFamily="34" charset="0"/>
                <a:ea typeface="Courier New" pitchFamily="34" charset="-122"/>
                <a:cs typeface="Courier New" pitchFamily="34" charset="-120"/>
              </a:rPr>
              <a:t>I · THE SILENCE</a:t>
            </a:r>
            <a:endParaRPr lang="en-US" sz="950" dirty="0"/>
          </a:p>
        </p:txBody>
      </p:sp>
      <p:sp>
        <p:nvSpPr>
          <p:cNvPr id="6" name="Text 3"/>
          <p:cNvSpPr txBox="1"/>
          <p:nvPr/>
        </p:nvSpPr>
        <p:spPr>
          <a:xfrm>
            <a:off x="1011911" y="957834"/>
            <a:ext cx="10167874" cy="292608"/>
          </a:xfrm>
          <a:prstGeom prst="rect">
            <a:avLst/>
          </a:prstGeom>
          <a:noFill/>
          <a:ln/>
        </p:spPr>
        <p:txBody>
          <a:bodyPr wrap="square" lIns="0" tIns="0" rIns="0" bIns="0" rtlCol="0" anchor="ctr"/>
          <a:lstStyle/>
          <a:p>
            <a:pPr algn="l" indent="0" marL="0">
              <a:buNone/>
            </a:pPr>
            <a:r>
              <a:rPr lang="en-US" sz="1100" spc="400" kern="0" dirty="0">
                <a:solidFill>
                  <a:srgbClr val="7A7D7E"/>
                </a:solidFill>
                <a:latin typeface="Courier New" pitchFamily="34" charset="0"/>
                <a:ea typeface="Courier New" pitchFamily="34" charset="-122"/>
                <a:cs typeface="Courier New" pitchFamily="34" charset="-120"/>
              </a:rPr>
              <a:t>THE LAST TIME A CITY ASKED · CALGARY, 2018</a:t>
            </a:r>
            <a:endParaRPr lang="en-US" sz="1100" dirty="0"/>
          </a:p>
        </p:txBody>
      </p:sp>
      <p:sp>
        <p:nvSpPr>
          <p:cNvPr id="7" name="Text 4"/>
          <p:cNvSpPr txBox="1"/>
          <p:nvPr/>
        </p:nvSpPr>
        <p:spPr>
          <a:xfrm>
            <a:off x="1011911" y="1645920"/>
            <a:ext cx="10167874" cy="2194560"/>
          </a:xfrm>
          <a:prstGeom prst="rect">
            <a:avLst/>
          </a:prstGeom>
          <a:noFill/>
          <a:ln/>
        </p:spPr>
        <p:txBody>
          <a:bodyPr wrap="square" lIns="0" tIns="0" rIns="0" bIns="0" rtlCol="0" anchor="t"/>
          <a:lstStyle/>
          <a:p>
            <a:pPr algn="l" indent="0" marL="0">
              <a:lnSpc>
                <a:spcPct val="108000"/>
              </a:lnSpc>
              <a:buNone/>
            </a:pPr>
            <a:r>
              <a:rPr lang="en-US" sz="4000" dirty="0">
                <a:solidFill>
                  <a:srgbClr val="F4F5F6"/>
                </a:solidFill>
                <a:latin typeface="Cambria" pitchFamily="34" charset="0"/>
                <a:ea typeface="Cambria" pitchFamily="34" charset="-122"/>
                <a:cs typeface="Cambria" pitchFamily="34" charset="-120"/>
              </a:rPr>
              <a:t>One question.</a:t>
            </a:r>
            <a:endParaRPr lang="en-US" sz="4000" dirty="0"/>
          </a:p>
        </p:txBody>
      </p:sp>
      <p:sp>
        <p:nvSpPr>
          <p:cNvPr id="8" name="Text 5"/>
          <p:cNvSpPr txBox="1"/>
          <p:nvPr/>
        </p:nvSpPr>
        <p:spPr>
          <a:xfrm>
            <a:off x="1011911" y="2743200"/>
            <a:ext cx="3023531" cy="292608"/>
          </a:xfrm>
          <a:prstGeom prst="rect">
            <a:avLst/>
          </a:prstGeom>
          <a:noFill/>
          <a:ln/>
        </p:spPr>
        <p:txBody>
          <a:bodyPr wrap="square" lIns="0" tIns="0" rIns="0" bIns="0" rtlCol="0" anchor="ctr"/>
          <a:lstStyle/>
          <a:p>
            <a:pPr indent="0" marL="0">
              <a:buNone/>
            </a:pPr>
            <a:r>
              <a:rPr lang="en-US" sz="1050" spc="200" kern="0" dirty="0">
                <a:solidFill>
                  <a:srgbClr val="7A7D7E"/>
                </a:solidFill>
                <a:latin typeface="Courier New" pitchFamily="34" charset="0"/>
                <a:ea typeface="Courier New" pitchFamily="34" charset="-122"/>
                <a:cs typeface="Courier New" pitchFamily="34" charset="-120"/>
              </a:rPr>
              <a:t>TO RUN ONE VOTE</a:t>
            </a:r>
            <a:endParaRPr lang="en-US" sz="1050" dirty="0"/>
          </a:p>
        </p:txBody>
      </p:sp>
      <p:sp>
        <p:nvSpPr>
          <p:cNvPr id="9" name="Text 6"/>
          <p:cNvSpPr txBox="1"/>
          <p:nvPr/>
        </p:nvSpPr>
        <p:spPr>
          <a:xfrm>
            <a:off x="1011911" y="3063240"/>
            <a:ext cx="3252131" cy="1143000"/>
          </a:xfrm>
          <a:prstGeom prst="rect">
            <a:avLst/>
          </a:prstGeom>
          <a:noFill/>
          <a:ln/>
        </p:spPr>
        <p:txBody>
          <a:bodyPr wrap="square" lIns="0" tIns="0" rIns="0" bIns="0" rtlCol="0" anchor="ctr"/>
          <a:lstStyle/>
          <a:p>
            <a:pPr indent="0" marL="0">
              <a:buNone/>
            </a:pPr>
            <a:r>
              <a:rPr lang="en-US" sz="5600" dirty="0">
                <a:solidFill>
                  <a:srgbClr val="F4F5F6"/>
                </a:solidFill>
                <a:latin typeface="Cambria" pitchFamily="34" charset="0"/>
                <a:ea typeface="Cambria" pitchFamily="34" charset="-122"/>
                <a:cs typeface="Cambria" pitchFamily="34" charset="-120"/>
              </a:rPr>
              <a:t>$2.2M</a:t>
            </a:r>
            <a:endParaRPr lang="en-US" sz="5600" dirty="0"/>
          </a:p>
        </p:txBody>
      </p:sp>
      <p:sp>
        <p:nvSpPr>
          <p:cNvPr id="10" name="Text 7"/>
          <p:cNvSpPr txBox="1"/>
          <p:nvPr/>
        </p:nvSpPr>
        <p:spPr>
          <a:xfrm>
            <a:off x="4401202" y="2743200"/>
            <a:ext cx="3023531" cy="292608"/>
          </a:xfrm>
          <a:prstGeom prst="rect">
            <a:avLst/>
          </a:prstGeom>
          <a:noFill/>
          <a:ln/>
        </p:spPr>
        <p:txBody>
          <a:bodyPr wrap="square" lIns="0" tIns="0" rIns="0" bIns="0" rtlCol="0" anchor="ctr"/>
          <a:lstStyle/>
          <a:p>
            <a:pPr indent="0" marL="0">
              <a:buNone/>
            </a:pPr>
            <a:r>
              <a:rPr lang="en-US" sz="1050" spc="200" kern="0" dirty="0">
                <a:solidFill>
                  <a:srgbClr val="7A7D7E"/>
                </a:solidFill>
                <a:latin typeface="Courier New" pitchFamily="34" charset="0"/>
                <a:ea typeface="Courier New" pitchFamily="34" charset="-122"/>
                <a:cs typeface="Courier New" pitchFamily="34" charset="-120"/>
              </a:rPr>
              <a:t>COMMITTEE TO ANSWER</a:t>
            </a:r>
            <a:endParaRPr lang="en-US" sz="1050" dirty="0"/>
          </a:p>
        </p:txBody>
      </p:sp>
      <p:sp>
        <p:nvSpPr>
          <p:cNvPr id="11" name="Text 8"/>
          <p:cNvSpPr txBox="1"/>
          <p:nvPr/>
        </p:nvSpPr>
        <p:spPr>
          <a:xfrm>
            <a:off x="4401202" y="3063240"/>
            <a:ext cx="3252131" cy="1143000"/>
          </a:xfrm>
          <a:prstGeom prst="rect">
            <a:avLst/>
          </a:prstGeom>
          <a:noFill/>
          <a:ln/>
        </p:spPr>
        <p:txBody>
          <a:bodyPr wrap="square" lIns="0" tIns="0" rIns="0" bIns="0" rtlCol="0" anchor="ctr"/>
          <a:lstStyle/>
          <a:p>
            <a:pPr indent="0" marL="0">
              <a:buNone/>
            </a:pPr>
            <a:r>
              <a:rPr lang="en-US" sz="5600" dirty="0">
                <a:solidFill>
                  <a:srgbClr val="F4F5F6"/>
                </a:solidFill>
                <a:latin typeface="Cambria" pitchFamily="34" charset="0"/>
                <a:ea typeface="Cambria" pitchFamily="34" charset="-122"/>
                <a:cs typeface="Cambria" pitchFamily="34" charset="-120"/>
              </a:rPr>
              <a:t>3 years</a:t>
            </a:r>
            <a:endParaRPr lang="en-US" sz="5600" dirty="0"/>
          </a:p>
        </p:txBody>
      </p:sp>
      <p:sp>
        <p:nvSpPr>
          <p:cNvPr id="12" name="Text 9"/>
          <p:cNvSpPr txBox="1"/>
          <p:nvPr/>
        </p:nvSpPr>
        <p:spPr>
          <a:xfrm>
            <a:off x="7790493" y="2743200"/>
            <a:ext cx="3023531" cy="292608"/>
          </a:xfrm>
          <a:prstGeom prst="rect">
            <a:avLst/>
          </a:prstGeom>
          <a:noFill/>
          <a:ln/>
        </p:spPr>
        <p:txBody>
          <a:bodyPr wrap="square" lIns="0" tIns="0" rIns="0" bIns="0" rtlCol="0" anchor="ctr"/>
          <a:lstStyle/>
          <a:p>
            <a:pPr indent="0" marL="0">
              <a:buNone/>
            </a:pPr>
            <a:r>
              <a:rPr lang="en-US" sz="1050" spc="200" kern="0" dirty="0">
                <a:solidFill>
                  <a:srgbClr val="7A7D7E"/>
                </a:solidFill>
                <a:latin typeface="Courier New" pitchFamily="34" charset="0"/>
                <a:ea typeface="Courier New" pitchFamily="34" charset="-122"/>
                <a:cs typeface="Courier New" pitchFamily="34" charset="-120"/>
              </a:rPr>
              <a:t>PEOPLE ANSWERED</a:t>
            </a:r>
            <a:endParaRPr lang="en-US" sz="1050" dirty="0"/>
          </a:p>
        </p:txBody>
      </p:sp>
      <p:sp>
        <p:nvSpPr>
          <p:cNvPr id="13" name="Text 10"/>
          <p:cNvSpPr txBox="1"/>
          <p:nvPr/>
        </p:nvSpPr>
        <p:spPr>
          <a:xfrm>
            <a:off x="7790493" y="3063240"/>
            <a:ext cx="3252131" cy="1143000"/>
          </a:xfrm>
          <a:prstGeom prst="rect">
            <a:avLst/>
          </a:prstGeom>
          <a:noFill/>
          <a:ln/>
        </p:spPr>
        <p:txBody>
          <a:bodyPr wrap="square" lIns="0" tIns="0" rIns="0" bIns="0" rtlCol="0" anchor="ctr"/>
          <a:lstStyle/>
          <a:p>
            <a:pPr indent="0" marL="0">
              <a:buNone/>
            </a:pPr>
            <a:r>
              <a:rPr lang="en-US" sz="5600" dirty="0">
                <a:solidFill>
                  <a:srgbClr val="EABA58"/>
                </a:solidFill>
                <a:latin typeface="Cambria" pitchFamily="34" charset="0"/>
                <a:ea typeface="Cambria" pitchFamily="34" charset="-122"/>
                <a:cs typeface="Cambria" pitchFamily="34" charset="-120"/>
              </a:rPr>
              <a:t>304,582</a:t>
            </a:r>
            <a:endParaRPr lang="en-US" sz="5600" dirty="0"/>
          </a:p>
        </p:txBody>
      </p:sp>
      <p:sp>
        <p:nvSpPr>
          <p:cNvPr id="14" name="Shape 11"/>
          <p:cNvSpPr/>
          <p:nvPr/>
        </p:nvSpPr>
        <p:spPr>
          <a:xfrm>
            <a:off x="1011911" y="4370832"/>
            <a:ext cx="10167874" cy="10973"/>
          </a:xfrm>
          <a:prstGeom prst="rect">
            <a:avLst/>
          </a:prstGeom>
          <a:solidFill>
            <a:srgbClr val="C99A38"/>
          </a:solidFill>
          <a:ln/>
        </p:spPr>
      </p:sp>
      <p:sp>
        <p:nvSpPr>
          <p:cNvPr id="15" name="Text 12"/>
          <p:cNvSpPr txBox="1"/>
          <p:nvPr/>
        </p:nvSpPr>
        <p:spPr>
          <a:xfrm>
            <a:off x="1011911" y="4800600"/>
            <a:ext cx="10167874" cy="2194560"/>
          </a:xfrm>
          <a:prstGeom prst="rect">
            <a:avLst/>
          </a:prstGeom>
          <a:noFill/>
          <a:ln/>
        </p:spPr>
        <p:txBody>
          <a:bodyPr wrap="square" lIns="0" tIns="0" rIns="0" bIns="0" rtlCol="0" anchor="t"/>
          <a:lstStyle/>
          <a:p>
            <a:pPr algn="l" indent="0" marL="0">
              <a:lnSpc>
                <a:spcPct val="108000"/>
              </a:lnSpc>
              <a:buNone/>
            </a:pPr>
            <a:r>
              <a:rPr lang="en-US" sz="2600" dirty="0">
                <a:solidFill>
                  <a:srgbClr val="F4F5F6"/>
                </a:solidFill>
                <a:latin typeface="Cambria" pitchFamily="34" charset="0"/>
                <a:ea typeface="Cambria" pitchFamily="34" charset="-122"/>
                <a:cs typeface="Cambria" pitchFamily="34" charset="-120"/>
              </a:rPr>
              <a:t>Dismantled the next day. </a:t>
            </a:r>
            <a:pPr algn="l" indent="0" marL="0">
              <a:lnSpc>
                <a:spcPct val="108000"/>
              </a:lnSpc>
              <a:buNone/>
            </a:pPr>
            <a:r>
              <a:rPr lang="en-US" sz="2600" dirty="0">
                <a:solidFill>
                  <a:srgbClr val="B8BABB"/>
                </a:solidFill>
                <a:latin typeface="Cambria" pitchFamily="34" charset="0"/>
                <a:ea typeface="Cambria" pitchFamily="34" charset="-122"/>
                <a:cs typeface="Cambria" pitchFamily="34" charset="-120"/>
              </a:rPr>
              <a:t>On Represent: approximately nothing, and days — not years.</a:t>
            </a:r>
            <a:endParaRPr lang="en-US" sz="2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40707"/>
        </a:solidFill>
      </p:bgPr>
    </p:bg>
    <p:spTree>
      <p:nvGrpSpPr>
        <p:cNvPr id="1" name=""/>
        <p:cNvGrpSpPr/>
        <p:nvPr/>
      </p:nvGrpSpPr>
      <p:grpSpPr>
        <a:xfrm>
          <a:off x="0" y="0"/>
          <a:ext cx="0" cy="0"/>
          <a:chOff x="0" y="0"/>
          <a:chExt cx="0" cy="0"/>
        </a:xfrm>
      </p:grpSpPr>
      <p:sp>
        <p:nvSpPr>
          <p:cNvPr id="2" name="Text 0"/>
          <p:cNvSpPr txBox="1"/>
          <p:nvPr/>
        </p:nvSpPr>
        <p:spPr>
          <a:xfrm>
            <a:off x="1011911" y="6382512"/>
            <a:ext cx="2743200" cy="274320"/>
          </a:xfrm>
          <a:prstGeom prst="rect">
            <a:avLst/>
          </a:prstGeom>
          <a:noFill/>
          <a:ln/>
        </p:spPr>
        <p:txBody>
          <a:bodyPr wrap="square" lIns="0" tIns="0" rIns="0" bIns="0" rtlCol="0" anchor="ctr"/>
          <a:lstStyle/>
          <a:p>
            <a:pPr indent="0" marL="0">
              <a:buNone/>
            </a:pPr>
            <a:r>
              <a:rPr lang="en-US" sz="900" spc="400" kern="0" dirty="0">
                <a:solidFill>
                  <a:srgbClr val="7A7D7E"/>
                </a:solidFill>
                <a:latin typeface="Courier New" pitchFamily="34" charset="0"/>
                <a:ea typeface="Courier New" pitchFamily="34" charset="-122"/>
                <a:cs typeface="Courier New" pitchFamily="34" charset="-120"/>
              </a:rPr>
              <a:t>REPRESENT</a:t>
            </a:r>
            <a:endParaRPr lang="en-US" sz="900" dirty="0"/>
          </a:p>
        </p:txBody>
      </p:sp>
      <p:sp>
        <p:nvSpPr>
          <p:cNvPr id="3" name="Text 1"/>
          <p:cNvSpPr txBox="1"/>
          <p:nvPr/>
        </p:nvSpPr>
        <p:spPr>
          <a:xfrm>
            <a:off x="9350984" y="6382512"/>
            <a:ext cx="1828800" cy="274320"/>
          </a:xfrm>
          <a:prstGeom prst="rect">
            <a:avLst/>
          </a:prstGeom>
          <a:noFill/>
          <a:ln/>
        </p:spPr>
        <p:txBody>
          <a:bodyPr wrap="square" lIns="0" tIns="0" rIns="0" bIns="0" rtlCol="0" anchor="ctr"/>
          <a:lstStyle/>
          <a:p>
            <a:pPr algn="r" indent="0" marL="0">
              <a:buNone/>
            </a:pPr>
            <a:r>
              <a:rPr lang="en-US" sz="900" spc="200" kern="0" dirty="0">
                <a:solidFill>
                  <a:srgbClr val="7A7D7E"/>
                </a:solidFill>
                <a:latin typeface="Courier New" pitchFamily="34" charset="0"/>
                <a:ea typeface="Courier New" pitchFamily="34" charset="-122"/>
                <a:cs typeface="Courier New" pitchFamily="34" charset="-120"/>
              </a:rPr>
              <a:t>05 / 16</a:t>
            </a:r>
            <a:endParaRPr lang="en-US" sz="900" dirty="0"/>
          </a:p>
        </p:txBody>
      </p:sp>
      <p:sp>
        <p:nvSpPr>
          <p:cNvPr id="4" name="Text 2"/>
          <p:cNvSpPr txBox="1"/>
          <p:nvPr/>
        </p:nvSpPr>
        <p:spPr>
          <a:xfrm>
            <a:off x="7064984" y="546354"/>
            <a:ext cx="4114800" cy="274320"/>
          </a:xfrm>
          <a:prstGeom prst="rect">
            <a:avLst/>
          </a:prstGeom>
          <a:noFill/>
          <a:ln/>
        </p:spPr>
        <p:txBody>
          <a:bodyPr wrap="square" lIns="0" tIns="0" rIns="0" bIns="0" rtlCol="0" anchor="ctr"/>
          <a:lstStyle/>
          <a:p>
            <a:pPr algn="r" indent="0" marL="0">
              <a:buNone/>
            </a:pPr>
            <a:r>
              <a:rPr lang="en-US" sz="950" spc="300" kern="0" dirty="0">
                <a:solidFill>
                  <a:srgbClr val="7A7D7E"/>
                </a:solidFill>
                <a:latin typeface="Courier New" pitchFamily="34" charset="0"/>
                <a:ea typeface="Courier New" pitchFamily="34" charset="-122"/>
                <a:cs typeface="Courier New" pitchFamily="34" charset="-120"/>
              </a:rPr>
              <a:t>I · THE SILENCE</a:t>
            </a:r>
            <a:endParaRPr lang="en-US" sz="950" dirty="0"/>
          </a:p>
        </p:txBody>
      </p:sp>
      <p:sp>
        <p:nvSpPr>
          <p:cNvPr id="6" name="Text 3"/>
          <p:cNvSpPr txBox="1"/>
          <p:nvPr/>
        </p:nvSpPr>
        <p:spPr>
          <a:xfrm>
            <a:off x="1011911" y="1508760"/>
            <a:ext cx="8412480" cy="2194560"/>
          </a:xfrm>
          <a:prstGeom prst="rect">
            <a:avLst/>
          </a:prstGeom>
          <a:noFill/>
          <a:ln/>
        </p:spPr>
        <p:txBody>
          <a:bodyPr wrap="square" lIns="0" tIns="0" rIns="0" bIns="0" rtlCol="0" anchor="t"/>
          <a:lstStyle/>
          <a:p>
            <a:pPr algn="l" indent="0" marL="0">
              <a:lnSpc>
                <a:spcPct val="108000"/>
              </a:lnSpc>
              <a:buNone/>
            </a:pPr>
            <a:r>
              <a:rPr lang="en-US" sz="4400" dirty="0">
                <a:solidFill>
                  <a:srgbClr val="F4F5F6"/>
                </a:solidFill>
                <a:latin typeface="Cambria" pitchFamily="34" charset="0"/>
                <a:ea typeface="Cambria" pitchFamily="34" charset="-122"/>
                <a:cs typeface="Cambria" pitchFamily="34" charset="-120"/>
              </a:rPr>
              <a:t>It’s not that they won’t listen.</a:t>
            </a:r>
            <a:endParaRPr lang="en-US" sz="4400" dirty="0"/>
          </a:p>
          <a:p>
            <a:pPr algn="l" indent="0" marL="0">
              <a:lnSpc>
                <a:spcPct val="108000"/>
              </a:lnSpc>
              <a:buNone/>
            </a:pPr>
            <a:r>
              <a:rPr lang="en-US" sz="4400" dirty="0">
                <a:solidFill>
                  <a:srgbClr val="EABA58"/>
                </a:solidFill>
                <a:latin typeface="Cambria" pitchFamily="34" charset="0"/>
                <a:ea typeface="Cambria" pitchFamily="34" charset="-122"/>
                <a:cs typeface="Cambria" pitchFamily="34" charset="-120"/>
              </a:rPr>
              <a:t>It’s that they can’t.</a:t>
            </a:r>
            <a:endParaRPr lang="en-US" sz="4400" dirty="0"/>
          </a:p>
        </p:txBody>
      </p:sp>
      <p:sp>
        <p:nvSpPr>
          <p:cNvPr id="7" name="Text 4"/>
          <p:cNvSpPr txBox="1"/>
          <p:nvPr/>
        </p:nvSpPr>
        <p:spPr>
          <a:xfrm>
            <a:off x="1011911" y="3794760"/>
            <a:ext cx="5120640" cy="1097280"/>
          </a:xfrm>
          <a:prstGeom prst="rect">
            <a:avLst/>
          </a:prstGeom>
          <a:noFill/>
          <a:ln/>
        </p:spPr>
        <p:txBody>
          <a:bodyPr wrap="square" lIns="0" tIns="0" rIns="0" bIns="0" rtlCol="0" anchor="ctr"/>
          <a:lstStyle/>
          <a:p>
            <a:pPr indent="0" marL="0">
              <a:lnSpc>
                <a:spcPct val="135000"/>
              </a:lnSpc>
              <a:buNone/>
            </a:pPr>
            <a:r>
              <a:rPr lang="en-US" sz="1500" dirty="0">
                <a:solidFill>
                  <a:srgbClr val="B8BABB"/>
                </a:solidFill>
                <a:latin typeface="Calibri" pitchFamily="34" charset="0"/>
                <a:ea typeface="Calibri" pitchFamily="34" charset="-122"/>
                <a:cs typeface="Calibri" pitchFamily="34" charset="-120"/>
              </a:rPr>
              <a:t>Even an honest representative cannot hear 300,000 constituents. There is no instrument — in either direction.</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40707"/>
        </a:solidFill>
      </p:bgPr>
    </p:bg>
    <p:spTree>
      <p:nvGrpSpPr>
        <p:cNvPr id="1" name=""/>
        <p:cNvGrpSpPr/>
        <p:nvPr/>
      </p:nvGrpSpPr>
      <p:grpSpPr>
        <a:xfrm>
          <a:off x="0" y="0"/>
          <a:ext cx="0" cy="0"/>
          <a:chOff x="0" y="0"/>
          <a:chExt cx="0" cy="0"/>
        </a:xfrm>
      </p:grpSpPr>
      <p:sp>
        <p:nvSpPr>
          <p:cNvPr id="2" name="Text 0"/>
          <p:cNvSpPr txBox="1"/>
          <p:nvPr/>
        </p:nvSpPr>
        <p:spPr>
          <a:xfrm>
            <a:off x="1011911" y="6382512"/>
            <a:ext cx="2743200" cy="274320"/>
          </a:xfrm>
          <a:prstGeom prst="rect">
            <a:avLst/>
          </a:prstGeom>
          <a:noFill/>
          <a:ln/>
        </p:spPr>
        <p:txBody>
          <a:bodyPr wrap="square" lIns="0" tIns="0" rIns="0" bIns="0" rtlCol="0" anchor="ctr"/>
          <a:lstStyle/>
          <a:p>
            <a:pPr indent="0" marL="0">
              <a:buNone/>
            </a:pPr>
            <a:r>
              <a:rPr lang="en-US" sz="900" spc="400" kern="0" dirty="0">
                <a:solidFill>
                  <a:srgbClr val="7A7D7E"/>
                </a:solidFill>
                <a:latin typeface="Courier New" pitchFamily="34" charset="0"/>
                <a:ea typeface="Courier New" pitchFamily="34" charset="-122"/>
                <a:cs typeface="Courier New" pitchFamily="34" charset="-120"/>
              </a:rPr>
              <a:t>REPRESENT</a:t>
            </a:r>
            <a:endParaRPr lang="en-US" sz="900" dirty="0"/>
          </a:p>
        </p:txBody>
      </p:sp>
      <p:sp>
        <p:nvSpPr>
          <p:cNvPr id="3" name="Text 1"/>
          <p:cNvSpPr txBox="1"/>
          <p:nvPr/>
        </p:nvSpPr>
        <p:spPr>
          <a:xfrm>
            <a:off x="9350984" y="6382512"/>
            <a:ext cx="1828800" cy="274320"/>
          </a:xfrm>
          <a:prstGeom prst="rect">
            <a:avLst/>
          </a:prstGeom>
          <a:noFill/>
          <a:ln/>
        </p:spPr>
        <p:txBody>
          <a:bodyPr wrap="square" lIns="0" tIns="0" rIns="0" bIns="0" rtlCol="0" anchor="ctr"/>
          <a:lstStyle/>
          <a:p>
            <a:pPr algn="r" indent="0" marL="0">
              <a:buNone/>
            </a:pPr>
            <a:r>
              <a:rPr lang="en-US" sz="900" spc="200" kern="0" dirty="0">
                <a:solidFill>
                  <a:srgbClr val="7A7D7E"/>
                </a:solidFill>
                <a:latin typeface="Courier New" pitchFamily="34" charset="0"/>
                <a:ea typeface="Courier New" pitchFamily="34" charset="-122"/>
                <a:cs typeface="Courier New" pitchFamily="34" charset="-120"/>
              </a:rPr>
              <a:t>06 / 16</a:t>
            </a:r>
            <a:endParaRPr lang="en-US" sz="900" dirty="0"/>
          </a:p>
        </p:txBody>
      </p:sp>
      <p:sp>
        <p:nvSpPr>
          <p:cNvPr id="4" name="Text 2"/>
          <p:cNvSpPr txBox="1"/>
          <p:nvPr/>
        </p:nvSpPr>
        <p:spPr>
          <a:xfrm>
            <a:off x="7064984" y="546354"/>
            <a:ext cx="4114800" cy="274320"/>
          </a:xfrm>
          <a:prstGeom prst="rect">
            <a:avLst/>
          </a:prstGeom>
          <a:noFill/>
          <a:ln/>
        </p:spPr>
        <p:txBody>
          <a:bodyPr wrap="square" lIns="0" tIns="0" rIns="0" bIns="0" rtlCol="0" anchor="ctr"/>
          <a:lstStyle/>
          <a:p>
            <a:pPr algn="r" indent="0" marL="0">
              <a:buNone/>
            </a:pPr>
            <a:r>
              <a:rPr lang="en-US" sz="950" spc="300" kern="0" dirty="0">
                <a:solidFill>
                  <a:srgbClr val="7A7D7E"/>
                </a:solidFill>
                <a:latin typeface="Courier New" pitchFamily="34" charset="0"/>
                <a:ea typeface="Courier New" pitchFamily="34" charset="-122"/>
                <a:cs typeface="Courier New" pitchFamily="34" charset="-120"/>
              </a:rPr>
              <a:t>I · THE SILENCE</a:t>
            </a:r>
            <a:endParaRPr lang="en-US" sz="950" dirty="0"/>
          </a:p>
        </p:txBody>
      </p:sp>
      <p:sp>
        <p:nvSpPr>
          <p:cNvPr id="6" name="Text 3"/>
          <p:cNvSpPr txBox="1"/>
          <p:nvPr/>
        </p:nvSpPr>
        <p:spPr>
          <a:xfrm>
            <a:off x="1011911" y="1508760"/>
            <a:ext cx="4754880" cy="2194560"/>
          </a:xfrm>
          <a:prstGeom prst="rect">
            <a:avLst/>
          </a:prstGeom>
          <a:noFill/>
          <a:ln/>
        </p:spPr>
        <p:txBody>
          <a:bodyPr wrap="square" lIns="0" tIns="0" rIns="0" bIns="0" rtlCol="0" anchor="t"/>
          <a:lstStyle/>
          <a:p>
            <a:pPr algn="l" indent="0" marL="0">
              <a:lnSpc>
                <a:spcPct val="108000"/>
              </a:lnSpc>
              <a:buNone/>
            </a:pPr>
            <a:r>
              <a:rPr lang="en-US" sz="4000" dirty="0">
                <a:solidFill>
                  <a:srgbClr val="F4F5F6"/>
                </a:solidFill>
                <a:latin typeface="Cambria" pitchFamily="34" charset="0"/>
                <a:ea typeface="Cambria" pitchFamily="34" charset="-122"/>
                <a:cs typeface="Cambria" pitchFamily="34" charset="-120"/>
              </a:rPr>
              <a:t>Civic apps die of the same </a:t>
            </a:r>
            <a:pPr algn="l" indent="0" marL="0">
              <a:lnSpc>
                <a:spcPct val="108000"/>
              </a:lnSpc>
              <a:buNone/>
            </a:pPr>
            <a:r>
              <a:rPr lang="en-US" sz="4000" dirty="0">
                <a:solidFill>
                  <a:srgbClr val="EABA58"/>
                </a:solidFill>
                <a:latin typeface="Cambria" pitchFamily="34" charset="0"/>
                <a:ea typeface="Cambria" pitchFamily="34" charset="-122"/>
                <a:cs typeface="Cambria" pitchFamily="34" charset="-120"/>
              </a:rPr>
              <a:t>two wounds.</a:t>
            </a:r>
            <a:endParaRPr lang="en-US" sz="4000" dirty="0"/>
          </a:p>
        </p:txBody>
      </p:sp>
      <p:sp>
        <p:nvSpPr>
          <p:cNvPr id="7" name="Text 4"/>
          <p:cNvSpPr txBox="1"/>
          <p:nvPr/>
        </p:nvSpPr>
        <p:spPr>
          <a:xfrm>
            <a:off x="6492240" y="1874520"/>
            <a:ext cx="4663440" cy="365760"/>
          </a:xfrm>
          <a:prstGeom prst="rect">
            <a:avLst/>
          </a:prstGeom>
          <a:noFill/>
          <a:ln/>
        </p:spPr>
        <p:txBody>
          <a:bodyPr wrap="square" lIns="0" tIns="0" rIns="0" bIns="0" rtlCol="0" anchor="ctr"/>
          <a:lstStyle/>
          <a:p>
            <a:pPr indent="0" marL="0">
              <a:buNone/>
            </a:pPr>
            <a:r>
              <a:rPr lang="en-US" sz="1500" spc="400" kern="0" dirty="0">
                <a:solidFill>
                  <a:srgbClr val="F4F5F6"/>
                </a:solidFill>
                <a:latin typeface="Courier New" pitchFamily="34" charset="0"/>
                <a:ea typeface="Courier New" pitchFamily="34" charset="-122"/>
                <a:cs typeface="Courier New" pitchFamily="34" charset="-120"/>
              </a:rPr>
              <a:t>BRIGADE</a:t>
            </a:r>
            <a:endParaRPr lang="en-US" sz="1500" dirty="0"/>
          </a:p>
        </p:txBody>
      </p:sp>
      <p:sp>
        <p:nvSpPr>
          <p:cNvPr id="8" name="Text 5"/>
          <p:cNvSpPr txBox="1"/>
          <p:nvPr/>
        </p:nvSpPr>
        <p:spPr>
          <a:xfrm>
            <a:off x="6492240" y="2258568"/>
            <a:ext cx="4663440" cy="365760"/>
          </a:xfrm>
          <a:prstGeom prst="rect">
            <a:avLst/>
          </a:prstGeom>
          <a:noFill/>
          <a:ln/>
        </p:spPr>
        <p:txBody>
          <a:bodyPr wrap="square" lIns="0" tIns="0" rIns="0" bIns="0" rtlCol="0" anchor="ctr"/>
          <a:lstStyle/>
          <a:p>
            <a:pPr indent="0" marL="0">
              <a:buNone/>
            </a:pPr>
            <a:r>
              <a:rPr lang="en-US" sz="1400" dirty="0">
                <a:solidFill>
                  <a:srgbClr val="B8BABB"/>
                </a:solidFill>
                <a:latin typeface="Calibri" pitchFamily="34" charset="0"/>
                <a:ea typeface="Calibri" pitchFamily="34" charset="-122"/>
                <a:cs typeface="Calibri" pitchFamily="34" charset="-120"/>
              </a:rPr>
              <a:t>Roughly $9M raised. Unverifiable opinion.</a:t>
            </a:r>
            <a:endParaRPr lang="en-US" sz="1400" dirty="0"/>
          </a:p>
        </p:txBody>
      </p:sp>
      <p:sp>
        <p:nvSpPr>
          <p:cNvPr id="9" name="Shape 6"/>
          <p:cNvSpPr/>
          <p:nvPr/>
        </p:nvSpPr>
        <p:spPr>
          <a:xfrm>
            <a:off x="6492240" y="2770632"/>
            <a:ext cx="4663440" cy="10973"/>
          </a:xfrm>
          <a:prstGeom prst="rect">
            <a:avLst/>
          </a:prstGeom>
          <a:solidFill>
            <a:srgbClr val="2A2F30"/>
          </a:solidFill>
          <a:ln/>
        </p:spPr>
      </p:sp>
      <p:sp>
        <p:nvSpPr>
          <p:cNvPr id="10" name="Text 7"/>
          <p:cNvSpPr txBox="1"/>
          <p:nvPr/>
        </p:nvSpPr>
        <p:spPr>
          <a:xfrm>
            <a:off x="6492240" y="3108960"/>
            <a:ext cx="4663440" cy="365760"/>
          </a:xfrm>
          <a:prstGeom prst="rect">
            <a:avLst/>
          </a:prstGeom>
          <a:noFill/>
          <a:ln/>
        </p:spPr>
        <p:txBody>
          <a:bodyPr wrap="square" lIns="0" tIns="0" rIns="0" bIns="0" rtlCol="0" anchor="ctr"/>
          <a:lstStyle/>
          <a:p>
            <a:pPr indent="0" marL="0">
              <a:buNone/>
            </a:pPr>
            <a:r>
              <a:rPr lang="en-US" sz="1500" spc="400" kern="0" dirty="0">
                <a:solidFill>
                  <a:srgbClr val="F4F5F6"/>
                </a:solidFill>
                <a:latin typeface="Courier New" pitchFamily="34" charset="0"/>
                <a:ea typeface="Courier New" pitchFamily="34" charset="-122"/>
                <a:cs typeface="Courier New" pitchFamily="34" charset="-120"/>
              </a:rPr>
              <a:t>COUNTABLE</a:t>
            </a:r>
            <a:endParaRPr lang="en-US" sz="1500" dirty="0"/>
          </a:p>
        </p:txBody>
      </p:sp>
      <p:sp>
        <p:nvSpPr>
          <p:cNvPr id="11" name="Text 8"/>
          <p:cNvSpPr txBox="1"/>
          <p:nvPr/>
        </p:nvSpPr>
        <p:spPr>
          <a:xfrm>
            <a:off x="6492240" y="3493008"/>
            <a:ext cx="4663440" cy="365760"/>
          </a:xfrm>
          <a:prstGeom prst="rect">
            <a:avLst/>
          </a:prstGeom>
          <a:noFill/>
          <a:ln/>
        </p:spPr>
        <p:txBody>
          <a:bodyPr wrap="square" lIns="0" tIns="0" rIns="0" bIns="0" rtlCol="0" anchor="ctr"/>
          <a:lstStyle/>
          <a:p>
            <a:pPr indent="0" marL="0">
              <a:buNone/>
            </a:pPr>
            <a:r>
              <a:rPr lang="en-US" sz="1400" dirty="0">
                <a:solidFill>
                  <a:srgbClr val="B8BABB"/>
                </a:solidFill>
                <a:latin typeface="Calibri" pitchFamily="34" charset="0"/>
                <a:ea typeface="Calibri" pitchFamily="34" charset="-122"/>
                <a:cs typeface="Calibri" pitchFamily="34" charset="-120"/>
              </a:rPr>
              <a:t>Dismissible as bots, at any scale.</a:t>
            </a:r>
            <a:endParaRPr lang="en-US" sz="1400" dirty="0"/>
          </a:p>
        </p:txBody>
      </p:sp>
      <p:sp>
        <p:nvSpPr>
          <p:cNvPr id="12" name="Shape 9"/>
          <p:cNvSpPr/>
          <p:nvPr/>
        </p:nvSpPr>
        <p:spPr>
          <a:xfrm>
            <a:off x="6492240" y="4005072"/>
            <a:ext cx="4663440" cy="10973"/>
          </a:xfrm>
          <a:prstGeom prst="rect">
            <a:avLst/>
          </a:prstGeom>
          <a:solidFill>
            <a:srgbClr val="2A2F30"/>
          </a:solidFill>
          <a:ln/>
        </p:spPr>
      </p:sp>
      <p:sp>
        <p:nvSpPr>
          <p:cNvPr id="13" name="Text 10"/>
          <p:cNvSpPr txBox="1"/>
          <p:nvPr/>
        </p:nvSpPr>
        <p:spPr>
          <a:xfrm>
            <a:off x="6492240" y="4343400"/>
            <a:ext cx="4663440" cy="365760"/>
          </a:xfrm>
          <a:prstGeom prst="rect">
            <a:avLst/>
          </a:prstGeom>
          <a:noFill/>
          <a:ln/>
        </p:spPr>
        <p:txBody>
          <a:bodyPr wrap="square" lIns="0" tIns="0" rIns="0" bIns="0" rtlCol="0" anchor="ctr"/>
          <a:lstStyle/>
          <a:p>
            <a:pPr indent="0" marL="0">
              <a:buNone/>
            </a:pPr>
            <a:r>
              <a:rPr lang="en-US" sz="1500" spc="400" kern="0" dirty="0">
                <a:solidFill>
                  <a:srgbClr val="F4F5F6"/>
                </a:solidFill>
                <a:latin typeface="Courier New" pitchFamily="34" charset="0"/>
                <a:ea typeface="Courier New" pitchFamily="34" charset="-122"/>
                <a:cs typeface="Courier New" pitchFamily="34" charset="-120"/>
              </a:rPr>
              <a:t>VOTIZEN</a:t>
            </a:r>
            <a:endParaRPr lang="en-US" sz="1500" dirty="0"/>
          </a:p>
        </p:txBody>
      </p:sp>
      <p:sp>
        <p:nvSpPr>
          <p:cNvPr id="14" name="Text 11"/>
          <p:cNvSpPr txBox="1"/>
          <p:nvPr/>
        </p:nvSpPr>
        <p:spPr>
          <a:xfrm>
            <a:off x="6492240" y="4727448"/>
            <a:ext cx="4663440" cy="365760"/>
          </a:xfrm>
          <a:prstGeom prst="rect">
            <a:avLst/>
          </a:prstGeom>
          <a:noFill/>
          <a:ln/>
        </p:spPr>
        <p:txBody>
          <a:bodyPr wrap="square" lIns="0" tIns="0" rIns="0" bIns="0" rtlCol="0" anchor="ctr"/>
          <a:lstStyle/>
          <a:p>
            <a:pPr indent="0" marL="0">
              <a:buNone/>
            </a:pPr>
            <a:r>
              <a:rPr lang="en-US" sz="1400" dirty="0">
                <a:solidFill>
                  <a:srgbClr val="B8BABB"/>
                </a:solidFill>
                <a:latin typeface="Calibri" pitchFamily="34" charset="0"/>
                <a:ea typeface="Calibri" pitchFamily="34" charset="-122"/>
                <a:cs typeface="Calibri" pitchFamily="34" charset="-120"/>
              </a:rPr>
              <a:t>No one ever had to pay.</a:t>
            </a:r>
            <a:endParaRPr lang="en-US" sz="1400" dirty="0"/>
          </a:p>
        </p:txBody>
      </p:sp>
      <p:sp>
        <p:nvSpPr>
          <p:cNvPr id="15" name="Shape 12"/>
          <p:cNvSpPr/>
          <p:nvPr/>
        </p:nvSpPr>
        <p:spPr>
          <a:xfrm>
            <a:off x="6492240" y="5239512"/>
            <a:ext cx="4663440" cy="10973"/>
          </a:xfrm>
          <a:prstGeom prst="rect">
            <a:avLst/>
          </a:prstGeom>
          <a:solidFill>
            <a:srgbClr val="2A2F30"/>
          </a:solidFill>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40707"/>
        </a:solidFill>
      </p:bgPr>
    </p:bg>
    <p:spTree>
      <p:nvGrpSpPr>
        <p:cNvPr id="1" name=""/>
        <p:cNvGrpSpPr/>
        <p:nvPr/>
      </p:nvGrpSpPr>
      <p:grpSpPr>
        <a:xfrm>
          <a:off x="0" y="0"/>
          <a:ext cx="0" cy="0"/>
          <a:chOff x="0" y="0"/>
          <a:chExt cx="0" cy="0"/>
        </a:xfrm>
      </p:grpSpPr>
      <p:sp>
        <p:nvSpPr>
          <p:cNvPr id="2" name="Text 0"/>
          <p:cNvSpPr txBox="1"/>
          <p:nvPr/>
        </p:nvSpPr>
        <p:spPr>
          <a:xfrm>
            <a:off x="1011911" y="6382512"/>
            <a:ext cx="2743200" cy="274320"/>
          </a:xfrm>
          <a:prstGeom prst="rect">
            <a:avLst/>
          </a:prstGeom>
          <a:noFill/>
          <a:ln/>
        </p:spPr>
        <p:txBody>
          <a:bodyPr wrap="square" lIns="0" tIns="0" rIns="0" bIns="0" rtlCol="0" anchor="ctr"/>
          <a:lstStyle/>
          <a:p>
            <a:pPr indent="0" marL="0">
              <a:buNone/>
            </a:pPr>
            <a:r>
              <a:rPr lang="en-US" sz="900" spc="400" kern="0" dirty="0">
                <a:solidFill>
                  <a:srgbClr val="7A7D7E"/>
                </a:solidFill>
                <a:latin typeface="Courier New" pitchFamily="34" charset="0"/>
                <a:ea typeface="Courier New" pitchFamily="34" charset="-122"/>
                <a:cs typeface="Courier New" pitchFamily="34" charset="-120"/>
              </a:rPr>
              <a:t>REPRESENT</a:t>
            </a:r>
            <a:endParaRPr lang="en-US" sz="900" dirty="0"/>
          </a:p>
        </p:txBody>
      </p:sp>
      <p:sp>
        <p:nvSpPr>
          <p:cNvPr id="3" name="Text 1"/>
          <p:cNvSpPr txBox="1"/>
          <p:nvPr/>
        </p:nvSpPr>
        <p:spPr>
          <a:xfrm>
            <a:off x="9350984" y="6382512"/>
            <a:ext cx="1828800" cy="274320"/>
          </a:xfrm>
          <a:prstGeom prst="rect">
            <a:avLst/>
          </a:prstGeom>
          <a:noFill/>
          <a:ln/>
        </p:spPr>
        <p:txBody>
          <a:bodyPr wrap="square" lIns="0" tIns="0" rIns="0" bIns="0" rtlCol="0" anchor="ctr"/>
          <a:lstStyle/>
          <a:p>
            <a:pPr algn="r" indent="0" marL="0">
              <a:buNone/>
            </a:pPr>
            <a:r>
              <a:rPr lang="en-US" sz="900" spc="200" kern="0" dirty="0">
                <a:solidFill>
                  <a:srgbClr val="7A7D7E"/>
                </a:solidFill>
                <a:latin typeface="Courier New" pitchFamily="34" charset="0"/>
                <a:ea typeface="Courier New" pitchFamily="34" charset="-122"/>
                <a:cs typeface="Courier New" pitchFamily="34" charset="-120"/>
              </a:rPr>
              <a:t>07 / 16</a:t>
            </a:r>
            <a:endParaRPr lang="en-US" sz="900" dirty="0"/>
          </a:p>
        </p:txBody>
      </p:sp>
      <p:sp>
        <p:nvSpPr>
          <p:cNvPr id="4" name="Text 2"/>
          <p:cNvSpPr txBox="1"/>
          <p:nvPr/>
        </p:nvSpPr>
        <p:spPr>
          <a:xfrm>
            <a:off x="7064984" y="546354"/>
            <a:ext cx="4114800" cy="274320"/>
          </a:xfrm>
          <a:prstGeom prst="rect">
            <a:avLst/>
          </a:prstGeom>
          <a:noFill/>
          <a:ln/>
        </p:spPr>
        <p:txBody>
          <a:bodyPr wrap="square" lIns="0" tIns="0" rIns="0" bIns="0" rtlCol="0" anchor="ctr"/>
          <a:lstStyle/>
          <a:p>
            <a:pPr algn="r" indent="0" marL="0">
              <a:buNone/>
            </a:pPr>
            <a:r>
              <a:rPr lang="en-US" sz="950" spc="300" kern="0" dirty="0">
                <a:solidFill>
                  <a:srgbClr val="7A7D7E"/>
                </a:solidFill>
                <a:latin typeface="Courier New" pitchFamily="34" charset="0"/>
                <a:ea typeface="Courier New" pitchFamily="34" charset="-122"/>
                <a:cs typeface="Courier New" pitchFamily="34" charset="-120"/>
              </a:rPr>
              <a:t>II · THE INSTRUMENT</a:t>
            </a:r>
            <a:endParaRPr lang="en-US" sz="950" dirty="0"/>
          </a:p>
        </p:txBody>
      </p:sp>
      <p:sp>
        <p:nvSpPr>
          <p:cNvPr id="6" name="Text 3"/>
          <p:cNvSpPr txBox="1"/>
          <p:nvPr/>
        </p:nvSpPr>
        <p:spPr>
          <a:xfrm>
            <a:off x="1011911" y="957834"/>
            <a:ext cx="10167874" cy="292608"/>
          </a:xfrm>
          <a:prstGeom prst="rect">
            <a:avLst/>
          </a:prstGeom>
          <a:noFill/>
          <a:ln/>
        </p:spPr>
        <p:txBody>
          <a:bodyPr wrap="square" lIns="0" tIns="0" rIns="0" bIns="0" rtlCol="0" anchor="ctr"/>
          <a:lstStyle/>
          <a:p>
            <a:pPr algn="l" indent="0" marL="0">
              <a:buNone/>
            </a:pPr>
            <a:r>
              <a:rPr lang="en-US" sz="1100" spc="400" kern="0" dirty="0">
                <a:solidFill>
                  <a:srgbClr val="7A7D7E"/>
                </a:solidFill>
                <a:latin typeface="Courier New" pitchFamily="34" charset="0"/>
                <a:ea typeface="Courier New" pitchFamily="34" charset="-122"/>
                <a:cs typeface="Courier New" pitchFamily="34" charset="-120"/>
              </a:rPr>
              <a:t>WHY NOW</a:t>
            </a:r>
            <a:endParaRPr lang="en-US" sz="1100" dirty="0"/>
          </a:p>
        </p:txBody>
      </p:sp>
      <p:sp>
        <p:nvSpPr>
          <p:cNvPr id="7" name="Text 4"/>
          <p:cNvSpPr txBox="1"/>
          <p:nvPr/>
        </p:nvSpPr>
        <p:spPr>
          <a:xfrm>
            <a:off x="1011911" y="1920240"/>
            <a:ext cx="3657600" cy="320040"/>
          </a:xfrm>
          <a:prstGeom prst="rect">
            <a:avLst/>
          </a:prstGeom>
          <a:noFill/>
          <a:ln/>
        </p:spPr>
        <p:txBody>
          <a:bodyPr wrap="square" lIns="0" tIns="0" rIns="0" bIns="0" rtlCol="0" anchor="ctr"/>
          <a:lstStyle/>
          <a:p>
            <a:pPr indent="0" marL="0">
              <a:buNone/>
            </a:pPr>
            <a:r>
              <a:rPr lang="en-US" sz="1200" spc="400" kern="0" dirty="0">
                <a:solidFill>
                  <a:srgbClr val="7A7D7E"/>
                </a:solidFill>
                <a:latin typeface="Courier New" pitchFamily="34" charset="0"/>
                <a:ea typeface="Courier New" pitchFamily="34" charset="-122"/>
                <a:cs typeface="Courier New" pitchFamily="34" charset="-120"/>
              </a:rPr>
              <a:t>THEN</a:t>
            </a:r>
            <a:endParaRPr lang="en-US" sz="1200" dirty="0"/>
          </a:p>
        </p:txBody>
      </p:sp>
      <p:sp>
        <p:nvSpPr>
          <p:cNvPr id="8" name="Text 5"/>
          <p:cNvSpPr txBox="1"/>
          <p:nvPr/>
        </p:nvSpPr>
        <p:spPr>
          <a:xfrm>
            <a:off x="1011911" y="2331720"/>
            <a:ext cx="4389120" cy="1280160"/>
          </a:xfrm>
          <a:prstGeom prst="rect">
            <a:avLst/>
          </a:prstGeom>
          <a:noFill/>
          <a:ln/>
        </p:spPr>
        <p:txBody>
          <a:bodyPr wrap="square" lIns="0" tIns="0" rIns="0" bIns="0" rtlCol="0" anchor="ctr"/>
          <a:lstStyle/>
          <a:p>
            <a:pPr indent="0" marL="0">
              <a:buNone/>
            </a:pPr>
            <a:r>
              <a:rPr lang="en-US" sz="5400" dirty="0">
                <a:solidFill>
                  <a:srgbClr val="7A7D7E"/>
                </a:solidFill>
                <a:latin typeface="Cambria" pitchFamily="34" charset="0"/>
                <a:ea typeface="Cambria" pitchFamily="34" charset="-122"/>
                <a:cs typeface="Cambria" pitchFamily="34" charset="-120"/>
              </a:rPr>
              <a:t>Impossible.</a:t>
            </a:r>
            <a:endParaRPr lang="en-US" sz="5400" dirty="0"/>
          </a:p>
        </p:txBody>
      </p:sp>
      <p:sp>
        <p:nvSpPr>
          <p:cNvPr id="9" name="Text 6"/>
          <p:cNvSpPr txBox="1"/>
          <p:nvPr/>
        </p:nvSpPr>
        <p:spPr>
          <a:xfrm>
            <a:off x="1011911" y="3703320"/>
            <a:ext cx="4023360" cy="914400"/>
          </a:xfrm>
          <a:prstGeom prst="rect">
            <a:avLst/>
          </a:prstGeom>
          <a:noFill/>
          <a:ln/>
        </p:spPr>
        <p:txBody>
          <a:bodyPr wrap="square" lIns="0" tIns="0" rIns="0" bIns="0" rtlCol="0" anchor="ctr"/>
          <a:lstStyle/>
          <a:p>
            <a:pPr indent="0" marL="0">
              <a:lnSpc>
                <a:spcPct val="135000"/>
              </a:lnSpc>
              <a:buNone/>
            </a:pPr>
            <a:r>
              <a:rPr lang="en-US" sz="1400" dirty="0">
                <a:solidFill>
                  <a:srgbClr val="7A7D7E"/>
                </a:solidFill>
                <a:latin typeface="Calibri" pitchFamily="34" charset="0"/>
                <a:ea typeface="Calibri" pitchFamily="34" charset="-122"/>
                <a:cs typeface="Calibri" pitchFamily="34" charset="-120"/>
              </a:rPr>
              <a:t>Remote proof that a voter is one real person, in one real place.</a:t>
            </a:r>
            <a:endParaRPr lang="en-US" sz="1400" dirty="0"/>
          </a:p>
        </p:txBody>
      </p:sp>
      <p:sp>
        <p:nvSpPr>
          <p:cNvPr id="10" name="Text 7"/>
          <p:cNvSpPr txBox="1"/>
          <p:nvPr/>
        </p:nvSpPr>
        <p:spPr>
          <a:xfrm>
            <a:off x="6583680" y="1920240"/>
            <a:ext cx="3657600" cy="320040"/>
          </a:xfrm>
          <a:prstGeom prst="rect">
            <a:avLst/>
          </a:prstGeom>
          <a:noFill/>
          <a:ln/>
        </p:spPr>
        <p:txBody>
          <a:bodyPr wrap="square" lIns="0" tIns="0" rIns="0" bIns="0" rtlCol="0" anchor="ctr"/>
          <a:lstStyle/>
          <a:p>
            <a:pPr indent="0" marL="0">
              <a:buNone/>
            </a:pPr>
            <a:r>
              <a:rPr lang="en-US" sz="1200" spc="400" kern="0" dirty="0">
                <a:solidFill>
                  <a:srgbClr val="B8BABB"/>
                </a:solidFill>
                <a:latin typeface="Courier New" pitchFamily="34" charset="0"/>
                <a:ea typeface="Courier New" pitchFamily="34" charset="-122"/>
                <a:cs typeface="Courier New" pitchFamily="34" charset="-120"/>
              </a:rPr>
              <a:t>NOW</a:t>
            </a:r>
            <a:endParaRPr lang="en-US" sz="1200" dirty="0"/>
          </a:p>
        </p:txBody>
      </p:sp>
      <p:sp>
        <p:nvSpPr>
          <p:cNvPr id="11" name="Text 8"/>
          <p:cNvSpPr txBox="1"/>
          <p:nvPr/>
        </p:nvSpPr>
        <p:spPr>
          <a:xfrm>
            <a:off x="6583680" y="2331720"/>
            <a:ext cx="4754880" cy="1280160"/>
          </a:xfrm>
          <a:prstGeom prst="rect">
            <a:avLst/>
          </a:prstGeom>
          <a:noFill/>
          <a:ln/>
        </p:spPr>
        <p:txBody>
          <a:bodyPr wrap="square" lIns="0" tIns="0" rIns="0" bIns="0" rtlCol="0" anchor="ctr"/>
          <a:lstStyle/>
          <a:p>
            <a:pPr indent="0" marL="0">
              <a:buNone/>
            </a:pPr>
            <a:r>
              <a:rPr lang="en-US" sz="5400" dirty="0">
                <a:solidFill>
                  <a:srgbClr val="EABA58"/>
                </a:solidFill>
                <a:latin typeface="Cambria" pitchFamily="34" charset="0"/>
                <a:ea typeface="Cambria" pitchFamily="34" charset="-122"/>
                <a:cs typeface="Cambria" pitchFamily="34" charset="-120"/>
              </a:rPr>
              <a:t>~3 minutes</a:t>
            </a:r>
            <a:pPr indent="0" marL="0">
              <a:buNone/>
            </a:pPr>
            <a:r>
              <a:rPr lang="en-US" sz="5400" dirty="0">
                <a:solidFill>
                  <a:srgbClr val="F4F5F6"/>
                </a:solidFill>
                <a:latin typeface="Cambria" pitchFamily="34" charset="0"/>
                <a:ea typeface="Cambria" pitchFamily="34" charset="-122"/>
                <a:cs typeface="Cambria" pitchFamily="34" charset="-120"/>
              </a:rPr>
              <a:t>.</a:t>
            </a:r>
            <a:endParaRPr lang="en-US" sz="5400" dirty="0"/>
          </a:p>
        </p:txBody>
      </p:sp>
      <p:sp>
        <p:nvSpPr>
          <p:cNvPr id="12" name="Text 9"/>
          <p:cNvSpPr txBox="1"/>
          <p:nvPr/>
        </p:nvSpPr>
        <p:spPr>
          <a:xfrm>
            <a:off x="6583680" y="3703320"/>
            <a:ext cx="4389120" cy="914400"/>
          </a:xfrm>
          <a:prstGeom prst="rect">
            <a:avLst/>
          </a:prstGeom>
          <a:noFill/>
          <a:ln/>
        </p:spPr>
        <p:txBody>
          <a:bodyPr wrap="square" lIns="0" tIns="0" rIns="0" bIns="0" rtlCol="0" anchor="ctr"/>
          <a:lstStyle/>
          <a:p>
            <a:pPr indent="0" marL="0">
              <a:lnSpc>
                <a:spcPct val="135000"/>
              </a:lnSpc>
              <a:buNone/>
            </a:pPr>
            <a:r>
              <a:rPr lang="en-US" sz="1400" dirty="0">
                <a:solidFill>
                  <a:srgbClr val="B8BABB"/>
                </a:solidFill>
                <a:latin typeface="Calibri" pitchFamily="34" charset="0"/>
                <a:ea typeface="Calibri" pitchFamily="34" charset="-122"/>
                <a:cs typeface="Calibri" pitchFamily="34" charset="-120"/>
              </a:rPr>
              <a:t>And a few dollars — only in the last couple of years. Government ID plus a liveness check, from a phone.</a:t>
            </a:r>
            <a:endParaRPr lang="en-US" sz="1400" dirty="0"/>
          </a:p>
        </p:txBody>
      </p:sp>
      <p:sp>
        <p:nvSpPr>
          <p:cNvPr id="13" name="Text 10"/>
          <p:cNvSpPr txBox="1"/>
          <p:nvPr/>
        </p:nvSpPr>
        <p:spPr>
          <a:xfrm>
            <a:off x="1011911" y="5212080"/>
            <a:ext cx="10167874" cy="2194560"/>
          </a:xfrm>
          <a:prstGeom prst="rect">
            <a:avLst/>
          </a:prstGeom>
          <a:noFill/>
          <a:ln/>
        </p:spPr>
        <p:txBody>
          <a:bodyPr wrap="square" lIns="0" tIns="0" rIns="0" bIns="0" rtlCol="0" anchor="t"/>
          <a:lstStyle/>
          <a:p>
            <a:pPr algn="l" indent="0" marL="0">
              <a:lnSpc>
                <a:spcPct val="108000"/>
              </a:lnSpc>
              <a:buNone/>
            </a:pPr>
            <a:r>
              <a:rPr lang="en-US" sz="2400" dirty="0">
                <a:solidFill>
                  <a:srgbClr val="B8BABB"/>
                </a:solidFill>
                <a:latin typeface="Cambria" pitchFamily="34" charset="0"/>
                <a:ea typeface="Cambria" pitchFamily="34" charset="-122"/>
                <a:cs typeface="Cambria" pitchFamily="34" charset="-120"/>
              </a:rPr>
              <a:t>Brigade wasn’t wrong. It was early.</a:t>
            </a:r>
            <a:endParaRPr lang="en-US"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40707"/>
        </a:solidFill>
      </p:bgPr>
    </p:bg>
    <p:spTree>
      <p:nvGrpSpPr>
        <p:cNvPr id="1" name=""/>
        <p:cNvGrpSpPr/>
        <p:nvPr/>
      </p:nvGrpSpPr>
      <p:grpSpPr>
        <a:xfrm>
          <a:off x="0" y="0"/>
          <a:ext cx="0" cy="0"/>
          <a:chOff x="0" y="0"/>
          <a:chExt cx="0" cy="0"/>
        </a:xfrm>
      </p:grpSpPr>
      <p:sp>
        <p:nvSpPr>
          <p:cNvPr id="3" name="Text 0"/>
          <p:cNvSpPr txBox="1"/>
          <p:nvPr/>
        </p:nvSpPr>
        <p:spPr>
          <a:xfrm>
            <a:off x="1011911" y="2606040"/>
            <a:ext cx="10167874" cy="2194560"/>
          </a:xfrm>
          <a:prstGeom prst="rect">
            <a:avLst/>
          </a:prstGeom>
          <a:noFill/>
          <a:ln/>
        </p:spPr>
        <p:txBody>
          <a:bodyPr wrap="square" lIns="0" tIns="0" rIns="0" bIns="0" rtlCol="0" anchor="t"/>
          <a:lstStyle/>
          <a:p>
            <a:pPr algn="ctr" indent="0" marL="0">
              <a:lnSpc>
                <a:spcPct val="108000"/>
              </a:lnSpc>
              <a:buNone/>
            </a:pPr>
            <a:r>
              <a:rPr lang="en-US" sz="4600" dirty="0">
                <a:solidFill>
                  <a:srgbClr val="F4F5F6"/>
                </a:solidFill>
                <a:latin typeface="Cambria" pitchFamily="34" charset="0"/>
                <a:ea typeface="Cambria" pitchFamily="34" charset="-122"/>
                <a:cs typeface="Cambria" pitchFamily="34" charset="-120"/>
              </a:rPr>
              <a:t>You get one day every four years.</a:t>
            </a:r>
            <a:endParaRPr lang="en-US" sz="4600" dirty="0"/>
          </a:p>
          <a:p>
            <a:pPr algn="ctr" indent="0" marL="0">
              <a:lnSpc>
                <a:spcPct val="108000"/>
              </a:lnSpc>
              <a:buNone/>
            </a:pPr>
            <a:r>
              <a:rPr lang="en-US" sz="4600" dirty="0">
                <a:solidFill>
                  <a:srgbClr val="F4F5F6"/>
                </a:solidFill>
                <a:latin typeface="Cambria" pitchFamily="34" charset="0"/>
                <a:ea typeface="Cambria" pitchFamily="34" charset="-122"/>
                <a:cs typeface="Cambria" pitchFamily="34" charset="-120"/>
              </a:rPr>
              <a:t>We built the other </a:t>
            </a:r>
            <a:pPr algn="ctr" indent="0" marL="0">
              <a:lnSpc>
                <a:spcPct val="108000"/>
              </a:lnSpc>
              <a:buNone/>
            </a:pPr>
            <a:r>
              <a:rPr lang="en-US" sz="4600" dirty="0">
                <a:solidFill>
                  <a:srgbClr val="EABA58"/>
                </a:solidFill>
                <a:latin typeface="Cambria" pitchFamily="34" charset="0"/>
                <a:ea typeface="Cambria" pitchFamily="34" charset="-122"/>
                <a:cs typeface="Cambria" pitchFamily="34" charset="-120"/>
              </a:rPr>
              <a:t>1,460</a:t>
            </a:r>
            <a:pPr algn="ctr" indent="0" marL="0">
              <a:lnSpc>
                <a:spcPct val="108000"/>
              </a:lnSpc>
              <a:buNone/>
            </a:pPr>
            <a:r>
              <a:rPr lang="en-US" sz="4600" dirty="0">
                <a:solidFill>
                  <a:srgbClr val="F4F5F6"/>
                </a:solidFill>
                <a:latin typeface="Cambria" pitchFamily="34" charset="0"/>
                <a:ea typeface="Cambria" pitchFamily="34" charset="-122"/>
                <a:cs typeface="Cambria" pitchFamily="34" charset="-120"/>
              </a:rPr>
              <a:t>.</a:t>
            </a:r>
            <a:endParaRPr lang="en-US" sz="4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40707"/>
        </a:solidFill>
      </p:bgPr>
    </p:bg>
    <p:spTree>
      <p:nvGrpSpPr>
        <p:cNvPr id="1" name=""/>
        <p:cNvGrpSpPr/>
        <p:nvPr/>
      </p:nvGrpSpPr>
      <p:grpSpPr>
        <a:xfrm>
          <a:off x="0" y="0"/>
          <a:ext cx="0" cy="0"/>
          <a:chOff x="0" y="0"/>
          <a:chExt cx="0" cy="0"/>
        </a:xfrm>
      </p:grpSpPr>
      <p:sp>
        <p:nvSpPr>
          <p:cNvPr id="2" name="Text 0"/>
          <p:cNvSpPr txBox="1"/>
          <p:nvPr/>
        </p:nvSpPr>
        <p:spPr>
          <a:xfrm>
            <a:off x="1011911" y="6382512"/>
            <a:ext cx="2743200" cy="274320"/>
          </a:xfrm>
          <a:prstGeom prst="rect">
            <a:avLst/>
          </a:prstGeom>
          <a:noFill/>
          <a:ln/>
        </p:spPr>
        <p:txBody>
          <a:bodyPr wrap="square" lIns="0" tIns="0" rIns="0" bIns="0" rtlCol="0" anchor="ctr"/>
          <a:lstStyle/>
          <a:p>
            <a:pPr indent="0" marL="0">
              <a:buNone/>
            </a:pPr>
            <a:r>
              <a:rPr lang="en-US" sz="900" spc="400" kern="0" dirty="0">
                <a:solidFill>
                  <a:srgbClr val="7A7D7E"/>
                </a:solidFill>
                <a:latin typeface="Courier New" pitchFamily="34" charset="0"/>
                <a:ea typeface="Courier New" pitchFamily="34" charset="-122"/>
                <a:cs typeface="Courier New" pitchFamily="34" charset="-120"/>
              </a:rPr>
              <a:t>REPRESENT</a:t>
            </a:r>
            <a:endParaRPr lang="en-US" sz="900" dirty="0"/>
          </a:p>
        </p:txBody>
      </p:sp>
      <p:sp>
        <p:nvSpPr>
          <p:cNvPr id="3" name="Text 1"/>
          <p:cNvSpPr txBox="1"/>
          <p:nvPr/>
        </p:nvSpPr>
        <p:spPr>
          <a:xfrm>
            <a:off x="9350984" y="6382512"/>
            <a:ext cx="1828800" cy="274320"/>
          </a:xfrm>
          <a:prstGeom prst="rect">
            <a:avLst/>
          </a:prstGeom>
          <a:noFill/>
          <a:ln/>
        </p:spPr>
        <p:txBody>
          <a:bodyPr wrap="square" lIns="0" tIns="0" rIns="0" bIns="0" rtlCol="0" anchor="ctr"/>
          <a:lstStyle/>
          <a:p>
            <a:pPr algn="r" indent="0" marL="0">
              <a:buNone/>
            </a:pPr>
            <a:r>
              <a:rPr lang="en-US" sz="900" spc="200" kern="0" dirty="0">
                <a:solidFill>
                  <a:srgbClr val="7A7D7E"/>
                </a:solidFill>
                <a:latin typeface="Courier New" pitchFamily="34" charset="0"/>
                <a:ea typeface="Courier New" pitchFamily="34" charset="-122"/>
                <a:cs typeface="Courier New" pitchFamily="34" charset="-120"/>
              </a:rPr>
              <a:t>09 / 16</a:t>
            </a:r>
            <a:endParaRPr lang="en-US" sz="900" dirty="0"/>
          </a:p>
        </p:txBody>
      </p:sp>
      <p:sp>
        <p:nvSpPr>
          <p:cNvPr id="4" name="Text 2"/>
          <p:cNvSpPr txBox="1"/>
          <p:nvPr/>
        </p:nvSpPr>
        <p:spPr>
          <a:xfrm>
            <a:off x="7064984" y="546354"/>
            <a:ext cx="4114800" cy="274320"/>
          </a:xfrm>
          <a:prstGeom prst="rect">
            <a:avLst/>
          </a:prstGeom>
          <a:noFill/>
          <a:ln/>
        </p:spPr>
        <p:txBody>
          <a:bodyPr wrap="square" lIns="0" tIns="0" rIns="0" bIns="0" rtlCol="0" anchor="ctr"/>
          <a:lstStyle/>
          <a:p>
            <a:pPr algn="r" indent="0" marL="0">
              <a:buNone/>
            </a:pPr>
            <a:r>
              <a:rPr lang="en-US" sz="950" spc="300" kern="0" dirty="0">
                <a:solidFill>
                  <a:srgbClr val="7A7D7E"/>
                </a:solidFill>
                <a:latin typeface="Courier New" pitchFamily="34" charset="0"/>
                <a:ea typeface="Courier New" pitchFamily="34" charset="-122"/>
                <a:cs typeface="Courier New" pitchFamily="34" charset="-120"/>
              </a:rPr>
              <a:t>II · THE INSTRUMENT</a:t>
            </a:r>
            <a:endParaRPr lang="en-US" sz="950" dirty="0"/>
          </a:p>
        </p:txBody>
      </p:sp>
      <p:sp>
        <p:nvSpPr>
          <p:cNvPr id="6" name="Text 3"/>
          <p:cNvSpPr txBox="1"/>
          <p:nvPr/>
        </p:nvSpPr>
        <p:spPr>
          <a:xfrm>
            <a:off x="1011911" y="1508760"/>
            <a:ext cx="3566160" cy="2194560"/>
          </a:xfrm>
          <a:prstGeom prst="rect">
            <a:avLst/>
          </a:prstGeom>
          <a:noFill/>
          <a:ln/>
        </p:spPr>
        <p:txBody>
          <a:bodyPr wrap="square" lIns="0" tIns="0" rIns="0" bIns="0" rtlCol="0" anchor="t"/>
          <a:lstStyle/>
          <a:p>
            <a:pPr algn="l" indent="0" marL="0">
              <a:lnSpc>
                <a:spcPct val="108000"/>
              </a:lnSpc>
              <a:buNone/>
            </a:pPr>
            <a:r>
              <a:rPr lang="en-US" sz="4400" dirty="0">
                <a:solidFill>
                  <a:srgbClr val="F4F5F6"/>
                </a:solidFill>
                <a:latin typeface="Cambria" pitchFamily="34" charset="0"/>
                <a:ea typeface="Cambria" pitchFamily="34" charset="-122"/>
                <a:cs typeface="Cambria" pitchFamily="34" charset="-120"/>
              </a:rPr>
              <a:t>Not opinion.</a:t>
            </a:r>
            <a:endParaRPr lang="en-US" sz="4400" dirty="0"/>
          </a:p>
          <a:p>
            <a:pPr algn="l" indent="0" marL="0">
              <a:lnSpc>
                <a:spcPct val="108000"/>
              </a:lnSpc>
              <a:buNone/>
            </a:pPr>
            <a:r>
              <a:rPr lang="en-US" sz="4400" dirty="0">
                <a:solidFill>
                  <a:srgbClr val="F4F5F6"/>
                </a:solidFill>
                <a:latin typeface="Cambria" pitchFamily="34" charset="0"/>
                <a:ea typeface="Cambria" pitchFamily="34" charset="-122"/>
                <a:cs typeface="Cambria" pitchFamily="34" charset="-120"/>
              </a:rPr>
              <a:t>Evidence.</a:t>
            </a:r>
            <a:endParaRPr lang="en-US" sz="4400" dirty="0"/>
          </a:p>
        </p:txBody>
      </p:sp>
      <p:sp>
        <p:nvSpPr>
          <p:cNvPr id="7" name="Text 4"/>
          <p:cNvSpPr txBox="1"/>
          <p:nvPr/>
        </p:nvSpPr>
        <p:spPr>
          <a:xfrm>
            <a:off x="5486400" y="1691640"/>
            <a:ext cx="3108960" cy="365760"/>
          </a:xfrm>
          <a:prstGeom prst="rect">
            <a:avLst/>
          </a:prstGeom>
          <a:noFill/>
          <a:ln/>
        </p:spPr>
        <p:txBody>
          <a:bodyPr wrap="square" lIns="0" tIns="0" rIns="0" bIns="0" rtlCol="0" anchor="ctr"/>
          <a:lstStyle/>
          <a:p>
            <a:pPr indent="0" marL="0">
              <a:buNone/>
            </a:pPr>
            <a:r>
              <a:rPr lang="en-US" sz="1250" spc="200" kern="0" dirty="0">
                <a:solidFill>
                  <a:srgbClr val="F4F5F6"/>
                </a:solidFill>
                <a:latin typeface="Courier New" pitchFamily="34" charset="0"/>
                <a:ea typeface="Courier New" pitchFamily="34" charset="-122"/>
                <a:cs typeface="Courier New" pitchFamily="34" charset="-120"/>
              </a:rPr>
              <a:t>VERIFIED HUMAN</a:t>
            </a:r>
            <a:endParaRPr lang="en-US" sz="1250" dirty="0"/>
          </a:p>
        </p:txBody>
      </p:sp>
      <p:sp>
        <p:nvSpPr>
          <p:cNvPr id="8" name="Text 5"/>
          <p:cNvSpPr txBox="1"/>
          <p:nvPr/>
        </p:nvSpPr>
        <p:spPr>
          <a:xfrm>
            <a:off x="8549640" y="1691640"/>
            <a:ext cx="2743200" cy="365760"/>
          </a:xfrm>
          <a:prstGeom prst="rect">
            <a:avLst/>
          </a:prstGeom>
          <a:noFill/>
          <a:ln/>
        </p:spPr>
        <p:txBody>
          <a:bodyPr wrap="square" lIns="0" tIns="0" rIns="0" bIns="0" rtlCol="0" anchor="ctr"/>
          <a:lstStyle/>
          <a:p>
            <a:pPr indent="0" marL="0">
              <a:buNone/>
            </a:pPr>
            <a:r>
              <a:rPr lang="en-US" sz="1250" dirty="0">
                <a:solidFill>
                  <a:srgbClr val="7A7D7E"/>
                </a:solidFill>
                <a:latin typeface="Calibri" pitchFamily="34" charset="0"/>
                <a:ea typeface="Calibri" pitchFamily="34" charset="-122"/>
                <a:cs typeface="Calibri" pitchFamily="34" charset="-120"/>
              </a:rPr>
              <a:t>gov ID + liveness · docs never stored</a:t>
            </a:r>
            <a:endParaRPr lang="en-US" sz="1250" dirty="0"/>
          </a:p>
        </p:txBody>
      </p:sp>
      <p:sp>
        <p:nvSpPr>
          <p:cNvPr id="9" name="Shape 6"/>
          <p:cNvSpPr/>
          <p:nvPr/>
        </p:nvSpPr>
        <p:spPr>
          <a:xfrm>
            <a:off x="5486400" y="2167128"/>
            <a:ext cx="5806440" cy="10973"/>
          </a:xfrm>
          <a:prstGeom prst="rect">
            <a:avLst/>
          </a:prstGeom>
          <a:solidFill>
            <a:srgbClr val="2A2F30"/>
          </a:solidFill>
          <a:ln/>
        </p:spPr>
      </p:sp>
      <p:sp>
        <p:nvSpPr>
          <p:cNvPr id="10" name="Text 7"/>
          <p:cNvSpPr txBox="1"/>
          <p:nvPr/>
        </p:nvSpPr>
        <p:spPr>
          <a:xfrm>
            <a:off x="5486400" y="2441448"/>
            <a:ext cx="3108960" cy="365760"/>
          </a:xfrm>
          <a:prstGeom prst="rect">
            <a:avLst/>
          </a:prstGeom>
          <a:noFill/>
          <a:ln/>
        </p:spPr>
        <p:txBody>
          <a:bodyPr wrap="square" lIns="0" tIns="0" rIns="0" bIns="0" rtlCol="0" anchor="ctr"/>
          <a:lstStyle/>
          <a:p>
            <a:pPr indent="0" marL="0">
              <a:buNone/>
            </a:pPr>
            <a:r>
              <a:rPr lang="en-US" sz="1250" spc="200" kern="0" dirty="0">
                <a:solidFill>
                  <a:srgbClr val="F4F5F6"/>
                </a:solidFill>
                <a:latin typeface="Courier New" pitchFamily="34" charset="0"/>
                <a:ea typeface="Courier New" pitchFamily="34" charset="-122"/>
                <a:cs typeface="Courier New" pitchFamily="34" charset="-120"/>
              </a:rPr>
              <a:t>REGION FROM ID</a:t>
            </a:r>
            <a:endParaRPr lang="en-US" sz="1250" dirty="0"/>
          </a:p>
        </p:txBody>
      </p:sp>
      <p:sp>
        <p:nvSpPr>
          <p:cNvPr id="11" name="Text 8"/>
          <p:cNvSpPr txBox="1"/>
          <p:nvPr/>
        </p:nvSpPr>
        <p:spPr>
          <a:xfrm>
            <a:off x="8549640" y="2441448"/>
            <a:ext cx="2743200" cy="365760"/>
          </a:xfrm>
          <a:prstGeom prst="rect">
            <a:avLst/>
          </a:prstGeom>
          <a:noFill/>
          <a:ln/>
        </p:spPr>
        <p:txBody>
          <a:bodyPr wrap="square" lIns="0" tIns="0" rIns="0" bIns="0" rtlCol="0" anchor="ctr"/>
          <a:lstStyle/>
          <a:p>
            <a:pPr indent="0" marL="0">
              <a:buNone/>
            </a:pPr>
            <a:r>
              <a:rPr lang="en-US" sz="1250" dirty="0">
                <a:solidFill>
                  <a:srgbClr val="7A7D7E"/>
                </a:solidFill>
                <a:latin typeface="Calibri" pitchFamily="34" charset="0"/>
                <a:ea typeface="Calibri" pitchFamily="34" charset="-122"/>
                <a:cs typeface="Calibri" pitchFamily="34" charset="-120"/>
              </a:rPr>
              <a:t>a Calgary ballot — Calgarians only</a:t>
            </a:r>
            <a:endParaRPr lang="en-US" sz="1250" dirty="0"/>
          </a:p>
        </p:txBody>
      </p:sp>
      <p:sp>
        <p:nvSpPr>
          <p:cNvPr id="12" name="Shape 9"/>
          <p:cNvSpPr/>
          <p:nvPr/>
        </p:nvSpPr>
        <p:spPr>
          <a:xfrm>
            <a:off x="5486400" y="2916936"/>
            <a:ext cx="5806440" cy="10973"/>
          </a:xfrm>
          <a:prstGeom prst="rect">
            <a:avLst/>
          </a:prstGeom>
          <a:solidFill>
            <a:srgbClr val="2A2F30"/>
          </a:solidFill>
          <a:ln/>
        </p:spPr>
      </p:sp>
      <p:sp>
        <p:nvSpPr>
          <p:cNvPr id="13" name="Text 10"/>
          <p:cNvSpPr txBox="1"/>
          <p:nvPr/>
        </p:nvSpPr>
        <p:spPr>
          <a:xfrm>
            <a:off x="5486400" y="3191256"/>
            <a:ext cx="3108960" cy="365760"/>
          </a:xfrm>
          <a:prstGeom prst="rect">
            <a:avLst/>
          </a:prstGeom>
          <a:noFill/>
          <a:ln/>
        </p:spPr>
        <p:txBody>
          <a:bodyPr wrap="square" lIns="0" tIns="0" rIns="0" bIns="0" rtlCol="0" anchor="ctr"/>
          <a:lstStyle/>
          <a:p>
            <a:pPr indent="0" marL="0">
              <a:buNone/>
            </a:pPr>
            <a:r>
              <a:rPr lang="en-US" sz="1250" spc="200" kern="0" dirty="0">
                <a:solidFill>
                  <a:srgbClr val="F4F5F6"/>
                </a:solidFill>
                <a:latin typeface="Courier New" pitchFamily="34" charset="0"/>
                <a:ea typeface="Courier New" pitchFamily="34" charset="-122"/>
                <a:cs typeface="Courier New" pitchFamily="34" charset="-120"/>
              </a:rPr>
              <a:t>ONE PERSON, ONE VOTE</a:t>
            </a:r>
            <a:endParaRPr lang="en-US" sz="1250" dirty="0"/>
          </a:p>
        </p:txBody>
      </p:sp>
      <p:sp>
        <p:nvSpPr>
          <p:cNvPr id="14" name="Text 11"/>
          <p:cNvSpPr txBox="1"/>
          <p:nvPr/>
        </p:nvSpPr>
        <p:spPr>
          <a:xfrm>
            <a:off x="8549640" y="3191256"/>
            <a:ext cx="2743200" cy="365760"/>
          </a:xfrm>
          <a:prstGeom prst="rect">
            <a:avLst/>
          </a:prstGeom>
          <a:noFill/>
          <a:ln/>
        </p:spPr>
        <p:txBody>
          <a:bodyPr wrap="square" lIns="0" tIns="0" rIns="0" bIns="0" rtlCol="0" anchor="ctr"/>
          <a:lstStyle/>
          <a:p>
            <a:pPr indent="0" marL="0">
              <a:buNone/>
            </a:pPr>
            <a:r>
              <a:rPr lang="en-US" sz="1250" dirty="0">
                <a:solidFill>
                  <a:srgbClr val="7A7D7E"/>
                </a:solidFill>
                <a:latin typeface="Calibri" pitchFamily="34" charset="0"/>
                <a:ea typeface="Calibri" pitchFamily="34" charset="-122"/>
                <a:cs typeface="Calibri" pitchFamily="34" charset="-120"/>
              </a:rPr>
              <a:t>you cannot verify twice</a:t>
            </a:r>
            <a:endParaRPr lang="en-US" sz="1250" dirty="0"/>
          </a:p>
        </p:txBody>
      </p:sp>
      <p:sp>
        <p:nvSpPr>
          <p:cNvPr id="15" name="Shape 12"/>
          <p:cNvSpPr/>
          <p:nvPr/>
        </p:nvSpPr>
        <p:spPr>
          <a:xfrm>
            <a:off x="5486400" y="3666744"/>
            <a:ext cx="5806440" cy="10973"/>
          </a:xfrm>
          <a:prstGeom prst="rect">
            <a:avLst/>
          </a:prstGeom>
          <a:solidFill>
            <a:srgbClr val="2A2F30"/>
          </a:solidFill>
          <a:ln/>
        </p:spPr>
      </p:sp>
      <p:sp>
        <p:nvSpPr>
          <p:cNvPr id="16" name="Text 13"/>
          <p:cNvSpPr txBox="1"/>
          <p:nvPr/>
        </p:nvSpPr>
        <p:spPr>
          <a:xfrm>
            <a:off x="5486400" y="3941064"/>
            <a:ext cx="3108960" cy="365760"/>
          </a:xfrm>
          <a:prstGeom prst="rect">
            <a:avLst/>
          </a:prstGeom>
          <a:noFill/>
          <a:ln/>
        </p:spPr>
        <p:txBody>
          <a:bodyPr wrap="square" lIns="0" tIns="0" rIns="0" bIns="0" rtlCol="0" anchor="ctr"/>
          <a:lstStyle/>
          <a:p>
            <a:pPr indent="0" marL="0">
              <a:buNone/>
            </a:pPr>
            <a:r>
              <a:rPr lang="en-US" sz="1250" spc="200" kern="0" dirty="0">
                <a:solidFill>
                  <a:srgbClr val="F4F5F6"/>
                </a:solidFill>
                <a:latin typeface="Courier New" pitchFamily="34" charset="0"/>
                <a:ea typeface="Courier New" pitchFamily="34" charset="-122"/>
                <a:cs typeface="Courier New" pitchFamily="34" charset="-120"/>
              </a:rPr>
              <a:t>PUBLIC LEDGER (PILOT)</a:t>
            </a:r>
            <a:endParaRPr lang="en-US" sz="1250" dirty="0"/>
          </a:p>
        </p:txBody>
      </p:sp>
      <p:sp>
        <p:nvSpPr>
          <p:cNvPr id="17" name="Text 14"/>
          <p:cNvSpPr txBox="1"/>
          <p:nvPr/>
        </p:nvSpPr>
        <p:spPr>
          <a:xfrm>
            <a:off x="8549640" y="3941064"/>
            <a:ext cx="2743200" cy="365760"/>
          </a:xfrm>
          <a:prstGeom prst="rect">
            <a:avLst/>
          </a:prstGeom>
          <a:noFill/>
          <a:ln/>
        </p:spPr>
        <p:txBody>
          <a:bodyPr wrap="square" lIns="0" tIns="0" rIns="0" bIns="0" rtlCol="0" anchor="ctr"/>
          <a:lstStyle/>
          <a:p>
            <a:pPr indent="0" marL="0">
              <a:buNone/>
            </a:pPr>
            <a:r>
              <a:rPr lang="en-US" sz="1250" dirty="0">
                <a:solidFill>
                  <a:srgbClr val="7A7D7E"/>
                </a:solidFill>
                <a:latin typeface="Calibri" pitchFamily="34" charset="0"/>
                <a:ea typeface="Calibri" pitchFamily="34" charset="-122"/>
                <a:cs typeface="Calibri" pitchFamily="34" charset="-120"/>
              </a:rPr>
              <a:t>receipts · auditable without trusting us</a:t>
            </a:r>
            <a:endParaRPr lang="en-US" sz="1250" dirty="0"/>
          </a:p>
        </p:txBody>
      </p:sp>
      <p:sp>
        <p:nvSpPr>
          <p:cNvPr id="18" name="Shape 15"/>
          <p:cNvSpPr/>
          <p:nvPr/>
        </p:nvSpPr>
        <p:spPr>
          <a:xfrm>
            <a:off x="5486400" y="4416552"/>
            <a:ext cx="5806440" cy="10973"/>
          </a:xfrm>
          <a:prstGeom prst="rect">
            <a:avLst/>
          </a:prstGeom>
          <a:solidFill>
            <a:srgbClr val="2A2F30"/>
          </a:solidFill>
          <a:ln/>
        </p:spPr>
      </p:sp>
      <p:sp>
        <p:nvSpPr>
          <p:cNvPr id="19" name="Shape 16"/>
          <p:cNvSpPr/>
          <p:nvPr/>
        </p:nvSpPr>
        <p:spPr>
          <a:xfrm>
            <a:off x="5486400" y="4828032"/>
            <a:ext cx="146304" cy="146304"/>
          </a:xfrm>
          <a:prstGeom prst="ellipse">
            <a:avLst/>
          </a:prstGeom>
          <a:solidFill>
            <a:srgbClr val="EABA58"/>
          </a:solidFill>
          <a:ln/>
        </p:spPr>
      </p:sp>
      <p:sp>
        <p:nvSpPr>
          <p:cNvPr id="20" name="Shape 17"/>
          <p:cNvSpPr/>
          <p:nvPr/>
        </p:nvSpPr>
        <p:spPr>
          <a:xfrm>
            <a:off x="5760720" y="4828032"/>
            <a:ext cx="146304" cy="146304"/>
          </a:xfrm>
          <a:prstGeom prst="ellipse">
            <a:avLst/>
          </a:prstGeom>
          <a:solidFill>
            <a:srgbClr val="EABA58"/>
          </a:solidFill>
          <a:ln/>
        </p:spPr>
      </p:sp>
      <p:sp>
        <p:nvSpPr>
          <p:cNvPr id="21" name="Shape 18"/>
          <p:cNvSpPr/>
          <p:nvPr/>
        </p:nvSpPr>
        <p:spPr>
          <a:xfrm>
            <a:off x="6035040" y="4828032"/>
            <a:ext cx="146304" cy="146304"/>
          </a:xfrm>
          <a:prstGeom prst="ellipse">
            <a:avLst/>
          </a:prstGeom>
          <a:solidFill>
            <a:srgbClr val="EABA58"/>
          </a:solidFill>
          <a:ln/>
        </p:spPr>
      </p:sp>
      <p:sp>
        <p:nvSpPr>
          <p:cNvPr id="22" name="Shape 19"/>
          <p:cNvSpPr/>
          <p:nvPr/>
        </p:nvSpPr>
        <p:spPr>
          <a:xfrm>
            <a:off x="6309360" y="4828032"/>
            <a:ext cx="146304" cy="146304"/>
          </a:xfrm>
          <a:prstGeom prst="ellipse">
            <a:avLst/>
          </a:prstGeom>
          <a:solidFill>
            <a:srgbClr val="EABA58"/>
          </a:solidFill>
          <a:ln/>
        </p:spPr>
      </p:sp>
      <p:sp>
        <p:nvSpPr>
          <p:cNvPr id="23" name="Shape 20"/>
          <p:cNvSpPr/>
          <p:nvPr/>
        </p:nvSpPr>
        <p:spPr>
          <a:xfrm>
            <a:off x="6583680" y="4828032"/>
            <a:ext cx="146304" cy="146304"/>
          </a:xfrm>
          <a:prstGeom prst="ellipse">
            <a:avLst/>
          </a:prstGeom>
          <a:solidFill>
            <a:srgbClr val="EABA58"/>
          </a:solidFill>
          <a:ln/>
        </p:spPr>
      </p:sp>
      <p:sp>
        <p:nvSpPr>
          <p:cNvPr id="24" name="Shape 21"/>
          <p:cNvSpPr/>
          <p:nvPr/>
        </p:nvSpPr>
        <p:spPr>
          <a:xfrm>
            <a:off x="6858000" y="4828032"/>
            <a:ext cx="146304" cy="146304"/>
          </a:xfrm>
          <a:prstGeom prst="ellipse">
            <a:avLst/>
          </a:prstGeom>
          <a:solidFill>
            <a:srgbClr val="EABA58"/>
          </a:solidFill>
          <a:ln/>
        </p:spPr>
      </p:sp>
      <p:sp>
        <p:nvSpPr>
          <p:cNvPr id="25" name="Shape 22"/>
          <p:cNvSpPr/>
          <p:nvPr/>
        </p:nvSpPr>
        <p:spPr>
          <a:xfrm>
            <a:off x="7132320" y="4828032"/>
            <a:ext cx="146304" cy="146304"/>
          </a:xfrm>
          <a:prstGeom prst="ellipse">
            <a:avLst/>
          </a:prstGeom>
          <a:solidFill>
            <a:srgbClr val="EABA58"/>
          </a:solidFill>
          <a:ln/>
        </p:spPr>
      </p:sp>
      <p:sp>
        <p:nvSpPr>
          <p:cNvPr id="26" name="Shape 23"/>
          <p:cNvSpPr/>
          <p:nvPr/>
        </p:nvSpPr>
        <p:spPr>
          <a:xfrm>
            <a:off x="7406640" y="4828032"/>
            <a:ext cx="146304" cy="146304"/>
          </a:xfrm>
          <a:prstGeom prst="ellipse">
            <a:avLst/>
          </a:prstGeom>
          <a:solidFill>
            <a:srgbClr val="EABA58"/>
          </a:solidFill>
          <a:ln/>
        </p:spPr>
      </p:sp>
      <p:sp>
        <p:nvSpPr>
          <p:cNvPr id="27" name="Shape 24"/>
          <p:cNvSpPr/>
          <p:nvPr/>
        </p:nvSpPr>
        <p:spPr>
          <a:xfrm>
            <a:off x="7680960" y="4828032"/>
            <a:ext cx="146304" cy="146304"/>
          </a:xfrm>
          <a:prstGeom prst="ellipse">
            <a:avLst/>
          </a:prstGeom>
          <a:solidFill>
            <a:srgbClr val="EABA58"/>
          </a:solidFill>
          <a:ln/>
        </p:spPr>
      </p:sp>
      <p:sp>
        <p:nvSpPr>
          <p:cNvPr id="28" name="Shape 25"/>
          <p:cNvSpPr/>
          <p:nvPr/>
        </p:nvSpPr>
        <p:spPr>
          <a:xfrm>
            <a:off x="7955280" y="4828032"/>
            <a:ext cx="146304" cy="146304"/>
          </a:xfrm>
          <a:prstGeom prst="ellipse">
            <a:avLst/>
          </a:prstGeom>
          <a:solidFill>
            <a:srgbClr val="EABA58"/>
          </a:solidFill>
          <a:ln/>
        </p:spPr>
      </p:sp>
      <p:sp>
        <p:nvSpPr>
          <p:cNvPr id="29" name="Text 26"/>
          <p:cNvSpPr txBox="1"/>
          <p:nvPr/>
        </p:nvSpPr>
        <p:spPr>
          <a:xfrm>
            <a:off x="8366760" y="4718304"/>
            <a:ext cx="3017520" cy="365760"/>
          </a:xfrm>
          <a:prstGeom prst="rect">
            <a:avLst/>
          </a:prstGeom>
          <a:noFill/>
          <a:ln/>
        </p:spPr>
        <p:txBody>
          <a:bodyPr wrap="square" lIns="0" tIns="0" rIns="0" bIns="0" rtlCol="0" anchor="ctr"/>
          <a:lstStyle/>
          <a:p>
            <a:pPr indent="0" marL="0">
              <a:buNone/>
            </a:pPr>
            <a:r>
              <a:rPr lang="en-US" sz="1050" spc="200" kern="0" dirty="0">
                <a:solidFill>
                  <a:srgbClr val="7A7D7E"/>
                </a:solidFill>
                <a:latin typeface="Courier New" pitchFamily="34" charset="0"/>
                <a:ea typeface="Courier New" pitchFamily="34" charset="-122"/>
                <a:cs typeface="Courier New" pitchFamily="34" charset="-120"/>
              </a:rPr>
              <a:t>SEALED UNTIL 10 VERIFIED BALLOTS</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40707"/>
        </a:solidFill>
      </p:bgPr>
    </p:bg>
    <p:spTree>
      <p:nvGrpSpPr>
        <p:cNvPr id="1" name=""/>
        <p:cNvGrpSpPr/>
        <p:nvPr/>
      </p:nvGrpSpPr>
      <p:grpSpPr>
        <a:xfrm>
          <a:off x="0" y="0"/>
          <a:ext cx="0" cy="0"/>
          <a:chOff x="0" y="0"/>
          <a:chExt cx="0" cy="0"/>
        </a:xfrm>
      </p:grpSpPr>
      <p:sp>
        <p:nvSpPr>
          <p:cNvPr id="2" name="Text 0"/>
          <p:cNvSpPr txBox="1"/>
          <p:nvPr/>
        </p:nvSpPr>
        <p:spPr>
          <a:xfrm>
            <a:off x="1011911" y="6382512"/>
            <a:ext cx="2743200" cy="274320"/>
          </a:xfrm>
          <a:prstGeom prst="rect">
            <a:avLst/>
          </a:prstGeom>
          <a:noFill/>
          <a:ln/>
        </p:spPr>
        <p:txBody>
          <a:bodyPr wrap="square" lIns="0" tIns="0" rIns="0" bIns="0" rtlCol="0" anchor="ctr"/>
          <a:lstStyle/>
          <a:p>
            <a:pPr indent="0" marL="0">
              <a:buNone/>
            </a:pPr>
            <a:r>
              <a:rPr lang="en-US" sz="900" spc="400" kern="0" dirty="0">
                <a:solidFill>
                  <a:srgbClr val="7A7D7E"/>
                </a:solidFill>
                <a:latin typeface="Courier New" pitchFamily="34" charset="0"/>
                <a:ea typeface="Courier New" pitchFamily="34" charset="-122"/>
                <a:cs typeface="Courier New" pitchFamily="34" charset="-120"/>
              </a:rPr>
              <a:t>REPRESENT</a:t>
            </a:r>
            <a:endParaRPr lang="en-US" sz="900" dirty="0"/>
          </a:p>
        </p:txBody>
      </p:sp>
      <p:sp>
        <p:nvSpPr>
          <p:cNvPr id="3" name="Text 1"/>
          <p:cNvSpPr txBox="1"/>
          <p:nvPr/>
        </p:nvSpPr>
        <p:spPr>
          <a:xfrm>
            <a:off x="9350984" y="6382512"/>
            <a:ext cx="1828800" cy="274320"/>
          </a:xfrm>
          <a:prstGeom prst="rect">
            <a:avLst/>
          </a:prstGeom>
          <a:noFill/>
          <a:ln/>
        </p:spPr>
        <p:txBody>
          <a:bodyPr wrap="square" lIns="0" tIns="0" rIns="0" bIns="0" rtlCol="0" anchor="ctr"/>
          <a:lstStyle/>
          <a:p>
            <a:pPr algn="r" indent="0" marL="0">
              <a:buNone/>
            </a:pPr>
            <a:r>
              <a:rPr lang="en-US" sz="900" spc="200" kern="0" dirty="0">
                <a:solidFill>
                  <a:srgbClr val="7A7D7E"/>
                </a:solidFill>
                <a:latin typeface="Courier New" pitchFamily="34" charset="0"/>
                <a:ea typeface="Courier New" pitchFamily="34" charset="-122"/>
                <a:cs typeface="Courier New" pitchFamily="34" charset="-120"/>
              </a:rPr>
              <a:t>10 / 16</a:t>
            </a:r>
            <a:endParaRPr lang="en-US" sz="900" dirty="0"/>
          </a:p>
        </p:txBody>
      </p:sp>
      <p:sp>
        <p:nvSpPr>
          <p:cNvPr id="4" name="Text 2"/>
          <p:cNvSpPr txBox="1"/>
          <p:nvPr/>
        </p:nvSpPr>
        <p:spPr>
          <a:xfrm>
            <a:off x="7064984" y="546354"/>
            <a:ext cx="4114800" cy="274320"/>
          </a:xfrm>
          <a:prstGeom prst="rect">
            <a:avLst/>
          </a:prstGeom>
          <a:noFill/>
          <a:ln/>
        </p:spPr>
        <p:txBody>
          <a:bodyPr wrap="square" lIns="0" tIns="0" rIns="0" bIns="0" rtlCol="0" anchor="ctr"/>
          <a:lstStyle/>
          <a:p>
            <a:pPr algn="r" indent="0" marL="0">
              <a:buNone/>
            </a:pPr>
            <a:r>
              <a:rPr lang="en-US" sz="950" spc="300" kern="0" dirty="0">
                <a:solidFill>
                  <a:srgbClr val="7A7D7E"/>
                </a:solidFill>
                <a:latin typeface="Courier New" pitchFamily="34" charset="0"/>
                <a:ea typeface="Courier New" pitchFamily="34" charset="-122"/>
                <a:cs typeface="Courier New" pitchFamily="34" charset="-120"/>
              </a:rPr>
              <a:t>II · THE INSTRUMENT</a:t>
            </a:r>
            <a:endParaRPr lang="en-US" sz="950" dirty="0"/>
          </a:p>
        </p:txBody>
      </p:sp>
      <p:sp>
        <p:nvSpPr>
          <p:cNvPr id="6" name="Text 3"/>
          <p:cNvSpPr txBox="1"/>
          <p:nvPr/>
        </p:nvSpPr>
        <p:spPr>
          <a:xfrm>
            <a:off x="1011911" y="1508760"/>
            <a:ext cx="10167874" cy="2194560"/>
          </a:xfrm>
          <a:prstGeom prst="rect">
            <a:avLst/>
          </a:prstGeom>
          <a:noFill/>
          <a:ln/>
        </p:spPr>
        <p:txBody>
          <a:bodyPr wrap="square" lIns="0" tIns="0" rIns="0" bIns="0" rtlCol="0" anchor="t"/>
          <a:lstStyle/>
          <a:p>
            <a:pPr algn="l" indent="0" marL="0">
              <a:lnSpc>
                <a:spcPct val="108000"/>
              </a:lnSpc>
              <a:buNone/>
            </a:pPr>
            <a:r>
              <a:rPr lang="en-US" sz="4400" dirty="0">
                <a:solidFill>
                  <a:srgbClr val="F4F5F6"/>
                </a:solidFill>
                <a:latin typeface="Cambria" pitchFamily="34" charset="0"/>
                <a:ea typeface="Cambria" pitchFamily="34" charset="-122"/>
                <a:cs typeface="Cambria" pitchFamily="34" charset="-120"/>
              </a:rPr>
              <a:t>Small numbers. </a:t>
            </a:r>
            <a:pPr algn="l" indent="0" marL="0">
              <a:lnSpc>
                <a:spcPct val="108000"/>
              </a:lnSpc>
              <a:buNone/>
            </a:pPr>
            <a:r>
              <a:rPr lang="en-US" sz="4400" dirty="0">
                <a:solidFill>
                  <a:srgbClr val="F4F5F6"/>
                </a:solidFill>
                <a:latin typeface="Cambria" pitchFamily="34" charset="0"/>
                <a:ea typeface="Cambria" pitchFamily="34" charset="-122"/>
                <a:cs typeface="Cambria" pitchFamily="34" charset="-120"/>
              </a:rPr>
              <a:t>Real ones.</a:t>
            </a:r>
            <a:endParaRPr lang="en-US" sz="4400" dirty="0"/>
          </a:p>
        </p:txBody>
      </p:sp>
      <p:sp>
        <p:nvSpPr>
          <p:cNvPr id="7" name="Text 4"/>
          <p:cNvSpPr txBox="1"/>
          <p:nvPr/>
        </p:nvSpPr>
        <p:spPr>
          <a:xfrm>
            <a:off x="1011911" y="2377440"/>
            <a:ext cx="4023360" cy="384048"/>
          </a:xfrm>
          <a:prstGeom prst="rect">
            <a:avLst/>
          </a:prstGeom>
          <a:noFill/>
          <a:ln/>
        </p:spPr>
        <p:txBody>
          <a:bodyPr wrap="square" lIns="0" tIns="0" rIns="0" bIns="0" rtlCol="0" anchor="ctr"/>
          <a:lstStyle/>
          <a:p>
            <a:pPr indent="0" marL="0">
              <a:buNone/>
            </a:pPr>
            <a:r>
              <a:rPr lang="en-US" sz="1200" spc="300" kern="0" dirty="0">
                <a:solidFill>
                  <a:srgbClr val="7A7D7E"/>
                </a:solidFill>
                <a:latin typeface="Courier New" pitchFamily="34" charset="0"/>
                <a:ea typeface="Courier New" pitchFamily="34" charset="-122"/>
                <a:cs typeface="Courier New" pitchFamily="34" charset="-120"/>
              </a:rPr>
              <a:t>PUBLIC QUESTIONS</a:t>
            </a:r>
            <a:endParaRPr lang="en-US" sz="1200" dirty="0"/>
          </a:p>
        </p:txBody>
      </p:sp>
      <p:sp>
        <p:nvSpPr>
          <p:cNvPr id="8" name="Text 5"/>
          <p:cNvSpPr txBox="1"/>
          <p:nvPr/>
        </p:nvSpPr>
        <p:spPr>
          <a:xfrm>
            <a:off x="5035271" y="2377440"/>
            <a:ext cx="2377440" cy="384048"/>
          </a:xfrm>
          <a:prstGeom prst="rect">
            <a:avLst/>
          </a:prstGeom>
          <a:noFill/>
          <a:ln/>
        </p:spPr>
        <p:txBody>
          <a:bodyPr wrap="square" lIns="0" tIns="0" rIns="0" bIns="0" rtlCol="0" anchor="ctr"/>
          <a:lstStyle/>
          <a:p>
            <a:pPr algn="r" indent="0" marL="0">
              <a:buNone/>
            </a:pPr>
            <a:r>
              <a:rPr lang="en-US" sz="1200" spc="100" kern="0" dirty="0">
                <a:solidFill>
                  <a:srgbClr val="F4F5F6"/>
                </a:solidFill>
                <a:latin typeface="Courier New" pitchFamily="34" charset="0"/>
                <a:ea typeface="Courier New" pitchFamily="34" charset="-122"/>
                <a:cs typeface="Courier New" pitchFamily="34" charset="-120"/>
              </a:rPr>
              <a:t>~157</a:t>
            </a:r>
            <a:endParaRPr lang="en-US" sz="1200" dirty="0"/>
          </a:p>
        </p:txBody>
      </p:sp>
      <p:sp>
        <p:nvSpPr>
          <p:cNvPr id="9" name="Text 6"/>
          <p:cNvSpPr txBox="1"/>
          <p:nvPr/>
        </p:nvSpPr>
        <p:spPr>
          <a:xfrm>
            <a:off x="7732751" y="2377440"/>
            <a:ext cx="2926080" cy="384048"/>
          </a:xfrm>
          <a:prstGeom prst="rect">
            <a:avLst/>
          </a:prstGeom>
          <a:noFill/>
          <a:ln/>
        </p:spPr>
        <p:txBody>
          <a:bodyPr wrap="square" lIns="0" tIns="0" rIns="0" bIns="0" rtlCol="0" anchor="ctr"/>
          <a:lstStyle/>
          <a:p>
            <a:pPr indent="0" marL="0">
              <a:buNone/>
            </a:pPr>
            <a:r>
              <a:rPr lang="en-US" sz="1000" spc="200" kern="0" dirty="0">
                <a:solidFill>
                  <a:srgbClr val="7A7D7E"/>
                </a:solidFill>
                <a:latin typeface="Courier New" pitchFamily="34" charset="0"/>
                <a:ea typeface="Courier New" pitchFamily="34" charset="-122"/>
                <a:cs typeface="Courier New" pitchFamily="34" charset="-120"/>
              </a:rPr>
              <a:t>LIVE</a:t>
            </a:r>
            <a:endParaRPr lang="en-US" sz="1000" dirty="0"/>
          </a:p>
        </p:txBody>
      </p:sp>
      <p:sp>
        <p:nvSpPr>
          <p:cNvPr id="10" name="Shape 7"/>
          <p:cNvSpPr/>
          <p:nvPr/>
        </p:nvSpPr>
        <p:spPr>
          <a:xfrm>
            <a:off x="1011911" y="2834640"/>
            <a:ext cx="9646920" cy="10973"/>
          </a:xfrm>
          <a:prstGeom prst="rect">
            <a:avLst/>
          </a:prstGeom>
          <a:solidFill>
            <a:srgbClr val="2A2F30"/>
          </a:solidFill>
          <a:ln/>
        </p:spPr>
      </p:sp>
      <p:sp>
        <p:nvSpPr>
          <p:cNvPr id="11" name="Text 8"/>
          <p:cNvSpPr txBox="1"/>
          <p:nvPr/>
        </p:nvSpPr>
        <p:spPr>
          <a:xfrm>
            <a:off x="1011911" y="3035808"/>
            <a:ext cx="4023360" cy="384048"/>
          </a:xfrm>
          <a:prstGeom prst="rect">
            <a:avLst/>
          </a:prstGeom>
          <a:noFill/>
          <a:ln/>
        </p:spPr>
        <p:txBody>
          <a:bodyPr wrap="square" lIns="0" tIns="0" rIns="0" bIns="0" rtlCol="0" anchor="ctr"/>
          <a:lstStyle/>
          <a:p>
            <a:pPr indent="0" marL="0">
              <a:buNone/>
            </a:pPr>
            <a:r>
              <a:rPr lang="en-US" sz="1200" spc="300" kern="0" dirty="0">
                <a:solidFill>
                  <a:srgbClr val="7A7D7E"/>
                </a:solidFill>
                <a:latin typeface="Courier New" pitchFamily="34" charset="0"/>
                <a:ea typeface="Courier New" pitchFamily="34" charset="-122"/>
                <a:cs typeface="Courier New" pitchFamily="34" charset="-120"/>
              </a:rPr>
              <a:t>VERIFIED BALLOTS</a:t>
            </a:r>
            <a:endParaRPr lang="en-US" sz="1200" dirty="0"/>
          </a:p>
        </p:txBody>
      </p:sp>
      <p:sp>
        <p:nvSpPr>
          <p:cNvPr id="12" name="Text 9"/>
          <p:cNvSpPr txBox="1"/>
          <p:nvPr/>
        </p:nvSpPr>
        <p:spPr>
          <a:xfrm>
            <a:off x="5035271" y="3035808"/>
            <a:ext cx="2377440" cy="384048"/>
          </a:xfrm>
          <a:prstGeom prst="rect">
            <a:avLst/>
          </a:prstGeom>
          <a:noFill/>
          <a:ln/>
        </p:spPr>
        <p:txBody>
          <a:bodyPr wrap="square" lIns="0" tIns="0" rIns="0" bIns="0" rtlCol="0" anchor="ctr"/>
          <a:lstStyle/>
          <a:p>
            <a:pPr algn="r" indent="0" marL="0">
              <a:buNone/>
            </a:pPr>
            <a:r>
              <a:rPr lang="en-US" sz="1200" spc="100" kern="0" dirty="0">
                <a:solidFill>
                  <a:srgbClr val="F4F5F6"/>
                </a:solidFill>
                <a:latin typeface="Courier New" pitchFamily="34" charset="0"/>
                <a:ea typeface="Courier New" pitchFamily="34" charset="-122"/>
                <a:cs typeface="Courier New" pitchFamily="34" charset="-120"/>
              </a:rPr>
              <a:t>~190</a:t>
            </a:r>
            <a:endParaRPr lang="en-US" sz="1200" dirty="0"/>
          </a:p>
        </p:txBody>
      </p:sp>
      <p:sp>
        <p:nvSpPr>
          <p:cNvPr id="13" name="Text 10"/>
          <p:cNvSpPr txBox="1"/>
          <p:nvPr/>
        </p:nvSpPr>
        <p:spPr>
          <a:xfrm>
            <a:off x="7732751" y="3035808"/>
            <a:ext cx="2926080" cy="384048"/>
          </a:xfrm>
          <a:prstGeom prst="rect">
            <a:avLst/>
          </a:prstGeom>
          <a:noFill/>
          <a:ln/>
        </p:spPr>
        <p:txBody>
          <a:bodyPr wrap="square" lIns="0" tIns="0" rIns="0" bIns="0" rtlCol="0" anchor="ctr"/>
          <a:lstStyle/>
          <a:p>
            <a:pPr indent="0" marL="0">
              <a:buNone/>
            </a:pPr>
            <a:r>
              <a:rPr lang="en-US" sz="1000" spc="200" kern="0" dirty="0">
                <a:solidFill>
                  <a:srgbClr val="7A7D7E"/>
                </a:solidFill>
                <a:latin typeface="Courier New" pitchFamily="34" charset="0"/>
                <a:ea typeface="Courier New" pitchFamily="34" charset="-122"/>
                <a:cs typeface="Courier New" pitchFamily="34" charset="-120"/>
              </a:rPr>
              <a:t>HUMAN, PROVEN</a:t>
            </a:r>
            <a:endParaRPr lang="en-US" sz="1000" dirty="0"/>
          </a:p>
        </p:txBody>
      </p:sp>
      <p:sp>
        <p:nvSpPr>
          <p:cNvPr id="14" name="Shape 11"/>
          <p:cNvSpPr/>
          <p:nvPr/>
        </p:nvSpPr>
        <p:spPr>
          <a:xfrm>
            <a:off x="1011911" y="3493008"/>
            <a:ext cx="9646920" cy="10973"/>
          </a:xfrm>
          <a:prstGeom prst="rect">
            <a:avLst/>
          </a:prstGeom>
          <a:solidFill>
            <a:srgbClr val="2A2F30"/>
          </a:solidFill>
          <a:ln/>
        </p:spPr>
      </p:sp>
      <p:sp>
        <p:nvSpPr>
          <p:cNvPr id="15" name="Text 12"/>
          <p:cNvSpPr txBox="1"/>
          <p:nvPr/>
        </p:nvSpPr>
        <p:spPr>
          <a:xfrm>
            <a:off x="1011911" y="3694176"/>
            <a:ext cx="4023360" cy="384048"/>
          </a:xfrm>
          <a:prstGeom prst="rect">
            <a:avLst/>
          </a:prstGeom>
          <a:noFill/>
          <a:ln/>
        </p:spPr>
        <p:txBody>
          <a:bodyPr wrap="square" lIns="0" tIns="0" rIns="0" bIns="0" rtlCol="0" anchor="ctr"/>
          <a:lstStyle/>
          <a:p>
            <a:pPr indent="0" marL="0">
              <a:buNone/>
            </a:pPr>
            <a:r>
              <a:rPr lang="en-US" sz="1200" spc="300" kern="0" dirty="0">
                <a:solidFill>
                  <a:srgbClr val="7A7D7E"/>
                </a:solidFill>
                <a:latin typeface="Courier New" pitchFamily="34" charset="0"/>
                <a:ea typeface="Courier New" pitchFamily="34" charset="-122"/>
                <a:cs typeface="Courier New" pitchFamily="34" charset="-120"/>
              </a:rPr>
              <a:t>VERIFIED VOTERS</a:t>
            </a:r>
            <a:endParaRPr lang="en-US" sz="1200" dirty="0"/>
          </a:p>
        </p:txBody>
      </p:sp>
      <p:sp>
        <p:nvSpPr>
          <p:cNvPr id="16" name="Text 13"/>
          <p:cNvSpPr txBox="1"/>
          <p:nvPr/>
        </p:nvSpPr>
        <p:spPr>
          <a:xfrm>
            <a:off x="5035271" y="3694176"/>
            <a:ext cx="2377440" cy="384048"/>
          </a:xfrm>
          <a:prstGeom prst="rect">
            <a:avLst/>
          </a:prstGeom>
          <a:noFill/>
          <a:ln/>
        </p:spPr>
        <p:txBody>
          <a:bodyPr wrap="square" lIns="0" tIns="0" rIns="0" bIns="0" rtlCol="0" anchor="ctr"/>
          <a:lstStyle/>
          <a:p>
            <a:pPr algn="r" indent="0" marL="0">
              <a:buNone/>
            </a:pPr>
            <a:r>
              <a:rPr lang="en-US" sz="1200" spc="100" kern="0" dirty="0">
                <a:solidFill>
                  <a:srgbClr val="F4F5F6"/>
                </a:solidFill>
                <a:latin typeface="Courier New" pitchFamily="34" charset="0"/>
                <a:ea typeface="Courier New" pitchFamily="34" charset="-122"/>
                <a:cs typeface="Courier New" pitchFamily="34" charset="-120"/>
              </a:rPr>
              <a:t>a few dozen</a:t>
            </a:r>
            <a:endParaRPr lang="en-US" sz="1200" dirty="0"/>
          </a:p>
        </p:txBody>
      </p:sp>
      <p:sp>
        <p:nvSpPr>
          <p:cNvPr id="17" name="Text 14"/>
          <p:cNvSpPr txBox="1"/>
          <p:nvPr/>
        </p:nvSpPr>
        <p:spPr>
          <a:xfrm>
            <a:off x="7732751" y="3694176"/>
            <a:ext cx="2926080" cy="384048"/>
          </a:xfrm>
          <a:prstGeom prst="rect">
            <a:avLst/>
          </a:prstGeom>
          <a:noFill/>
          <a:ln/>
        </p:spPr>
        <p:txBody>
          <a:bodyPr wrap="square" lIns="0" tIns="0" rIns="0" bIns="0" rtlCol="0" anchor="ctr"/>
          <a:lstStyle/>
          <a:p>
            <a:pPr indent="0" marL="0">
              <a:buNone/>
            </a:pPr>
            <a:r>
              <a:rPr lang="en-US" sz="1000" spc="200" kern="0" dirty="0">
                <a:solidFill>
                  <a:srgbClr val="7A7D7E"/>
                </a:solidFill>
                <a:latin typeface="Courier New" pitchFamily="34" charset="0"/>
                <a:ea typeface="Courier New" pitchFamily="34" charset="-122"/>
                <a:cs typeface="Courier New" pitchFamily="34" charset="-120"/>
              </a:rPr>
              <a:t>GOV-ID</a:t>
            </a:r>
            <a:endParaRPr lang="en-US" sz="1000" dirty="0"/>
          </a:p>
        </p:txBody>
      </p:sp>
      <p:sp>
        <p:nvSpPr>
          <p:cNvPr id="18" name="Shape 15"/>
          <p:cNvSpPr/>
          <p:nvPr/>
        </p:nvSpPr>
        <p:spPr>
          <a:xfrm>
            <a:off x="1011911" y="4151376"/>
            <a:ext cx="9646920" cy="10973"/>
          </a:xfrm>
          <a:prstGeom prst="rect">
            <a:avLst/>
          </a:prstGeom>
          <a:solidFill>
            <a:srgbClr val="2A2F30"/>
          </a:solidFill>
          <a:ln/>
        </p:spPr>
      </p:sp>
      <p:sp>
        <p:nvSpPr>
          <p:cNvPr id="19" name="Text 16"/>
          <p:cNvSpPr txBox="1"/>
          <p:nvPr/>
        </p:nvSpPr>
        <p:spPr>
          <a:xfrm>
            <a:off x="1011911" y="4352544"/>
            <a:ext cx="4023360" cy="384048"/>
          </a:xfrm>
          <a:prstGeom prst="rect">
            <a:avLst/>
          </a:prstGeom>
          <a:noFill/>
          <a:ln/>
        </p:spPr>
        <p:txBody>
          <a:bodyPr wrap="square" lIns="0" tIns="0" rIns="0" bIns="0" rtlCol="0" anchor="ctr"/>
          <a:lstStyle/>
          <a:p>
            <a:pPr indent="0" marL="0">
              <a:buNone/>
            </a:pPr>
            <a:r>
              <a:rPr lang="en-US" sz="1200" spc="300" kern="0" dirty="0">
                <a:solidFill>
                  <a:srgbClr val="7A7D7E"/>
                </a:solidFill>
                <a:latin typeface="Courier New" pitchFamily="34" charset="0"/>
                <a:ea typeface="Courier New" pitchFamily="34" charset="-122"/>
                <a:cs typeface="Courier New" pitchFamily="34" charset="-120"/>
              </a:rPr>
              <a:t>CAPITAL</a:t>
            </a:r>
            <a:endParaRPr lang="en-US" sz="1200" dirty="0"/>
          </a:p>
        </p:txBody>
      </p:sp>
      <p:sp>
        <p:nvSpPr>
          <p:cNvPr id="20" name="Text 17"/>
          <p:cNvSpPr txBox="1"/>
          <p:nvPr/>
        </p:nvSpPr>
        <p:spPr>
          <a:xfrm>
            <a:off x="5035271" y="4352544"/>
            <a:ext cx="2377440" cy="384048"/>
          </a:xfrm>
          <a:prstGeom prst="rect">
            <a:avLst/>
          </a:prstGeom>
          <a:noFill/>
          <a:ln/>
        </p:spPr>
        <p:txBody>
          <a:bodyPr wrap="square" lIns="0" tIns="0" rIns="0" bIns="0" rtlCol="0" anchor="ctr"/>
          <a:lstStyle/>
          <a:p>
            <a:pPr algn="r" indent="0" marL="0">
              <a:buNone/>
            </a:pPr>
            <a:r>
              <a:rPr lang="en-US" sz="1200" spc="100" kern="0" dirty="0">
                <a:solidFill>
                  <a:srgbClr val="F4F5F6"/>
                </a:solidFill>
                <a:latin typeface="Courier New" pitchFamily="34" charset="0"/>
                <a:ea typeface="Courier New" pitchFamily="34" charset="-122"/>
                <a:cs typeface="Courier New" pitchFamily="34" charset="-120"/>
              </a:rPr>
              <a:t>CAD $1M</a:t>
            </a:r>
            <a:endParaRPr lang="en-US" sz="1200" dirty="0"/>
          </a:p>
        </p:txBody>
      </p:sp>
      <p:sp>
        <p:nvSpPr>
          <p:cNvPr id="21" name="Text 18"/>
          <p:cNvSpPr txBox="1"/>
          <p:nvPr/>
        </p:nvSpPr>
        <p:spPr>
          <a:xfrm>
            <a:off x="7732751" y="4352544"/>
            <a:ext cx="2926080" cy="384048"/>
          </a:xfrm>
          <a:prstGeom prst="rect">
            <a:avLst/>
          </a:prstGeom>
          <a:noFill/>
          <a:ln/>
        </p:spPr>
        <p:txBody>
          <a:bodyPr wrap="square" lIns="0" tIns="0" rIns="0" bIns="0" rtlCol="0" anchor="ctr"/>
          <a:lstStyle/>
          <a:p>
            <a:pPr indent="0" marL="0">
              <a:buNone/>
            </a:pPr>
            <a:r>
              <a:rPr lang="en-US" sz="1000" spc="200" kern="0" dirty="0">
                <a:solidFill>
                  <a:srgbClr val="7A7D7E"/>
                </a:solidFill>
                <a:latin typeface="Courier New" pitchFamily="34" charset="0"/>
                <a:ea typeface="Courier New" pitchFamily="34" charset="-122"/>
                <a:cs typeface="Courier New" pitchFamily="34" charset="-120"/>
              </a:rPr>
              <a:t>COMMITTED · STAGED</a:t>
            </a:r>
            <a:endParaRPr lang="en-US" sz="1000" dirty="0"/>
          </a:p>
        </p:txBody>
      </p:sp>
      <p:sp>
        <p:nvSpPr>
          <p:cNvPr id="22" name="Text 19"/>
          <p:cNvSpPr txBox="1"/>
          <p:nvPr/>
        </p:nvSpPr>
        <p:spPr>
          <a:xfrm>
            <a:off x="1011911" y="5175504"/>
            <a:ext cx="7863840" cy="731520"/>
          </a:xfrm>
          <a:prstGeom prst="rect">
            <a:avLst/>
          </a:prstGeom>
          <a:noFill/>
          <a:ln/>
        </p:spPr>
        <p:txBody>
          <a:bodyPr wrap="square" lIns="0" tIns="0" rIns="0" bIns="0" rtlCol="0" anchor="ctr"/>
          <a:lstStyle/>
          <a:p>
            <a:pPr indent="0" marL="0">
              <a:lnSpc>
                <a:spcPct val="135000"/>
              </a:lnSpc>
              <a:buNone/>
            </a:pPr>
            <a:r>
              <a:rPr lang="en-US" sz="1400" dirty="0">
                <a:solidFill>
                  <a:srgbClr val="B8BABB"/>
                </a:solidFill>
                <a:latin typeface="Calibri" pitchFamily="34" charset="0"/>
                <a:ea typeface="Calibri" pitchFamily="34" charset="-122"/>
                <a:cs typeface="Calibri" pitchFamily="34" charset="-120"/>
              </a:rPr>
              <a:t>Every ballot above is a government-ID-verified human — a claim the graveyard could never make at any scale.</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40707"/>
        </a:solidFill>
      </p:bgPr>
    </p:bg>
    <p:spTree>
      <p:nvGrpSpPr>
        <p:cNvPr id="1" name=""/>
        <p:cNvGrpSpPr/>
        <p:nvPr/>
      </p:nvGrpSpPr>
      <p:grpSpPr>
        <a:xfrm>
          <a:off x="0" y="0"/>
          <a:ext cx="0" cy="0"/>
          <a:chOff x="0" y="0"/>
          <a:chExt cx="0" cy="0"/>
        </a:xfrm>
      </p:grpSpPr>
      <p:sp>
        <p:nvSpPr>
          <p:cNvPr id="2" name="Text 0"/>
          <p:cNvSpPr txBox="1"/>
          <p:nvPr/>
        </p:nvSpPr>
        <p:spPr>
          <a:xfrm>
            <a:off x="1011911" y="6382512"/>
            <a:ext cx="2743200" cy="274320"/>
          </a:xfrm>
          <a:prstGeom prst="rect">
            <a:avLst/>
          </a:prstGeom>
          <a:noFill/>
          <a:ln/>
        </p:spPr>
        <p:txBody>
          <a:bodyPr wrap="square" lIns="0" tIns="0" rIns="0" bIns="0" rtlCol="0" anchor="ctr"/>
          <a:lstStyle/>
          <a:p>
            <a:pPr indent="0" marL="0">
              <a:buNone/>
            </a:pPr>
            <a:r>
              <a:rPr lang="en-US" sz="900" spc="400" kern="0" dirty="0">
                <a:solidFill>
                  <a:srgbClr val="7A7D7E"/>
                </a:solidFill>
                <a:latin typeface="Courier New" pitchFamily="34" charset="0"/>
                <a:ea typeface="Courier New" pitchFamily="34" charset="-122"/>
                <a:cs typeface="Courier New" pitchFamily="34" charset="-120"/>
              </a:rPr>
              <a:t>REPRESENT</a:t>
            </a:r>
            <a:endParaRPr lang="en-US" sz="900" dirty="0"/>
          </a:p>
        </p:txBody>
      </p:sp>
      <p:sp>
        <p:nvSpPr>
          <p:cNvPr id="3" name="Text 1"/>
          <p:cNvSpPr txBox="1"/>
          <p:nvPr/>
        </p:nvSpPr>
        <p:spPr>
          <a:xfrm>
            <a:off x="9350984" y="6382512"/>
            <a:ext cx="1828800" cy="274320"/>
          </a:xfrm>
          <a:prstGeom prst="rect">
            <a:avLst/>
          </a:prstGeom>
          <a:noFill/>
          <a:ln/>
        </p:spPr>
        <p:txBody>
          <a:bodyPr wrap="square" lIns="0" tIns="0" rIns="0" bIns="0" rtlCol="0" anchor="ctr"/>
          <a:lstStyle/>
          <a:p>
            <a:pPr algn="r" indent="0" marL="0">
              <a:buNone/>
            </a:pPr>
            <a:r>
              <a:rPr lang="en-US" sz="900" spc="200" kern="0" dirty="0">
                <a:solidFill>
                  <a:srgbClr val="7A7D7E"/>
                </a:solidFill>
                <a:latin typeface="Courier New" pitchFamily="34" charset="0"/>
                <a:ea typeface="Courier New" pitchFamily="34" charset="-122"/>
                <a:cs typeface="Courier New" pitchFamily="34" charset="-120"/>
              </a:rPr>
              <a:t>11 / 16</a:t>
            </a:r>
            <a:endParaRPr lang="en-US" sz="900" dirty="0"/>
          </a:p>
        </p:txBody>
      </p:sp>
      <p:sp>
        <p:nvSpPr>
          <p:cNvPr id="4" name="Text 2"/>
          <p:cNvSpPr txBox="1"/>
          <p:nvPr/>
        </p:nvSpPr>
        <p:spPr>
          <a:xfrm>
            <a:off x="7064984" y="546354"/>
            <a:ext cx="4114800" cy="274320"/>
          </a:xfrm>
          <a:prstGeom prst="rect">
            <a:avLst/>
          </a:prstGeom>
          <a:noFill/>
          <a:ln/>
        </p:spPr>
        <p:txBody>
          <a:bodyPr wrap="square" lIns="0" tIns="0" rIns="0" bIns="0" rtlCol="0" anchor="ctr"/>
          <a:lstStyle/>
          <a:p>
            <a:pPr algn="r" indent="0" marL="0">
              <a:buNone/>
            </a:pPr>
            <a:r>
              <a:rPr lang="en-US" sz="950" spc="300" kern="0" dirty="0">
                <a:solidFill>
                  <a:srgbClr val="7A7D7E"/>
                </a:solidFill>
                <a:latin typeface="Courier New" pitchFamily="34" charset="0"/>
                <a:ea typeface="Courier New" pitchFamily="34" charset="-122"/>
                <a:cs typeface="Courier New" pitchFamily="34" charset="-120"/>
              </a:rPr>
              <a:t>III · THE BUSINESS</a:t>
            </a:r>
            <a:endParaRPr lang="en-US" sz="950" dirty="0"/>
          </a:p>
        </p:txBody>
      </p:sp>
      <p:sp>
        <p:nvSpPr>
          <p:cNvPr id="6" name="Text 3"/>
          <p:cNvSpPr txBox="1"/>
          <p:nvPr/>
        </p:nvSpPr>
        <p:spPr>
          <a:xfrm>
            <a:off x="1011911" y="1508760"/>
            <a:ext cx="10167874" cy="2194560"/>
          </a:xfrm>
          <a:prstGeom prst="rect">
            <a:avLst/>
          </a:prstGeom>
          <a:noFill/>
          <a:ln/>
        </p:spPr>
        <p:txBody>
          <a:bodyPr wrap="square" lIns="0" tIns="0" rIns="0" bIns="0" rtlCol="0" anchor="t"/>
          <a:lstStyle/>
          <a:p>
            <a:pPr algn="l" indent="0" marL="0">
              <a:lnSpc>
                <a:spcPct val="108000"/>
              </a:lnSpc>
              <a:buNone/>
            </a:pPr>
            <a:r>
              <a:rPr lang="en-US" sz="4000" dirty="0">
                <a:solidFill>
                  <a:srgbClr val="F4F5F6"/>
                </a:solidFill>
                <a:latin typeface="Cambria" pitchFamily="34" charset="0"/>
                <a:ea typeface="Cambria" pitchFamily="34" charset="-122"/>
                <a:cs typeface="Cambria" pitchFamily="34" charset="-120"/>
              </a:rPr>
              <a:t>Citizens never pay to vote.</a:t>
            </a:r>
            <a:endParaRPr lang="en-US" sz="4000" dirty="0"/>
          </a:p>
          <a:p>
            <a:pPr algn="l" indent="0" marL="0">
              <a:lnSpc>
                <a:spcPct val="108000"/>
              </a:lnSpc>
              <a:buNone/>
            </a:pPr>
            <a:r>
              <a:rPr lang="en-US" sz="4000" dirty="0">
                <a:solidFill>
                  <a:srgbClr val="F4F5F6"/>
                </a:solidFill>
                <a:latin typeface="Cambria" pitchFamily="34" charset="0"/>
                <a:ea typeface="Cambria" pitchFamily="34" charset="-122"/>
                <a:cs typeface="Cambria" pitchFamily="34" charset="-120"/>
              </a:rPr>
              <a:t>Organizations do.</a:t>
            </a:r>
            <a:endParaRPr lang="en-US" sz="4000" dirty="0"/>
          </a:p>
        </p:txBody>
      </p:sp>
      <p:sp>
        <p:nvSpPr>
          <p:cNvPr id="7" name="Text 4"/>
          <p:cNvSpPr txBox="1"/>
          <p:nvPr/>
        </p:nvSpPr>
        <p:spPr>
          <a:xfrm>
            <a:off x="1240511" y="2651760"/>
            <a:ext cx="2084768" cy="292608"/>
          </a:xfrm>
          <a:prstGeom prst="rect">
            <a:avLst/>
          </a:prstGeom>
          <a:noFill/>
          <a:ln/>
        </p:spPr>
        <p:txBody>
          <a:bodyPr wrap="square" lIns="0" tIns="0" rIns="0" bIns="0" rtlCol="0" anchor="ctr"/>
          <a:lstStyle/>
          <a:p>
            <a:pPr indent="0" marL="0">
              <a:buNone/>
            </a:pPr>
            <a:r>
              <a:rPr lang="en-US" sz="1100" spc="300" kern="0" dirty="0">
                <a:solidFill>
                  <a:srgbClr val="7A7D7E"/>
                </a:solidFill>
                <a:latin typeface="Courier New" pitchFamily="34" charset="0"/>
                <a:ea typeface="Courier New" pitchFamily="34" charset="-122"/>
                <a:cs typeface="Courier New" pitchFamily="34" charset="-120"/>
              </a:rPr>
              <a:t>FREE</a:t>
            </a:r>
            <a:endParaRPr lang="en-US" sz="1100" dirty="0"/>
          </a:p>
        </p:txBody>
      </p:sp>
      <p:sp>
        <p:nvSpPr>
          <p:cNvPr id="8" name="Text 5"/>
          <p:cNvSpPr txBox="1"/>
          <p:nvPr/>
        </p:nvSpPr>
        <p:spPr>
          <a:xfrm>
            <a:off x="1240511" y="3017520"/>
            <a:ext cx="2084768" cy="868680"/>
          </a:xfrm>
          <a:prstGeom prst="rect">
            <a:avLst/>
          </a:prstGeom>
          <a:noFill/>
          <a:ln/>
        </p:spPr>
        <p:txBody>
          <a:bodyPr wrap="square" lIns="0" tIns="0" rIns="0" bIns="0" rtlCol="0" anchor="ctr"/>
          <a:lstStyle/>
          <a:p>
            <a:pPr indent="0" marL="0">
              <a:buNone/>
            </a:pPr>
            <a:r>
              <a:rPr lang="en-US" sz="4400" dirty="0">
                <a:solidFill>
                  <a:srgbClr val="F4F5F6"/>
                </a:solidFill>
                <a:latin typeface="Cambria" pitchFamily="34" charset="0"/>
                <a:ea typeface="Cambria" pitchFamily="34" charset="-122"/>
                <a:cs typeface="Cambria" pitchFamily="34" charset="-120"/>
              </a:rPr>
              <a:t>$0</a:t>
            </a:r>
            <a:endParaRPr lang="en-US" sz="4400" dirty="0"/>
          </a:p>
        </p:txBody>
      </p:sp>
      <p:sp>
        <p:nvSpPr>
          <p:cNvPr id="9" name="Text 6"/>
          <p:cNvSpPr txBox="1"/>
          <p:nvPr/>
        </p:nvSpPr>
        <p:spPr>
          <a:xfrm>
            <a:off x="1240511" y="3950208"/>
            <a:ext cx="2084768" cy="320040"/>
          </a:xfrm>
          <a:prstGeom prst="rect">
            <a:avLst/>
          </a:prstGeom>
          <a:noFill/>
          <a:ln/>
        </p:spPr>
        <p:txBody>
          <a:bodyPr wrap="square" lIns="0" tIns="0" rIns="0" bIns="0" rtlCol="0" anchor="ctr"/>
          <a:lstStyle/>
          <a:p>
            <a:pPr indent="0" marL="0">
              <a:buNone/>
            </a:pPr>
            <a:r>
              <a:rPr lang="en-US" sz="1250" dirty="0">
                <a:solidFill>
                  <a:srgbClr val="B8BABB"/>
                </a:solidFill>
                <a:latin typeface="Calibri" pitchFamily="34" charset="0"/>
                <a:ea typeface="Calibri" pitchFamily="34" charset="-122"/>
                <a:cs typeface="Calibri" pitchFamily="34" charset="-120"/>
              </a:rPr>
              <a:t>up to 25 members</a:t>
            </a:r>
            <a:endParaRPr lang="en-US" sz="1250" dirty="0"/>
          </a:p>
        </p:txBody>
      </p:sp>
      <p:sp>
        <p:nvSpPr>
          <p:cNvPr id="10" name="Shape 7"/>
          <p:cNvSpPr/>
          <p:nvPr/>
        </p:nvSpPr>
        <p:spPr>
          <a:xfrm>
            <a:off x="3535591" y="2560320"/>
            <a:ext cx="10973" cy="1828800"/>
          </a:xfrm>
          <a:prstGeom prst="rect">
            <a:avLst/>
          </a:prstGeom>
          <a:solidFill>
            <a:srgbClr val="2A2F30"/>
          </a:solidFill>
          <a:ln/>
        </p:spPr>
      </p:sp>
      <p:sp>
        <p:nvSpPr>
          <p:cNvPr id="11" name="Text 8"/>
          <p:cNvSpPr txBox="1"/>
          <p:nvPr/>
        </p:nvSpPr>
        <p:spPr>
          <a:xfrm>
            <a:off x="3782479" y="2651760"/>
            <a:ext cx="2084768" cy="292608"/>
          </a:xfrm>
          <a:prstGeom prst="rect">
            <a:avLst/>
          </a:prstGeom>
          <a:noFill/>
          <a:ln/>
        </p:spPr>
        <p:txBody>
          <a:bodyPr wrap="square" lIns="0" tIns="0" rIns="0" bIns="0" rtlCol="0" anchor="ctr"/>
          <a:lstStyle/>
          <a:p>
            <a:pPr indent="0" marL="0">
              <a:buNone/>
            </a:pPr>
            <a:r>
              <a:rPr lang="en-US" sz="1100" spc="300" kern="0" dirty="0">
                <a:solidFill>
                  <a:srgbClr val="7A7D7E"/>
                </a:solidFill>
                <a:latin typeface="Courier New" pitchFamily="34" charset="0"/>
                <a:ea typeface="Courier New" pitchFamily="34" charset="-122"/>
                <a:cs typeface="Courier New" pitchFamily="34" charset="-120"/>
              </a:rPr>
              <a:t>PRO</a:t>
            </a:r>
            <a:endParaRPr lang="en-US" sz="1100" dirty="0"/>
          </a:p>
        </p:txBody>
      </p:sp>
      <p:sp>
        <p:nvSpPr>
          <p:cNvPr id="12" name="Text 9"/>
          <p:cNvSpPr txBox="1"/>
          <p:nvPr/>
        </p:nvSpPr>
        <p:spPr>
          <a:xfrm>
            <a:off x="3782479" y="3017520"/>
            <a:ext cx="2084768" cy="868680"/>
          </a:xfrm>
          <a:prstGeom prst="rect">
            <a:avLst/>
          </a:prstGeom>
          <a:noFill/>
          <a:ln/>
        </p:spPr>
        <p:txBody>
          <a:bodyPr wrap="square" lIns="0" tIns="0" rIns="0" bIns="0" rtlCol="0" anchor="ctr"/>
          <a:lstStyle/>
          <a:p>
            <a:pPr indent="0" marL="0">
              <a:buNone/>
            </a:pPr>
            <a:r>
              <a:rPr lang="en-US" sz="4400" dirty="0">
                <a:solidFill>
                  <a:srgbClr val="EABA58"/>
                </a:solidFill>
                <a:latin typeface="Cambria" pitchFamily="34" charset="0"/>
                <a:ea typeface="Cambria" pitchFamily="34" charset="-122"/>
                <a:cs typeface="Cambria" pitchFamily="34" charset="-120"/>
              </a:rPr>
              <a:t>$59</a:t>
            </a:r>
            <a:endParaRPr lang="en-US" sz="4400" dirty="0"/>
          </a:p>
        </p:txBody>
      </p:sp>
      <p:sp>
        <p:nvSpPr>
          <p:cNvPr id="13" name="Text 10"/>
          <p:cNvSpPr txBox="1"/>
          <p:nvPr/>
        </p:nvSpPr>
        <p:spPr>
          <a:xfrm>
            <a:off x="3782479" y="3950208"/>
            <a:ext cx="2084768" cy="320040"/>
          </a:xfrm>
          <a:prstGeom prst="rect">
            <a:avLst/>
          </a:prstGeom>
          <a:noFill/>
          <a:ln/>
        </p:spPr>
        <p:txBody>
          <a:bodyPr wrap="square" lIns="0" tIns="0" rIns="0" bIns="0" rtlCol="0" anchor="ctr"/>
          <a:lstStyle/>
          <a:p>
            <a:pPr indent="0" marL="0">
              <a:buNone/>
            </a:pPr>
            <a:r>
              <a:rPr lang="en-US" sz="1250" dirty="0">
                <a:solidFill>
                  <a:srgbClr val="B8BABB"/>
                </a:solidFill>
                <a:latin typeface="Calibri" pitchFamily="34" charset="0"/>
                <a:ea typeface="Calibri" pitchFamily="34" charset="-122"/>
                <a:cs typeface="Calibri" pitchFamily="34" charset="-120"/>
              </a:rPr>
              <a:t>up to 250 members</a:t>
            </a:r>
            <a:endParaRPr lang="en-US" sz="1250" dirty="0"/>
          </a:p>
        </p:txBody>
      </p:sp>
      <p:sp>
        <p:nvSpPr>
          <p:cNvPr id="14" name="Shape 11"/>
          <p:cNvSpPr/>
          <p:nvPr/>
        </p:nvSpPr>
        <p:spPr>
          <a:xfrm>
            <a:off x="6077560" y="2560320"/>
            <a:ext cx="10973" cy="1828800"/>
          </a:xfrm>
          <a:prstGeom prst="rect">
            <a:avLst/>
          </a:prstGeom>
          <a:solidFill>
            <a:srgbClr val="2A2F30"/>
          </a:solidFill>
          <a:ln/>
        </p:spPr>
      </p:sp>
      <p:sp>
        <p:nvSpPr>
          <p:cNvPr id="15" name="Text 12"/>
          <p:cNvSpPr txBox="1"/>
          <p:nvPr/>
        </p:nvSpPr>
        <p:spPr>
          <a:xfrm>
            <a:off x="6324448" y="2651760"/>
            <a:ext cx="2084768" cy="292608"/>
          </a:xfrm>
          <a:prstGeom prst="rect">
            <a:avLst/>
          </a:prstGeom>
          <a:noFill/>
          <a:ln/>
        </p:spPr>
        <p:txBody>
          <a:bodyPr wrap="square" lIns="0" tIns="0" rIns="0" bIns="0" rtlCol="0" anchor="ctr"/>
          <a:lstStyle/>
          <a:p>
            <a:pPr indent="0" marL="0">
              <a:buNone/>
            </a:pPr>
            <a:r>
              <a:rPr lang="en-US" sz="1100" spc="300" kern="0" dirty="0">
                <a:solidFill>
                  <a:srgbClr val="7A7D7E"/>
                </a:solidFill>
                <a:latin typeface="Courier New" pitchFamily="34" charset="0"/>
                <a:ea typeface="Courier New" pitchFamily="34" charset="-122"/>
                <a:cs typeface="Courier New" pitchFamily="34" charset="-120"/>
              </a:rPr>
              <a:t>PLUS</a:t>
            </a:r>
            <a:endParaRPr lang="en-US" sz="1100" dirty="0"/>
          </a:p>
        </p:txBody>
      </p:sp>
      <p:sp>
        <p:nvSpPr>
          <p:cNvPr id="16" name="Text 13"/>
          <p:cNvSpPr txBox="1"/>
          <p:nvPr/>
        </p:nvSpPr>
        <p:spPr>
          <a:xfrm>
            <a:off x="6324448" y="3017520"/>
            <a:ext cx="2084768" cy="868680"/>
          </a:xfrm>
          <a:prstGeom prst="rect">
            <a:avLst/>
          </a:prstGeom>
          <a:noFill/>
          <a:ln/>
        </p:spPr>
        <p:txBody>
          <a:bodyPr wrap="square" lIns="0" tIns="0" rIns="0" bIns="0" rtlCol="0" anchor="ctr"/>
          <a:lstStyle/>
          <a:p>
            <a:pPr indent="0" marL="0">
              <a:buNone/>
            </a:pPr>
            <a:r>
              <a:rPr lang="en-US" sz="4400" dirty="0">
                <a:solidFill>
                  <a:srgbClr val="F4F5F6"/>
                </a:solidFill>
                <a:latin typeface="Cambria" pitchFamily="34" charset="0"/>
                <a:ea typeface="Cambria" pitchFamily="34" charset="-122"/>
                <a:cs typeface="Cambria" pitchFamily="34" charset="-120"/>
              </a:rPr>
              <a:t>$179</a:t>
            </a:r>
            <a:endParaRPr lang="en-US" sz="4400" dirty="0"/>
          </a:p>
        </p:txBody>
      </p:sp>
      <p:sp>
        <p:nvSpPr>
          <p:cNvPr id="17" name="Text 14"/>
          <p:cNvSpPr txBox="1"/>
          <p:nvPr/>
        </p:nvSpPr>
        <p:spPr>
          <a:xfrm>
            <a:off x="6324448" y="3950208"/>
            <a:ext cx="2084768" cy="320040"/>
          </a:xfrm>
          <a:prstGeom prst="rect">
            <a:avLst/>
          </a:prstGeom>
          <a:noFill/>
          <a:ln/>
        </p:spPr>
        <p:txBody>
          <a:bodyPr wrap="square" lIns="0" tIns="0" rIns="0" bIns="0" rtlCol="0" anchor="ctr"/>
          <a:lstStyle/>
          <a:p>
            <a:pPr indent="0" marL="0">
              <a:buNone/>
            </a:pPr>
            <a:r>
              <a:rPr lang="en-US" sz="1250" dirty="0">
                <a:solidFill>
                  <a:srgbClr val="B8BABB"/>
                </a:solidFill>
                <a:latin typeface="Calibri" pitchFamily="34" charset="0"/>
                <a:ea typeface="Calibri" pitchFamily="34" charset="-122"/>
                <a:cs typeface="Calibri" pitchFamily="34" charset="-120"/>
              </a:rPr>
              <a:t>up to 1,000 members</a:t>
            </a:r>
            <a:endParaRPr lang="en-US" sz="1250" dirty="0"/>
          </a:p>
        </p:txBody>
      </p:sp>
      <p:sp>
        <p:nvSpPr>
          <p:cNvPr id="18" name="Shape 15"/>
          <p:cNvSpPr/>
          <p:nvPr/>
        </p:nvSpPr>
        <p:spPr>
          <a:xfrm>
            <a:off x="8619528" y="2560320"/>
            <a:ext cx="10973" cy="1828800"/>
          </a:xfrm>
          <a:prstGeom prst="rect">
            <a:avLst/>
          </a:prstGeom>
          <a:solidFill>
            <a:srgbClr val="2A2F30"/>
          </a:solidFill>
          <a:ln/>
        </p:spPr>
      </p:sp>
      <p:sp>
        <p:nvSpPr>
          <p:cNvPr id="19" name="Text 16"/>
          <p:cNvSpPr txBox="1"/>
          <p:nvPr/>
        </p:nvSpPr>
        <p:spPr>
          <a:xfrm>
            <a:off x="8866416" y="2651760"/>
            <a:ext cx="2084768" cy="292608"/>
          </a:xfrm>
          <a:prstGeom prst="rect">
            <a:avLst/>
          </a:prstGeom>
          <a:noFill/>
          <a:ln/>
        </p:spPr>
        <p:txBody>
          <a:bodyPr wrap="square" lIns="0" tIns="0" rIns="0" bIns="0" rtlCol="0" anchor="ctr"/>
          <a:lstStyle/>
          <a:p>
            <a:pPr indent="0" marL="0">
              <a:buNone/>
            </a:pPr>
            <a:r>
              <a:rPr lang="en-US" sz="1100" spc="300" kern="0" dirty="0">
                <a:solidFill>
                  <a:srgbClr val="7A7D7E"/>
                </a:solidFill>
                <a:latin typeface="Courier New" pitchFamily="34" charset="0"/>
                <a:ea typeface="Courier New" pitchFamily="34" charset="-122"/>
                <a:cs typeface="Courier New" pitchFamily="34" charset="-120"/>
              </a:rPr>
              <a:t>BUSINESS</a:t>
            </a:r>
            <a:endParaRPr lang="en-US" sz="1100" dirty="0"/>
          </a:p>
        </p:txBody>
      </p:sp>
      <p:sp>
        <p:nvSpPr>
          <p:cNvPr id="20" name="Text 17"/>
          <p:cNvSpPr txBox="1"/>
          <p:nvPr/>
        </p:nvSpPr>
        <p:spPr>
          <a:xfrm>
            <a:off x="8866416" y="3017520"/>
            <a:ext cx="2084768" cy="868680"/>
          </a:xfrm>
          <a:prstGeom prst="rect">
            <a:avLst/>
          </a:prstGeom>
          <a:noFill/>
          <a:ln/>
        </p:spPr>
        <p:txBody>
          <a:bodyPr wrap="square" lIns="0" tIns="0" rIns="0" bIns="0" rtlCol="0" anchor="ctr"/>
          <a:lstStyle/>
          <a:p>
            <a:pPr indent="0" marL="0">
              <a:buNone/>
            </a:pPr>
            <a:r>
              <a:rPr lang="en-US" sz="4400" dirty="0">
                <a:solidFill>
                  <a:srgbClr val="F4F5F6"/>
                </a:solidFill>
                <a:latin typeface="Cambria" pitchFamily="34" charset="0"/>
                <a:ea typeface="Cambria" pitchFamily="34" charset="-122"/>
                <a:cs typeface="Cambria" pitchFamily="34" charset="-120"/>
              </a:rPr>
              <a:t>$499</a:t>
            </a:r>
            <a:endParaRPr lang="en-US" sz="4400" dirty="0"/>
          </a:p>
        </p:txBody>
      </p:sp>
      <p:sp>
        <p:nvSpPr>
          <p:cNvPr id="21" name="Text 18"/>
          <p:cNvSpPr txBox="1"/>
          <p:nvPr/>
        </p:nvSpPr>
        <p:spPr>
          <a:xfrm>
            <a:off x="8866416" y="3950208"/>
            <a:ext cx="2084768" cy="320040"/>
          </a:xfrm>
          <a:prstGeom prst="rect">
            <a:avLst/>
          </a:prstGeom>
          <a:noFill/>
          <a:ln/>
        </p:spPr>
        <p:txBody>
          <a:bodyPr wrap="square" lIns="0" tIns="0" rIns="0" bIns="0" rtlCol="0" anchor="ctr"/>
          <a:lstStyle/>
          <a:p>
            <a:pPr indent="0" marL="0">
              <a:buNone/>
            </a:pPr>
            <a:r>
              <a:rPr lang="en-US" sz="1250" dirty="0">
                <a:solidFill>
                  <a:srgbClr val="B8BABB"/>
                </a:solidFill>
                <a:latin typeface="Calibri" pitchFamily="34" charset="0"/>
                <a:ea typeface="Calibri" pitchFamily="34" charset="-122"/>
                <a:cs typeface="Calibri" pitchFamily="34" charset="-120"/>
              </a:rPr>
              <a:t>up to 5,000 members</a:t>
            </a:r>
            <a:endParaRPr lang="en-US" sz="1250" dirty="0"/>
          </a:p>
        </p:txBody>
      </p:sp>
      <p:sp>
        <p:nvSpPr>
          <p:cNvPr id="22" name="Text 19"/>
          <p:cNvSpPr txBox="1"/>
          <p:nvPr/>
        </p:nvSpPr>
        <p:spPr>
          <a:xfrm>
            <a:off x="1011911" y="4800600"/>
            <a:ext cx="10167874" cy="292608"/>
          </a:xfrm>
          <a:prstGeom prst="rect">
            <a:avLst/>
          </a:prstGeom>
          <a:noFill/>
          <a:ln/>
        </p:spPr>
        <p:txBody>
          <a:bodyPr wrap="square" lIns="0" tIns="0" rIns="0" bIns="0" rtlCol="0" anchor="ctr"/>
          <a:lstStyle/>
          <a:p>
            <a:pPr indent="0" marL="0">
              <a:buNone/>
            </a:pPr>
            <a:r>
              <a:rPr lang="en-US" sz="1050" spc="200" kern="0" dirty="0">
                <a:solidFill>
                  <a:srgbClr val="7A7D7E"/>
                </a:solidFill>
                <a:latin typeface="Courier New" pitchFamily="34" charset="0"/>
                <a:ea typeface="Courier New" pitchFamily="34" charset="-122"/>
                <a:cs typeface="Courier New" pitchFamily="34" charset="-120"/>
              </a:rPr>
              <a:t>RATIFICATIONS · ELECTIONS · BYLAW VOTES  ·  ONE-TIME VERIFICATION UNLOCKS $199–$999</a:t>
            </a:r>
            <a:endParaRPr lang="en-US" sz="1050" dirty="0"/>
          </a:p>
        </p:txBody>
      </p:sp>
      <p:sp>
        <p:nvSpPr>
          <p:cNvPr id="23" name="Text 20"/>
          <p:cNvSpPr txBox="1"/>
          <p:nvPr/>
        </p:nvSpPr>
        <p:spPr>
          <a:xfrm>
            <a:off x="1011911" y="5349240"/>
            <a:ext cx="9601200" cy="640080"/>
          </a:xfrm>
          <a:prstGeom prst="rect">
            <a:avLst/>
          </a:prstGeom>
          <a:noFill/>
          <a:ln/>
        </p:spPr>
        <p:txBody>
          <a:bodyPr wrap="square" lIns="0" tIns="0" rIns="0" bIns="0" rtlCol="0" anchor="ctr"/>
          <a:lstStyle/>
          <a:p>
            <a:pPr indent="0" marL="0">
              <a:lnSpc>
                <a:spcPct val="130000"/>
              </a:lnSpc>
              <a:buNone/>
            </a:pPr>
            <a:r>
              <a:rPr lang="en-US" sz="1400" dirty="0">
                <a:solidFill>
                  <a:srgbClr val="B8BABB"/>
                </a:solidFill>
                <a:latin typeface="Calibri" pitchFamily="34" charset="0"/>
                <a:ea typeface="Calibri" pitchFamily="34" charset="-122"/>
                <a:cs typeface="Calibri" pitchFamily="34" charset="-120"/>
              </a:rPr>
              <a:t>ElectionBuddy and Simply Voting are profitable in exactly this market. Neither verifies identity. Neither has a public ledger.</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40707"/>
        </a:solidFill>
      </p:bgPr>
    </p:bg>
    <p:spTree>
      <p:nvGrpSpPr>
        <p:cNvPr id="1" name=""/>
        <p:cNvGrpSpPr/>
        <p:nvPr/>
      </p:nvGrpSpPr>
      <p:grpSpPr>
        <a:xfrm>
          <a:off x="0" y="0"/>
          <a:ext cx="0" cy="0"/>
          <a:chOff x="0" y="0"/>
          <a:chExt cx="0" cy="0"/>
        </a:xfrm>
      </p:grpSpPr>
      <p:sp>
        <p:nvSpPr>
          <p:cNvPr id="2" name="Text 0"/>
          <p:cNvSpPr txBox="1"/>
          <p:nvPr/>
        </p:nvSpPr>
        <p:spPr>
          <a:xfrm>
            <a:off x="1011911" y="6382512"/>
            <a:ext cx="2743200" cy="274320"/>
          </a:xfrm>
          <a:prstGeom prst="rect">
            <a:avLst/>
          </a:prstGeom>
          <a:noFill/>
          <a:ln/>
        </p:spPr>
        <p:txBody>
          <a:bodyPr wrap="square" lIns="0" tIns="0" rIns="0" bIns="0" rtlCol="0" anchor="ctr"/>
          <a:lstStyle/>
          <a:p>
            <a:pPr indent="0" marL="0">
              <a:buNone/>
            </a:pPr>
            <a:r>
              <a:rPr lang="en-US" sz="900" spc="400" kern="0" dirty="0">
                <a:solidFill>
                  <a:srgbClr val="7A7D7E"/>
                </a:solidFill>
                <a:latin typeface="Courier New" pitchFamily="34" charset="0"/>
                <a:ea typeface="Courier New" pitchFamily="34" charset="-122"/>
                <a:cs typeface="Courier New" pitchFamily="34" charset="-120"/>
              </a:rPr>
              <a:t>REPRESENT</a:t>
            </a:r>
            <a:endParaRPr lang="en-US" sz="900" dirty="0"/>
          </a:p>
        </p:txBody>
      </p:sp>
      <p:sp>
        <p:nvSpPr>
          <p:cNvPr id="3" name="Text 1"/>
          <p:cNvSpPr txBox="1"/>
          <p:nvPr/>
        </p:nvSpPr>
        <p:spPr>
          <a:xfrm>
            <a:off x="9350984" y="6382512"/>
            <a:ext cx="1828800" cy="274320"/>
          </a:xfrm>
          <a:prstGeom prst="rect">
            <a:avLst/>
          </a:prstGeom>
          <a:noFill/>
          <a:ln/>
        </p:spPr>
        <p:txBody>
          <a:bodyPr wrap="square" lIns="0" tIns="0" rIns="0" bIns="0" rtlCol="0" anchor="ctr"/>
          <a:lstStyle/>
          <a:p>
            <a:pPr algn="r" indent="0" marL="0">
              <a:buNone/>
            </a:pPr>
            <a:r>
              <a:rPr lang="en-US" sz="900" spc="200" kern="0" dirty="0">
                <a:solidFill>
                  <a:srgbClr val="7A7D7E"/>
                </a:solidFill>
                <a:latin typeface="Courier New" pitchFamily="34" charset="0"/>
                <a:ea typeface="Courier New" pitchFamily="34" charset="-122"/>
                <a:cs typeface="Courier New" pitchFamily="34" charset="-120"/>
              </a:rPr>
              <a:t>12 / 16</a:t>
            </a:r>
            <a:endParaRPr lang="en-US" sz="900" dirty="0"/>
          </a:p>
        </p:txBody>
      </p:sp>
      <p:sp>
        <p:nvSpPr>
          <p:cNvPr id="4" name="Text 2"/>
          <p:cNvSpPr txBox="1"/>
          <p:nvPr/>
        </p:nvSpPr>
        <p:spPr>
          <a:xfrm>
            <a:off x="7064984" y="546354"/>
            <a:ext cx="4114800" cy="274320"/>
          </a:xfrm>
          <a:prstGeom prst="rect">
            <a:avLst/>
          </a:prstGeom>
          <a:noFill/>
          <a:ln/>
        </p:spPr>
        <p:txBody>
          <a:bodyPr wrap="square" lIns="0" tIns="0" rIns="0" bIns="0" rtlCol="0" anchor="ctr"/>
          <a:lstStyle/>
          <a:p>
            <a:pPr algn="r" indent="0" marL="0">
              <a:buNone/>
            </a:pPr>
            <a:r>
              <a:rPr lang="en-US" sz="950" spc="300" kern="0" dirty="0">
                <a:solidFill>
                  <a:srgbClr val="7A7D7E"/>
                </a:solidFill>
                <a:latin typeface="Courier New" pitchFamily="34" charset="0"/>
                <a:ea typeface="Courier New" pitchFamily="34" charset="-122"/>
                <a:cs typeface="Courier New" pitchFamily="34" charset="-120"/>
              </a:rPr>
              <a:t>III · THE BUSINESS</a:t>
            </a:r>
            <a:endParaRPr lang="en-US" sz="950" dirty="0"/>
          </a:p>
        </p:txBody>
      </p:sp>
      <p:sp>
        <p:nvSpPr>
          <p:cNvPr id="6" name="Text 3"/>
          <p:cNvSpPr txBox="1"/>
          <p:nvPr/>
        </p:nvSpPr>
        <p:spPr>
          <a:xfrm>
            <a:off x="1011911" y="1508760"/>
            <a:ext cx="10167874" cy="2194560"/>
          </a:xfrm>
          <a:prstGeom prst="rect">
            <a:avLst/>
          </a:prstGeom>
          <a:noFill/>
          <a:ln/>
        </p:spPr>
        <p:txBody>
          <a:bodyPr wrap="square" lIns="0" tIns="0" rIns="0" bIns="0" rtlCol="0" anchor="t"/>
          <a:lstStyle/>
          <a:p>
            <a:pPr algn="l" indent="0" marL="0">
              <a:lnSpc>
                <a:spcPct val="108000"/>
              </a:lnSpc>
              <a:buNone/>
            </a:pPr>
            <a:r>
              <a:rPr lang="en-US" sz="4000" dirty="0">
                <a:solidFill>
                  <a:srgbClr val="F4F5F6"/>
                </a:solidFill>
                <a:latin typeface="Cambria" pitchFamily="34" charset="0"/>
                <a:ea typeface="Cambria" pitchFamily="34" charset="-122"/>
                <a:cs typeface="Cambria" pitchFamily="34" charset="-120"/>
              </a:rPr>
              <a:t>You can ignore one voice.</a:t>
            </a:r>
            <a:endParaRPr lang="en-US" sz="4000" dirty="0"/>
          </a:p>
          <a:p>
            <a:pPr algn="l" indent="0" marL="0">
              <a:lnSpc>
                <a:spcPct val="108000"/>
              </a:lnSpc>
              <a:buNone/>
            </a:pPr>
            <a:r>
              <a:rPr lang="en-US" sz="4000" dirty="0">
                <a:solidFill>
                  <a:srgbClr val="EABA58"/>
                </a:solidFill>
                <a:latin typeface="Cambria" pitchFamily="34" charset="0"/>
                <a:ea typeface="Cambria" pitchFamily="34" charset="-122"/>
                <a:cs typeface="Cambria" pitchFamily="34" charset="-120"/>
              </a:rPr>
              <a:t>You cannot ignore a verified majority.</a:t>
            </a:r>
            <a:endParaRPr lang="en-US" sz="4000" dirty="0"/>
          </a:p>
        </p:txBody>
      </p:sp>
      <p:sp>
        <p:nvSpPr>
          <p:cNvPr id="7" name="Text 4"/>
          <p:cNvSpPr txBox="1"/>
          <p:nvPr/>
        </p:nvSpPr>
        <p:spPr>
          <a:xfrm>
            <a:off x="1011911" y="2697480"/>
            <a:ext cx="548640" cy="365760"/>
          </a:xfrm>
          <a:prstGeom prst="rect">
            <a:avLst/>
          </a:prstGeom>
          <a:noFill/>
          <a:ln/>
        </p:spPr>
        <p:txBody>
          <a:bodyPr wrap="square" lIns="0" tIns="0" rIns="0" bIns="0" rtlCol="0" anchor="ctr"/>
          <a:lstStyle/>
          <a:p>
            <a:pPr indent="0" marL="0">
              <a:buNone/>
            </a:pPr>
            <a:r>
              <a:rPr lang="en-US" sz="1200" dirty="0">
                <a:solidFill>
                  <a:srgbClr val="C99A38"/>
                </a:solidFill>
                <a:latin typeface="Courier New" pitchFamily="34" charset="0"/>
                <a:ea typeface="Courier New" pitchFamily="34" charset="-122"/>
                <a:cs typeface="Courier New" pitchFamily="34" charset="-120"/>
              </a:rPr>
              <a:t>01</a:t>
            </a:r>
            <a:endParaRPr lang="en-US" sz="1200" dirty="0"/>
          </a:p>
        </p:txBody>
      </p:sp>
      <p:sp>
        <p:nvSpPr>
          <p:cNvPr id="8" name="Text 5"/>
          <p:cNvSpPr txBox="1"/>
          <p:nvPr/>
        </p:nvSpPr>
        <p:spPr>
          <a:xfrm>
            <a:off x="1651991" y="2697480"/>
            <a:ext cx="8778240" cy="365760"/>
          </a:xfrm>
          <a:prstGeom prst="rect">
            <a:avLst/>
          </a:prstGeom>
          <a:noFill/>
          <a:ln/>
        </p:spPr>
        <p:txBody>
          <a:bodyPr wrap="square" lIns="0" tIns="0" rIns="0" bIns="0" rtlCol="0" anchor="ctr"/>
          <a:lstStyle/>
          <a:p>
            <a:pPr indent="0" marL="0">
              <a:buNone/>
            </a:pPr>
            <a:r>
              <a:rPr lang="en-US" sz="1250" spc="200" kern="0" dirty="0">
                <a:solidFill>
                  <a:srgbClr val="B8BABB"/>
                </a:solidFill>
                <a:latin typeface="Courier New" pitchFamily="34" charset="0"/>
                <a:ea typeface="Courier New" pitchFamily="34" charset="-122"/>
                <a:cs typeface="Courier New" pitchFamily="34" charset="-120"/>
              </a:rPr>
              <a:t>ORGANIZATIONS FUND THE BUSINESS</a:t>
            </a:r>
            <a:endParaRPr lang="en-US" sz="1250" dirty="0"/>
          </a:p>
        </p:txBody>
      </p:sp>
      <p:sp>
        <p:nvSpPr>
          <p:cNvPr id="9" name="Shape 6"/>
          <p:cNvSpPr/>
          <p:nvPr/>
        </p:nvSpPr>
        <p:spPr>
          <a:xfrm>
            <a:off x="1011911" y="3172968"/>
            <a:ext cx="9418320" cy="10973"/>
          </a:xfrm>
          <a:prstGeom prst="rect">
            <a:avLst/>
          </a:prstGeom>
          <a:solidFill>
            <a:srgbClr val="2A2F30"/>
          </a:solidFill>
          <a:ln/>
        </p:spPr>
      </p:sp>
      <p:sp>
        <p:nvSpPr>
          <p:cNvPr id="10" name="Text 7"/>
          <p:cNvSpPr txBox="1"/>
          <p:nvPr/>
        </p:nvSpPr>
        <p:spPr>
          <a:xfrm>
            <a:off x="1011911" y="3410712"/>
            <a:ext cx="548640" cy="365760"/>
          </a:xfrm>
          <a:prstGeom prst="rect">
            <a:avLst/>
          </a:prstGeom>
          <a:noFill/>
          <a:ln/>
        </p:spPr>
        <p:txBody>
          <a:bodyPr wrap="square" lIns="0" tIns="0" rIns="0" bIns="0" rtlCol="0" anchor="ctr"/>
          <a:lstStyle/>
          <a:p>
            <a:pPr indent="0" marL="0">
              <a:buNone/>
            </a:pPr>
            <a:r>
              <a:rPr lang="en-US" sz="1200" dirty="0">
                <a:solidFill>
                  <a:srgbClr val="C99A38"/>
                </a:solidFill>
                <a:latin typeface="Courier New" pitchFamily="34" charset="0"/>
                <a:ea typeface="Courier New" pitchFamily="34" charset="-122"/>
                <a:cs typeface="Courier New" pitchFamily="34" charset="-120"/>
              </a:rPr>
              <a:t>02</a:t>
            </a:r>
            <a:endParaRPr lang="en-US" sz="1200" dirty="0"/>
          </a:p>
        </p:txBody>
      </p:sp>
      <p:sp>
        <p:nvSpPr>
          <p:cNvPr id="11" name="Text 8"/>
          <p:cNvSpPr txBox="1"/>
          <p:nvPr/>
        </p:nvSpPr>
        <p:spPr>
          <a:xfrm>
            <a:off x="1651991" y="3410712"/>
            <a:ext cx="8778240" cy="365760"/>
          </a:xfrm>
          <a:prstGeom prst="rect">
            <a:avLst/>
          </a:prstGeom>
          <a:noFill/>
          <a:ln/>
        </p:spPr>
        <p:txBody>
          <a:bodyPr wrap="square" lIns="0" tIns="0" rIns="0" bIns="0" rtlCol="0" anchor="ctr"/>
          <a:lstStyle/>
          <a:p>
            <a:pPr indent="0" marL="0">
              <a:buNone/>
            </a:pPr>
            <a:r>
              <a:rPr lang="en-US" sz="1250" spc="200" kern="0" dirty="0">
                <a:solidFill>
                  <a:srgbClr val="B8BABB"/>
                </a:solidFill>
                <a:latin typeface="Courier New" pitchFamily="34" charset="0"/>
                <a:ea typeface="Courier New" pitchFamily="34" charset="-122"/>
                <a:cs typeface="Courier New" pitchFamily="34" charset="-120"/>
              </a:rPr>
              <a:t>EVERY MEMBER VERIFIED ADDS TO THE NETWORK</a:t>
            </a:r>
            <a:endParaRPr lang="en-US" sz="1250" dirty="0"/>
          </a:p>
        </p:txBody>
      </p:sp>
      <p:sp>
        <p:nvSpPr>
          <p:cNvPr id="12" name="Shape 9"/>
          <p:cNvSpPr/>
          <p:nvPr/>
        </p:nvSpPr>
        <p:spPr>
          <a:xfrm>
            <a:off x="1011911" y="3886200"/>
            <a:ext cx="9418320" cy="10973"/>
          </a:xfrm>
          <a:prstGeom prst="rect">
            <a:avLst/>
          </a:prstGeom>
          <a:solidFill>
            <a:srgbClr val="2A2F30"/>
          </a:solidFill>
          <a:ln/>
        </p:spPr>
      </p:sp>
      <p:sp>
        <p:nvSpPr>
          <p:cNvPr id="13" name="Text 10"/>
          <p:cNvSpPr txBox="1"/>
          <p:nvPr/>
        </p:nvSpPr>
        <p:spPr>
          <a:xfrm>
            <a:off x="1011911" y="4123944"/>
            <a:ext cx="548640" cy="365760"/>
          </a:xfrm>
          <a:prstGeom prst="rect">
            <a:avLst/>
          </a:prstGeom>
          <a:noFill/>
          <a:ln/>
        </p:spPr>
        <p:txBody>
          <a:bodyPr wrap="square" lIns="0" tIns="0" rIns="0" bIns="0" rtlCol="0" anchor="ctr"/>
          <a:lstStyle/>
          <a:p>
            <a:pPr indent="0" marL="0">
              <a:buNone/>
            </a:pPr>
            <a:r>
              <a:rPr lang="en-US" sz="1200" dirty="0">
                <a:solidFill>
                  <a:srgbClr val="C99A38"/>
                </a:solidFill>
                <a:latin typeface="Courier New" pitchFamily="34" charset="0"/>
                <a:ea typeface="Courier New" pitchFamily="34" charset="-122"/>
                <a:cs typeface="Courier New" pitchFamily="34" charset="-120"/>
              </a:rPr>
              <a:t>03</a:t>
            </a:r>
            <a:endParaRPr lang="en-US" sz="1200" dirty="0"/>
          </a:p>
        </p:txBody>
      </p:sp>
      <p:sp>
        <p:nvSpPr>
          <p:cNvPr id="14" name="Text 11"/>
          <p:cNvSpPr txBox="1"/>
          <p:nvPr/>
        </p:nvSpPr>
        <p:spPr>
          <a:xfrm>
            <a:off x="1651991" y="4123944"/>
            <a:ext cx="8778240" cy="365760"/>
          </a:xfrm>
          <a:prstGeom prst="rect">
            <a:avLst/>
          </a:prstGeom>
          <a:noFill/>
          <a:ln/>
        </p:spPr>
        <p:txBody>
          <a:bodyPr wrap="square" lIns="0" tIns="0" rIns="0" bIns="0" rtlCol="0" anchor="ctr"/>
          <a:lstStyle/>
          <a:p>
            <a:pPr indent="0" marL="0">
              <a:buNone/>
            </a:pPr>
            <a:r>
              <a:rPr lang="en-US" sz="1250" spc="200" kern="0" dirty="0">
                <a:solidFill>
                  <a:srgbClr val="B8BABB"/>
                </a:solidFill>
                <a:latin typeface="Courier New" pitchFamily="34" charset="0"/>
                <a:ea typeface="Courier New" pitchFamily="34" charset="-122"/>
                <a:cs typeface="Courier New" pitchFamily="34" charset="-120"/>
              </a:rPr>
              <a:t>VERIFIED DENSITY CONCENTRATES — ALBERTA FIRST</a:t>
            </a:r>
            <a:endParaRPr lang="en-US" sz="1250" dirty="0"/>
          </a:p>
        </p:txBody>
      </p:sp>
      <p:sp>
        <p:nvSpPr>
          <p:cNvPr id="15" name="Shape 12"/>
          <p:cNvSpPr/>
          <p:nvPr/>
        </p:nvSpPr>
        <p:spPr>
          <a:xfrm>
            <a:off x="1011911" y="4599432"/>
            <a:ext cx="9418320" cy="10973"/>
          </a:xfrm>
          <a:prstGeom prst="rect">
            <a:avLst/>
          </a:prstGeom>
          <a:solidFill>
            <a:srgbClr val="2A2F30"/>
          </a:solidFill>
          <a:ln/>
        </p:spPr>
      </p:sp>
      <p:sp>
        <p:nvSpPr>
          <p:cNvPr id="16" name="Text 13"/>
          <p:cNvSpPr txBox="1"/>
          <p:nvPr/>
        </p:nvSpPr>
        <p:spPr>
          <a:xfrm>
            <a:off x="1011911" y="4837176"/>
            <a:ext cx="548640" cy="365760"/>
          </a:xfrm>
          <a:prstGeom prst="rect">
            <a:avLst/>
          </a:prstGeom>
          <a:noFill/>
          <a:ln/>
        </p:spPr>
        <p:txBody>
          <a:bodyPr wrap="square" lIns="0" tIns="0" rIns="0" bIns="0" rtlCol="0" anchor="ctr"/>
          <a:lstStyle/>
          <a:p>
            <a:pPr indent="0" marL="0">
              <a:buNone/>
            </a:pPr>
            <a:r>
              <a:rPr lang="en-US" sz="1200" dirty="0">
                <a:solidFill>
                  <a:srgbClr val="C99A38"/>
                </a:solidFill>
                <a:latin typeface="Courier New" pitchFamily="34" charset="0"/>
                <a:ea typeface="Courier New" pitchFamily="34" charset="-122"/>
                <a:cs typeface="Courier New" pitchFamily="34" charset="-120"/>
              </a:rPr>
              <a:t>04</a:t>
            </a:r>
            <a:endParaRPr lang="en-US" sz="1200" dirty="0"/>
          </a:p>
        </p:txBody>
      </p:sp>
      <p:sp>
        <p:nvSpPr>
          <p:cNvPr id="17" name="Text 14"/>
          <p:cNvSpPr txBox="1"/>
          <p:nvPr/>
        </p:nvSpPr>
        <p:spPr>
          <a:xfrm>
            <a:off x="1651991" y="4837176"/>
            <a:ext cx="8778240" cy="365760"/>
          </a:xfrm>
          <a:prstGeom prst="rect">
            <a:avLst/>
          </a:prstGeom>
          <a:noFill/>
          <a:ln/>
        </p:spPr>
        <p:txBody>
          <a:bodyPr wrap="square" lIns="0" tIns="0" rIns="0" bIns="0" rtlCol="0" anchor="ctr"/>
          <a:lstStyle/>
          <a:p>
            <a:pPr indent="0" marL="0">
              <a:buNone/>
            </a:pPr>
            <a:r>
              <a:rPr lang="en-US" sz="1250" spc="200" kern="0" dirty="0">
                <a:solidFill>
                  <a:srgbClr val="F4F5F6"/>
                </a:solidFill>
                <a:latin typeface="Courier New" pitchFamily="34" charset="0"/>
                <a:ea typeface="Courier New" pitchFamily="34" charset="-122"/>
                <a:cs typeface="Courier New" pitchFamily="34" charset="-120"/>
              </a:rPr>
              <a:t>NOTHING LEFT TO DISMISS</a:t>
            </a:r>
            <a:endParaRPr lang="en-US" sz="1250" dirty="0"/>
          </a:p>
        </p:txBody>
      </p:sp>
      <p:sp>
        <p:nvSpPr>
          <p:cNvPr id="18" name="Shape 15"/>
          <p:cNvSpPr/>
          <p:nvPr/>
        </p:nvSpPr>
        <p:spPr>
          <a:xfrm>
            <a:off x="1011911" y="5312664"/>
            <a:ext cx="9418320" cy="10973"/>
          </a:xfrm>
          <a:prstGeom prst="rect">
            <a:avLst/>
          </a:prstGeom>
          <a:solidFill>
            <a:srgbClr val="2A2F30"/>
          </a:solidFill>
          <a:ln/>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40707"/>
        </a:solidFill>
      </p:bgPr>
    </p:bg>
    <p:spTree>
      <p:nvGrpSpPr>
        <p:cNvPr id="1" name=""/>
        <p:cNvGrpSpPr/>
        <p:nvPr/>
      </p:nvGrpSpPr>
      <p:grpSpPr>
        <a:xfrm>
          <a:off x="0" y="0"/>
          <a:ext cx="0" cy="0"/>
          <a:chOff x="0" y="0"/>
          <a:chExt cx="0" cy="0"/>
        </a:xfrm>
      </p:grpSpPr>
      <p:pic>
        <p:nvPicPr>
          <p:cNvPr id="3" name="Image 0" descr="/home/user/rpv-mobile-clone/pitch/ultimate/kitchen-scrim.jpg">    </p:cNvPr>
          <p:cNvPicPr>
            <a:picLocks noChangeAspect="1"/>
          </p:cNvPicPr>
          <p:nvPr/>
        </p:nvPicPr>
        <p:blipFill>
          <a:blip r:embed="rId1"/>
          <a:stretch>
            <a:fillRect/>
          </a:stretch>
        </p:blipFill>
        <p:spPr>
          <a:xfrm>
            <a:off x="6827733" y="0"/>
            <a:ext cx="5363962" cy="6858000"/>
          </a:xfrm>
          <a:prstGeom prst="rect">
            <a:avLst/>
          </a:prstGeom>
        </p:spPr>
      </p:pic>
      <p:sp>
        <p:nvSpPr>
          <p:cNvPr id="4" name="Text 0"/>
          <p:cNvSpPr txBox="1"/>
          <p:nvPr/>
        </p:nvSpPr>
        <p:spPr>
          <a:xfrm>
            <a:off x="1011911" y="1554480"/>
            <a:ext cx="6095848" cy="2194560"/>
          </a:xfrm>
          <a:prstGeom prst="rect">
            <a:avLst/>
          </a:prstGeom>
          <a:noFill/>
          <a:ln/>
        </p:spPr>
        <p:txBody>
          <a:bodyPr wrap="square" lIns="0" tIns="0" rIns="0" bIns="0" rtlCol="0" anchor="t"/>
          <a:lstStyle/>
          <a:p>
            <a:pPr algn="l" indent="0" marL="0">
              <a:lnSpc>
                <a:spcPct val="108000"/>
              </a:lnSpc>
              <a:buNone/>
            </a:pPr>
            <a:r>
              <a:rPr lang="en-US" sz="3800" dirty="0">
                <a:solidFill>
                  <a:srgbClr val="F4F5F6"/>
                </a:solidFill>
                <a:latin typeface="Cambria" pitchFamily="34" charset="0"/>
                <a:ea typeface="Cambria" pitchFamily="34" charset="-122"/>
                <a:cs typeface="Cambria" pitchFamily="34" charset="-120"/>
              </a:rPr>
              <a:t>Started at a kitchen table</a:t>
            </a:r>
            <a:endParaRPr lang="en-US" sz="3800" dirty="0"/>
          </a:p>
          <a:p>
            <a:pPr algn="l" indent="0" marL="0">
              <a:lnSpc>
                <a:spcPct val="108000"/>
              </a:lnSpc>
              <a:buNone/>
            </a:pPr>
            <a:r>
              <a:rPr lang="en-US" sz="3800" dirty="0">
                <a:solidFill>
                  <a:srgbClr val="F4F5F6"/>
                </a:solidFill>
                <a:latin typeface="Cambria" pitchFamily="34" charset="0"/>
                <a:ea typeface="Cambria" pitchFamily="34" charset="-122"/>
                <a:cs typeface="Cambria" pitchFamily="34" charset="-120"/>
              </a:rPr>
              <a:t>in Calgary.</a:t>
            </a:r>
            <a:endParaRPr lang="en-US" sz="3800" dirty="0"/>
          </a:p>
        </p:txBody>
      </p:sp>
      <p:sp>
        <p:nvSpPr>
          <p:cNvPr id="5" name="Text 1"/>
          <p:cNvSpPr txBox="1"/>
          <p:nvPr/>
        </p:nvSpPr>
        <p:spPr>
          <a:xfrm>
            <a:off x="1011911" y="3931920"/>
            <a:ext cx="1737360" cy="365760"/>
          </a:xfrm>
          <a:prstGeom prst="rect">
            <a:avLst/>
          </a:prstGeom>
          <a:noFill/>
          <a:ln/>
        </p:spPr>
        <p:txBody>
          <a:bodyPr wrap="square" lIns="0" tIns="0" rIns="0" bIns="0" rtlCol="0" anchor="ctr"/>
          <a:lstStyle/>
          <a:p>
            <a:pPr indent="0" marL="0">
              <a:buNone/>
            </a:pPr>
            <a:r>
              <a:rPr lang="en-US" sz="1100" spc="300" kern="0" dirty="0">
                <a:solidFill>
                  <a:srgbClr val="7A7D7E"/>
                </a:solidFill>
                <a:latin typeface="Courier New" pitchFamily="34" charset="0"/>
                <a:ea typeface="Courier New" pitchFamily="34" charset="-122"/>
                <a:cs typeface="Courier New" pitchFamily="34" charset="-120"/>
              </a:rPr>
              <a:t>FOUNDER</a:t>
            </a:r>
            <a:endParaRPr lang="en-US" sz="1100" dirty="0"/>
          </a:p>
        </p:txBody>
      </p:sp>
      <p:sp>
        <p:nvSpPr>
          <p:cNvPr id="6" name="Text 2"/>
          <p:cNvSpPr txBox="1"/>
          <p:nvPr/>
        </p:nvSpPr>
        <p:spPr>
          <a:xfrm>
            <a:off x="2840711" y="3931920"/>
            <a:ext cx="4754880" cy="365760"/>
          </a:xfrm>
          <a:prstGeom prst="rect">
            <a:avLst/>
          </a:prstGeom>
          <a:noFill/>
          <a:ln/>
        </p:spPr>
        <p:txBody>
          <a:bodyPr wrap="square" lIns="0" tIns="0" rIns="0" bIns="0" rtlCol="0" anchor="ctr"/>
          <a:lstStyle/>
          <a:p>
            <a:pPr indent="0" marL="0">
              <a:buNone/>
            </a:pPr>
            <a:r>
              <a:rPr lang="en-US" sz="1450" dirty="0">
                <a:solidFill>
                  <a:srgbClr val="F4F5F6"/>
                </a:solidFill>
                <a:latin typeface="Calibri" pitchFamily="34" charset="0"/>
                <a:ea typeface="Calibri" pitchFamily="34" charset="-122"/>
                <a:cs typeface="Calibri" pitchFamily="34" charset="-120"/>
              </a:rPr>
              <a:t>Lance Morrison · self-funded start</a:t>
            </a:r>
            <a:endParaRPr lang="en-US" sz="1450" dirty="0"/>
          </a:p>
        </p:txBody>
      </p:sp>
      <p:sp>
        <p:nvSpPr>
          <p:cNvPr id="7" name="Text 3"/>
          <p:cNvSpPr txBox="1"/>
          <p:nvPr/>
        </p:nvSpPr>
        <p:spPr>
          <a:xfrm>
            <a:off x="1011911" y="4498848"/>
            <a:ext cx="1737360" cy="365760"/>
          </a:xfrm>
          <a:prstGeom prst="rect">
            <a:avLst/>
          </a:prstGeom>
          <a:noFill/>
          <a:ln/>
        </p:spPr>
        <p:txBody>
          <a:bodyPr wrap="square" lIns="0" tIns="0" rIns="0" bIns="0" rtlCol="0" anchor="ctr"/>
          <a:lstStyle/>
          <a:p>
            <a:pPr indent="0" marL="0">
              <a:buNone/>
            </a:pPr>
            <a:r>
              <a:rPr lang="en-US" sz="1100" spc="300" kern="0" dirty="0">
                <a:solidFill>
                  <a:srgbClr val="7A7D7E"/>
                </a:solidFill>
                <a:latin typeface="Courier New" pitchFamily="34" charset="0"/>
                <a:ea typeface="Courier New" pitchFamily="34" charset="-122"/>
                <a:cs typeface="Courier New" pitchFamily="34" charset="-120"/>
              </a:rPr>
              <a:t>COFOUNDER</a:t>
            </a:r>
            <a:endParaRPr lang="en-US" sz="1100" dirty="0"/>
          </a:p>
        </p:txBody>
      </p:sp>
      <p:sp>
        <p:nvSpPr>
          <p:cNvPr id="8" name="Text 4"/>
          <p:cNvSpPr txBox="1"/>
          <p:nvPr/>
        </p:nvSpPr>
        <p:spPr>
          <a:xfrm>
            <a:off x="2840711" y="4498848"/>
            <a:ext cx="4754880" cy="365760"/>
          </a:xfrm>
          <a:prstGeom prst="rect">
            <a:avLst/>
          </a:prstGeom>
          <a:noFill/>
          <a:ln/>
        </p:spPr>
        <p:txBody>
          <a:bodyPr wrap="square" lIns="0" tIns="0" rIns="0" bIns="0" rtlCol="0" anchor="ctr"/>
          <a:lstStyle/>
          <a:p>
            <a:pPr indent="0" marL="0">
              <a:buNone/>
            </a:pPr>
            <a:r>
              <a:rPr lang="en-US" sz="1450" dirty="0">
                <a:solidFill>
                  <a:srgbClr val="F4F5F6"/>
                </a:solidFill>
                <a:latin typeface="Calibri" pitchFamily="34" charset="0"/>
                <a:ea typeface="Calibri" pitchFamily="34" charset="-122"/>
                <a:cs typeface="Calibri" pitchFamily="34" charset="-120"/>
              </a:rPr>
              <a:t>recently joined</a:t>
            </a:r>
            <a:endParaRPr lang="en-US" sz="1450" dirty="0"/>
          </a:p>
        </p:txBody>
      </p:sp>
      <p:sp>
        <p:nvSpPr>
          <p:cNvPr id="9" name="Text 5"/>
          <p:cNvSpPr txBox="1"/>
          <p:nvPr/>
        </p:nvSpPr>
        <p:spPr>
          <a:xfrm>
            <a:off x="1011911" y="5065776"/>
            <a:ext cx="1737360" cy="365760"/>
          </a:xfrm>
          <a:prstGeom prst="rect">
            <a:avLst/>
          </a:prstGeom>
          <a:noFill/>
          <a:ln/>
        </p:spPr>
        <p:txBody>
          <a:bodyPr wrap="square" lIns="0" tIns="0" rIns="0" bIns="0" rtlCol="0" anchor="ctr"/>
          <a:lstStyle/>
          <a:p>
            <a:pPr indent="0" marL="0">
              <a:buNone/>
            </a:pPr>
            <a:r>
              <a:rPr lang="en-US" sz="1100" spc="300" kern="0" dirty="0">
                <a:solidFill>
                  <a:srgbClr val="7A7D7E"/>
                </a:solidFill>
                <a:latin typeface="Courier New" pitchFamily="34" charset="0"/>
                <a:ea typeface="Courier New" pitchFamily="34" charset="-122"/>
                <a:cs typeface="Courier New" pitchFamily="34" charset="-120"/>
              </a:rPr>
              <a:t>CAPITAL</a:t>
            </a:r>
            <a:endParaRPr lang="en-US" sz="1100" dirty="0"/>
          </a:p>
        </p:txBody>
      </p:sp>
      <p:sp>
        <p:nvSpPr>
          <p:cNvPr id="10" name="Text 6"/>
          <p:cNvSpPr txBox="1"/>
          <p:nvPr/>
        </p:nvSpPr>
        <p:spPr>
          <a:xfrm>
            <a:off x="2840711" y="5065776"/>
            <a:ext cx="4754880" cy="365760"/>
          </a:xfrm>
          <a:prstGeom prst="rect">
            <a:avLst/>
          </a:prstGeom>
          <a:noFill/>
          <a:ln/>
        </p:spPr>
        <p:txBody>
          <a:bodyPr wrap="square" lIns="0" tIns="0" rIns="0" bIns="0" rtlCol="0" anchor="ctr"/>
          <a:lstStyle/>
          <a:p>
            <a:pPr indent="0" marL="0">
              <a:buNone/>
            </a:pPr>
            <a:r>
              <a:rPr lang="en-US" sz="1450" dirty="0">
                <a:solidFill>
                  <a:srgbClr val="F4F5F6"/>
                </a:solidFill>
                <a:latin typeface="Calibri" pitchFamily="34" charset="0"/>
                <a:ea typeface="Calibri" pitchFamily="34" charset="-122"/>
                <a:cs typeface="Calibri" pitchFamily="34" charset="-120"/>
              </a:rPr>
              <a:t>CAD $1M committed · milestone tranches</a:t>
            </a:r>
            <a:endParaRPr lang="en-US" sz="14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40707"/>
        </a:solidFill>
      </p:bgPr>
    </p:bg>
    <p:spTree>
      <p:nvGrpSpPr>
        <p:cNvPr id="1" name=""/>
        <p:cNvGrpSpPr/>
        <p:nvPr/>
      </p:nvGrpSpPr>
      <p:grpSpPr>
        <a:xfrm>
          <a:off x="0" y="0"/>
          <a:ext cx="0" cy="0"/>
          <a:chOff x="0" y="0"/>
          <a:chExt cx="0" cy="0"/>
        </a:xfrm>
      </p:grpSpPr>
      <p:sp>
        <p:nvSpPr>
          <p:cNvPr id="3" name="Text 0"/>
          <p:cNvSpPr txBox="1"/>
          <p:nvPr/>
        </p:nvSpPr>
        <p:spPr>
          <a:xfrm>
            <a:off x="1011911" y="2880360"/>
            <a:ext cx="10167874" cy="2194560"/>
          </a:xfrm>
          <a:prstGeom prst="rect">
            <a:avLst/>
          </a:prstGeom>
          <a:noFill/>
          <a:ln/>
        </p:spPr>
        <p:txBody>
          <a:bodyPr wrap="square" lIns="0" tIns="0" rIns="0" bIns="0" rtlCol="0" anchor="t"/>
          <a:lstStyle/>
          <a:p>
            <a:pPr algn="ctr" indent="0" marL="0">
              <a:lnSpc>
                <a:spcPct val="108000"/>
              </a:lnSpc>
              <a:buNone/>
            </a:pPr>
            <a:r>
              <a:rPr lang="en-US" sz="5400" dirty="0">
                <a:solidFill>
                  <a:srgbClr val="EABA58"/>
                </a:solidFill>
                <a:latin typeface="Cambria" pitchFamily="34" charset="0"/>
                <a:ea typeface="Cambria" pitchFamily="34" charset="-122"/>
                <a:cs typeface="Cambria" pitchFamily="34" charset="-120"/>
              </a:rPr>
              <a:t>The majority chooses good.</a:t>
            </a:r>
            <a:endParaRPr lang="en-US" sz="5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40707"/>
        </a:solidFill>
      </p:bgPr>
    </p:bg>
    <p:spTree>
      <p:nvGrpSpPr>
        <p:cNvPr id="1" name=""/>
        <p:cNvGrpSpPr/>
        <p:nvPr/>
      </p:nvGrpSpPr>
      <p:grpSpPr>
        <a:xfrm>
          <a:off x="0" y="0"/>
          <a:ext cx="0" cy="0"/>
          <a:chOff x="0" y="0"/>
          <a:chExt cx="0" cy="0"/>
        </a:xfrm>
      </p:grpSpPr>
      <p:sp>
        <p:nvSpPr>
          <p:cNvPr id="2" name="Text 0"/>
          <p:cNvSpPr txBox="1"/>
          <p:nvPr/>
        </p:nvSpPr>
        <p:spPr>
          <a:xfrm>
            <a:off x="1011911" y="6382512"/>
            <a:ext cx="2743200" cy="274320"/>
          </a:xfrm>
          <a:prstGeom prst="rect">
            <a:avLst/>
          </a:prstGeom>
          <a:noFill/>
          <a:ln/>
        </p:spPr>
        <p:txBody>
          <a:bodyPr wrap="square" lIns="0" tIns="0" rIns="0" bIns="0" rtlCol="0" anchor="ctr"/>
          <a:lstStyle/>
          <a:p>
            <a:pPr indent="0" marL="0">
              <a:buNone/>
            </a:pPr>
            <a:r>
              <a:rPr lang="en-US" sz="900" spc="400" kern="0" dirty="0">
                <a:solidFill>
                  <a:srgbClr val="7A7D7E"/>
                </a:solidFill>
                <a:latin typeface="Courier New" pitchFamily="34" charset="0"/>
                <a:ea typeface="Courier New" pitchFamily="34" charset="-122"/>
                <a:cs typeface="Courier New" pitchFamily="34" charset="-120"/>
              </a:rPr>
              <a:t>REPRESENT</a:t>
            </a:r>
            <a:endParaRPr lang="en-US" sz="900" dirty="0"/>
          </a:p>
        </p:txBody>
      </p:sp>
      <p:sp>
        <p:nvSpPr>
          <p:cNvPr id="3" name="Text 1"/>
          <p:cNvSpPr txBox="1"/>
          <p:nvPr/>
        </p:nvSpPr>
        <p:spPr>
          <a:xfrm>
            <a:off x="9350984" y="6382512"/>
            <a:ext cx="1828800" cy="274320"/>
          </a:xfrm>
          <a:prstGeom prst="rect">
            <a:avLst/>
          </a:prstGeom>
          <a:noFill/>
          <a:ln/>
        </p:spPr>
        <p:txBody>
          <a:bodyPr wrap="square" lIns="0" tIns="0" rIns="0" bIns="0" rtlCol="0" anchor="ctr"/>
          <a:lstStyle/>
          <a:p>
            <a:pPr algn="r" indent="0" marL="0">
              <a:buNone/>
            </a:pPr>
            <a:r>
              <a:rPr lang="en-US" sz="900" spc="200" kern="0" dirty="0">
                <a:solidFill>
                  <a:srgbClr val="7A7D7E"/>
                </a:solidFill>
                <a:latin typeface="Courier New" pitchFamily="34" charset="0"/>
                <a:ea typeface="Courier New" pitchFamily="34" charset="-122"/>
                <a:cs typeface="Courier New" pitchFamily="34" charset="-120"/>
              </a:rPr>
              <a:t>15 / 16</a:t>
            </a:r>
            <a:endParaRPr lang="en-US" sz="900" dirty="0"/>
          </a:p>
        </p:txBody>
      </p:sp>
      <p:sp>
        <p:nvSpPr>
          <p:cNvPr id="4" name="Text 2"/>
          <p:cNvSpPr txBox="1"/>
          <p:nvPr/>
        </p:nvSpPr>
        <p:spPr>
          <a:xfrm>
            <a:off x="7064984" y="546354"/>
            <a:ext cx="4114800" cy="274320"/>
          </a:xfrm>
          <a:prstGeom prst="rect">
            <a:avLst/>
          </a:prstGeom>
          <a:noFill/>
          <a:ln/>
        </p:spPr>
        <p:txBody>
          <a:bodyPr wrap="square" lIns="0" tIns="0" rIns="0" bIns="0" rtlCol="0" anchor="ctr"/>
          <a:lstStyle/>
          <a:p>
            <a:pPr algn="r" indent="0" marL="0">
              <a:buNone/>
            </a:pPr>
            <a:r>
              <a:rPr lang="en-US" sz="950" spc="300" kern="0" dirty="0">
                <a:solidFill>
                  <a:srgbClr val="7A7D7E"/>
                </a:solidFill>
                <a:latin typeface="Courier New" pitchFamily="34" charset="0"/>
                <a:ea typeface="Courier New" pitchFamily="34" charset="-122"/>
                <a:cs typeface="Courier New" pitchFamily="34" charset="-120"/>
              </a:rPr>
              <a:t>III · THE BUSINESS</a:t>
            </a:r>
            <a:endParaRPr lang="en-US" sz="950" dirty="0"/>
          </a:p>
        </p:txBody>
      </p:sp>
      <p:sp>
        <p:nvSpPr>
          <p:cNvPr id="6" name="Text 3"/>
          <p:cNvSpPr txBox="1"/>
          <p:nvPr/>
        </p:nvSpPr>
        <p:spPr>
          <a:xfrm>
            <a:off x="1011911" y="957834"/>
            <a:ext cx="10167874" cy="292608"/>
          </a:xfrm>
          <a:prstGeom prst="rect">
            <a:avLst/>
          </a:prstGeom>
          <a:noFill/>
          <a:ln/>
        </p:spPr>
        <p:txBody>
          <a:bodyPr wrap="square" lIns="0" tIns="0" rIns="0" bIns="0" rtlCol="0" anchor="ctr"/>
          <a:lstStyle/>
          <a:p>
            <a:pPr algn="l" indent="0" marL="0">
              <a:buNone/>
            </a:pPr>
            <a:r>
              <a:rPr lang="en-US" sz="1100" spc="400" kern="0" dirty="0">
                <a:solidFill>
                  <a:srgbClr val="7A7D7E"/>
                </a:solidFill>
                <a:latin typeface="Courier New" pitchFamily="34" charset="0"/>
                <a:ea typeface="Courier New" pitchFamily="34" charset="-122"/>
                <a:cs typeface="Courier New" pitchFamily="34" charset="-120"/>
              </a:rPr>
              <a:t>THE CAPITAL, PRECISELY</a:t>
            </a:r>
            <a:endParaRPr lang="en-US" sz="1100" dirty="0"/>
          </a:p>
        </p:txBody>
      </p:sp>
      <p:sp>
        <p:nvSpPr>
          <p:cNvPr id="7" name="Text 4"/>
          <p:cNvSpPr txBox="1"/>
          <p:nvPr/>
        </p:nvSpPr>
        <p:spPr>
          <a:xfrm>
            <a:off x="1011911" y="1600200"/>
            <a:ext cx="7315200" cy="1554480"/>
          </a:xfrm>
          <a:prstGeom prst="rect">
            <a:avLst/>
          </a:prstGeom>
          <a:noFill/>
          <a:ln/>
        </p:spPr>
        <p:txBody>
          <a:bodyPr wrap="square" lIns="0" tIns="0" rIns="0" bIns="0" rtlCol="0" anchor="ctr"/>
          <a:lstStyle/>
          <a:p>
            <a:pPr indent="0" marL="0">
              <a:buNone/>
            </a:pPr>
            <a:r>
              <a:rPr lang="en-US" sz="9200" dirty="0">
                <a:solidFill>
                  <a:srgbClr val="EABA58"/>
                </a:solidFill>
                <a:latin typeface="Cambria" pitchFamily="34" charset="0"/>
                <a:ea typeface="Cambria" pitchFamily="34" charset="-122"/>
                <a:cs typeface="Cambria" pitchFamily="34" charset="-120"/>
              </a:rPr>
              <a:t>CAD $1M</a:t>
            </a:r>
            <a:endParaRPr lang="en-US" sz="9200" dirty="0"/>
          </a:p>
        </p:txBody>
      </p:sp>
      <p:sp>
        <p:nvSpPr>
          <p:cNvPr id="8" name="Text 5"/>
          <p:cNvSpPr txBox="1"/>
          <p:nvPr/>
        </p:nvSpPr>
        <p:spPr>
          <a:xfrm>
            <a:off x="1011911" y="3200400"/>
            <a:ext cx="9144000" cy="320040"/>
          </a:xfrm>
          <a:prstGeom prst="rect">
            <a:avLst/>
          </a:prstGeom>
          <a:noFill/>
          <a:ln/>
        </p:spPr>
        <p:txBody>
          <a:bodyPr wrap="square" lIns="0" tIns="0" rIns="0" bIns="0" rtlCol="0" anchor="ctr"/>
          <a:lstStyle/>
          <a:p>
            <a:pPr indent="0" marL="0">
              <a:buNone/>
            </a:pPr>
            <a:r>
              <a:rPr lang="en-US" sz="1200" spc="300" kern="0" dirty="0">
                <a:solidFill>
                  <a:srgbClr val="B8BABB"/>
                </a:solidFill>
                <a:latin typeface="Courier New" pitchFamily="34" charset="0"/>
                <a:ea typeface="Courier New" pitchFamily="34" charset="-122"/>
                <a:cs typeface="Courier New" pitchFamily="34" charset="-120"/>
              </a:rPr>
              <a:t>COMMITTED · IN TRANCHES TIED TO VERIFIED-USER MILESTONES</a:t>
            </a:r>
            <a:endParaRPr lang="en-US" sz="1200" dirty="0"/>
          </a:p>
        </p:txBody>
      </p:sp>
      <p:sp>
        <p:nvSpPr>
          <p:cNvPr id="9" name="Text 6"/>
          <p:cNvSpPr txBox="1"/>
          <p:nvPr/>
        </p:nvSpPr>
        <p:spPr>
          <a:xfrm>
            <a:off x="1011911" y="3977640"/>
            <a:ext cx="4023360" cy="384048"/>
          </a:xfrm>
          <a:prstGeom prst="rect">
            <a:avLst/>
          </a:prstGeom>
          <a:noFill/>
          <a:ln/>
        </p:spPr>
        <p:txBody>
          <a:bodyPr wrap="square" lIns="0" tIns="0" rIns="0" bIns="0" rtlCol="0" anchor="ctr"/>
          <a:lstStyle/>
          <a:p>
            <a:pPr indent="0" marL="0">
              <a:buNone/>
            </a:pPr>
            <a:r>
              <a:rPr lang="en-US" sz="1200" spc="300" kern="0" dirty="0">
                <a:solidFill>
                  <a:srgbClr val="7A7D7E"/>
                </a:solidFill>
                <a:latin typeface="Courier New" pitchFamily="34" charset="0"/>
                <a:ea typeface="Courier New" pitchFamily="34" charset="-122"/>
                <a:cs typeface="Courier New" pitchFamily="34" charset="-120"/>
              </a:rPr>
              <a:t>JOB ONE</a:t>
            </a:r>
            <a:endParaRPr lang="en-US" sz="1200" dirty="0"/>
          </a:p>
        </p:txBody>
      </p:sp>
      <p:sp>
        <p:nvSpPr>
          <p:cNvPr id="10" name="Text 7"/>
          <p:cNvSpPr txBox="1"/>
          <p:nvPr/>
        </p:nvSpPr>
        <p:spPr>
          <a:xfrm>
            <a:off x="5035271" y="3977640"/>
            <a:ext cx="2377440" cy="384048"/>
          </a:xfrm>
          <a:prstGeom prst="rect">
            <a:avLst/>
          </a:prstGeom>
          <a:noFill/>
          <a:ln/>
        </p:spPr>
        <p:txBody>
          <a:bodyPr wrap="square" lIns="0" tIns="0" rIns="0" bIns="0" rtlCol="0" anchor="ctr"/>
          <a:lstStyle/>
          <a:p>
            <a:pPr algn="r" indent="0" marL="0">
              <a:buNone/>
            </a:pPr>
            <a:r>
              <a:rPr lang="en-US" sz="1200" spc="100" kern="0" dirty="0">
                <a:solidFill>
                  <a:srgbClr val="F4F5F6"/>
                </a:solidFill>
                <a:latin typeface="Courier New" pitchFamily="34" charset="0"/>
                <a:ea typeface="Courier New" pitchFamily="34" charset="-122"/>
                <a:cs typeface="Courier New" pitchFamily="34" charset="-120"/>
              </a:rPr>
              <a:t>the first verified constituency</a:t>
            </a:r>
            <a:endParaRPr lang="en-US" sz="1200" dirty="0"/>
          </a:p>
        </p:txBody>
      </p:sp>
      <p:sp>
        <p:nvSpPr>
          <p:cNvPr id="11" name="Text 8"/>
          <p:cNvSpPr txBox="1"/>
          <p:nvPr/>
        </p:nvSpPr>
        <p:spPr>
          <a:xfrm>
            <a:off x="7732751" y="3977640"/>
            <a:ext cx="2926080" cy="384048"/>
          </a:xfrm>
          <a:prstGeom prst="rect">
            <a:avLst/>
          </a:prstGeom>
          <a:noFill/>
          <a:ln/>
        </p:spPr>
        <p:txBody>
          <a:bodyPr wrap="square" lIns="0" tIns="0" rIns="0" bIns="0" rtlCol="0" anchor="ctr"/>
          <a:lstStyle/>
          <a:p>
            <a:pPr indent="0" marL="0">
              <a:buNone/>
            </a:pPr>
            <a:r>
              <a:rPr lang="en-US" sz="1000" spc="200" kern="0" dirty="0">
                <a:solidFill>
                  <a:srgbClr val="7A7D7E"/>
                </a:solidFill>
                <a:latin typeface="Courier New" pitchFamily="34" charset="0"/>
                <a:ea typeface="Courier New" pitchFamily="34" charset="-122"/>
                <a:cs typeface="Courier New" pitchFamily="34" charset="-120"/>
              </a:rPr>
              <a:t>ALBERTA</a:t>
            </a:r>
            <a:endParaRPr lang="en-US" sz="1000" dirty="0"/>
          </a:p>
        </p:txBody>
      </p:sp>
      <p:sp>
        <p:nvSpPr>
          <p:cNvPr id="12" name="Shape 9"/>
          <p:cNvSpPr/>
          <p:nvPr/>
        </p:nvSpPr>
        <p:spPr>
          <a:xfrm>
            <a:off x="1011911" y="4434840"/>
            <a:ext cx="9646920" cy="10973"/>
          </a:xfrm>
          <a:prstGeom prst="rect">
            <a:avLst/>
          </a:prstGeom>
          <a:solidFill>
            <a:srgbClr val="2A2F30"/>
          </a:solidFill>
          <a:ln/>
        </p:spPr>
      </p:sp>
      <p:sp>
        <p:nvSpPr>
          <p:cNvPr id="13" name="Text 10"/>
          <p:cNvSpPr txBox="1"/>
          <p:nvPr/>
        </p:nvSpPr>
        <p:spPr>
          <a:xfrm>
            <a:off x="1011911" y="4636008"/>
            <a:ext cx="4023360" cy="384048"/>
          </a:xfrm>
          <a:prstGeom prst="rect">
            <a:avLst/>
          </a:prstGeom>
          <a:noFill/>
          <a:ln/>
        </p:spPr>
        <p:txBody>
          <a:bodyPr wrap="square" lIns="0" tIns="0" rIns="0" bIns="0" rtlCol="0" anchor="ctr"/>
          <a:lstStyle/>
          <a:p>
            <a:pPr indent="0" marL="0">
              <a:buNone/>
            </a:pPr>
            <a:r>
              <a:rPr lang="en-US" sz="1200" spc="300" kern="0" dirty="0">
                <a:solidFill>
                  <a:srgbClr val="7A7D7E"/>
                </a:solidFill>
                <a:latin typeface="Courier New" pitchFamily="34" charset="0"/>
                <a:ea typeface="Courier New" pitchFamily="34" charset="-122"/>
                <a:cs typeface="Courier New" pitchFamily="34" charset="-120"/>
              </a:rPr>
              <a:t>JOB TWO</a:t>
            </a:r>
            <a:endParaRPr lang="en-US" sz="1200" dirty="0"/>
          </a:p>
        </p:txBody>
      </p:sp>
      <p:sp>
        <p:nvSpPr>
          <p:cNvPr id="14" name="Text 11"/>
          <p:cNvSpPr txBox="1"/>
          <p:nvPr/>
        </p:nvSpPr>
        <p:spPr>
          <a:xfrm>
            <a:off x="5035271" y="4636008"/>
            <a:ext cx="2377440" cy="384048"/>
          </a:xfrm>
          <a:prstGeom prst="rect">
            <a:avLst/>
          </a:prstGeom>
          <a:noFill/>
          <a:ln/>
        </p:spPr>
        <p:txBody>
          <a:bodyPr wrap="square" lIns="0" tIns="0" rIns="0" bIns="0" rtlCol="0" anchor="ctr"/>
          <a:lstStyle/>
          <a:p>
            <a:pPr algn="r" indent="0" marL="0">
              <a:buNone/>
            </a:pPr>
            <a:r>
              <a:rPr lang="en-US" sz="1200" spc="100" kern="0" dirty="0">
                <a:solidFill>
                  <a:srgbClr val="F4F5F6"/>
                </a:solidFill>
                <a:latin typeface="Courier New" pitchFamily="34" charset="0"/>
                <a:ea typeface="Courier New" pitchFamily="34" charset="-122"/>
                <a:cs typeface="Courier New" pitchFamily="34" charset="-120"/>
              </a:rPr>
              <a:t>the first paying organizations</a:t>
            </a:r>
            <a:endParaRPr lang="en-US" sz="1200" dirty="0"/>
          </a:p>
        </p:txBody>
      </p:sp>
      <p:sp>
        <p:nvSpPr>
          <p:cNvPr id="15" name="Text 12"/>
          <p:cNvSpPr txBox="1"/>
          <p:nvPr/>
        </p:nvSpPr>
        <p:spPr>
          <a:xfrm>
            <a:off x="7732751" y="4636008"/>
            <a:ext cx="2926080" cy="384048"/>
          </a:xfrm>
          <a:prstGeom prst="rect">
            <a:avLst/>
          </a:prstGeom>
          <a:noFill/>
          <a:ln/>
        </p:spPr>
        <p:txBody>
          <a:bodyPr wrap="square" lIns="0" tIns="0" rIns="0" bIns="0" rtlCol="0" anchor="ctr"/>
          <a:lstStyle/>
          <a:p>
            <a:pPr indent="0" marL="0">
              <a:buNone/>
            </a:pPr>
            <a:r>
              <a:rPr lang="en-US" sz="1000" spc="200" kern="0" dirty="0">
                <a:solidFill>
                  <a:srgbClr val="7A7D7E"/>
                </a:solidFill>
                <a:latin typeface="Courier New" pitchFamily="34" charset="0"/>
                <a:ea typeface="Courier New" pitchFamily="34" charset="-122"/>
                <a:cs typeface="Courier New" pitchFamily="34" charset="-120"/>
              </a:rPr>
              <a:t>SIGNED</a:t>
            </a:r>
            <a:endParaRPr lang="en-US" sz="1000" dirty="0"/>
          </a:p>
        </p:txBody>
      </p:sp>
      <p:sp>
        <p:nvSpPr>
          <p:cNvPr id="16" name="Text 13"/>
          <p:cNvSpPr txBox="1"/>
          <p:nvPr/>
        </p:nvSpPr>
        <p:spPr>
          <a:xfrm>
            <a:off x="1011911" y="5550408"/>
            <a:ext cx="10167874" cy="2194560"/>
          </a:xfrm>
          <a:prstGeom prst="rect">
            <a:avLst/>
          </a:prstGeom>
          <a:noFill/>
          <a:ln/>
        </p:spPr>
        <p:txBody>
          <a:bodyPr wrap="square" lIns="0" tIns="0" rIns="0" bIns="0" rtlCol="0" anchor="t"/>
          <a:lstStyle/>
          <a:p>
            <a:pPr algn="l" indent="0" marL="0">
              <a:lnSpc>
                <a:spcPct val="108000"/>
              </a:lnSpc>
              <a:buNone/>
            </a:pPr>
            <a:r>
              <a:rPr lang="en-US" sz="2600" dirty="0">
                <a:solidFill>
                  <a:srgbClr val="B8BABB"/>
                </a:solidFill>
                <a:latin typeface="Cambria" pitchFamily="34" charset="0"/>
                <a:ea typeface="Cambria" pitchFamily="34" charset="-122"/>
                <a:cs typeface="Cambria" pitchFamily="34" charset="-120"/>
              </a:rPr>
              <a:t>Canada asked three questions in 159 years. </a:t>
            </a:r>
            <a:pPr algn="l" indent="0" marL="0">
              <a:lnSpc>
                <a:spcPct val="108000"/>
              </a:lnSpc>
              <a:buNone/>
            </a:pPr>
            <a:r>
              <a:rPr lang="en-US" sz="2600" dirty="0">
                <a:solidFill>
                  <a:srgbClr val="F4F5F6"/>
                </a:solidFill>
                <a:latin typeface="Cambria" pitchFamily="34" charset="0"/>
                <a:ea typeface="Cambria" pitchFamily="34" charset="-122"/>
                <a:cs typeface="Cambria" pitchFamily="34" charset="-120"/>
              </a:rPr>
              <a:t>Help us ask the fourth.</a:t>
            </a:r>
            <a:endParaRPr lang="en-US" sz="2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40707"/>
        </a:solidFill>
      </p:bgPr>
    </p:bg>
    <p:spTree>
      <p:nvGrpSpPr>
        <p:cNvPr id="1" name=""/>
        <p:cNvGrpSpPr/>
        <p:nvPr/>
      </p:nvGrpSpPr>
      <p:grpSpPr>
        <a:xfrm>
          <a:off x="0" y="0"/>
          <a:ext cx="0" cy="0"/>
          <a:chOff x="0" y="0"/>
          <a:chExt cx="0" cy="0"/>
        </a:xfrm>
      </p:grpSpPr>
      <p:pic>
        <p:nvPicPr>
          <p:cNvPr id="3" name="Image 0" descr="/home/user/rpv-mobile-clone/pitch/deck/icon.png">    </p:cNvPr>
          <p:cNvPicPr>
            <a:picLocks noChangeAspect="1"/>
          </p:cNvPicPr>
          <p:nvPr/>
        </p:nvPicPr>
        <p:blipFill>
          <a:blip r:embed="rId1"/>
          <a:stretch>
            <a:fillRect/>
          </a:stretch>
        </p:blipFill>
        <p:spPr>
          <a:xfrm>
            <a:off x="5730088" y="1828800"/>
            <a:ext cx="731520" cy="731520"/>
          </a:xfrm>
          <a:prstGeom prst="rect">
            <a:avLst/>
          </a:prstGeom>
        </p:spPr>
      </p:pic>
      <p:sp>
        <p:nvSpPr>
          <p:cNvPr id="4" name="Text 0"/>
          <p:cNvSpPr txBox="1"/>
          <p:nvPr/>
        </p:nvSpPr>
        <p:spPr>
          <a:xfrm>
            <a:off x="1011911" y="2971800"/>
            <a:ext cx="10167874" cy="2194560"/>
          </a:xfrm>
          <a:prstGeom prst="rect">
            <a:avLst/>
          </a:prstGeom>
          <a:noFill/>
          <a:ln/>
        </p:spPr>
        <p:txBody>
          <a:bodyPr wrap="square" lIns="0" tIns="0" rIns="0" bIns="0" rtlCol="0" anchor="t"/>
          <a:lstStyle/>
          <a:p>
            <a:pPr algn="ctr" indent="0" marL="0">
              <a:lnSpc>
                <a:spcPct val="108000"/>
              </a:lnSpc>
              <a:buNone/>
            </a:pPr>
            <a:r>
              <a:rPr lang="en-US" sz="4200" dirty="0">
                <a:solidFill>
                  <a:srgbClr val="F4F5F6"/>
                </a:solidFill>
                <a:latin typeface="Cambria" pitchFamily="34" charset="0"/>
                <a:ea typeface="Cambria" pitchFamily="34" charset="-122"/>
                <a:cs typeface="Cambria" pitchFamily="34" charset="-120"/>
              </a:rPr>
              <a:t>Stop being counted. </a:t>
            </a:r>
            <a:pPr algn="ctr" indent="0" marL="0">
              <a:lnSpc>
                <a:spcPct val="108000"/>
              </a:lnSpc>
              <a:buNone/>
            </a:pPr>
            <a:r>
              <a:rPr lang="en-US" sz="4200" dirty="0">
                <a:solidFill>
                  <a:srgbClr val="EABA58"/>
                </a:solidFill>
                <a:latin typeface="Cambria" pitchFamily="34" charset="0"/>
                <a:ea typeface="Cambria" pitchFamily="34" charset="-122"/>
                <a:cs typeface="Cambria" pitchFamily="34" charset="-120"/>
              </a:rPr>
              <a:t>Start counting.</a:t>
            </a:r>
            <a:endParaRPr lang="en-US" sz="4200" dirty="0"/>
          </a:p>
        </p:txBody>
      </p:sp>
      <p:sp>
        <p:nvSpPr>
          <p:cNvPr id="5" name="Text 1"/>
          <p:cNvSpPr txBox="1"/>
          <p:nvPr/>
        </p:nvSpPr>
        <p:spPr>
          <a:xfrm>
            <a:off x="1011911" y="4206240"/>
            <a:ext cx="10167874" cy="320040"/>
          </a:xfrm>
          <a:prstGeom prst="rect">
            <a:avLst/>
          </a:prstGeom>
          <a:noFill/>
          <a:ln/>
        </p:spPr>
        <p:txBody>
          <a:bodyPr wrap="square" lIns="0" tIns="0" rIns="0" bIns="0" rtlCol="0" anchor="ctr"/>
          <a:lstStyle/>
          <a:p>
            <a:pPr algn="ctr" indent="0" marL="0">
              <a:buNone/>
            </a:pPr>
            <a:r>
              <a:rPr lang="en-US" sz="1150" spc="300" kern="0" dirty="0">
                <a:solidFill>
                  <a:srgbClr val="7A7D7E"/>
                </a:solidFill>
                <a:latin typeface="Courier New" pitchFamily="34" charset="0"/>
                <a:ea typeface="Courier New" pitchFamily="34" charset="-122"/>
                <a:cs typeface="Courier New" pitchFamily="34" charset="-120"/>
              </a:rPr>
              <a:t>LIVE ON THE APP STORE  ·  REPRESENTVOTE.COM</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Represent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Represent — The Other 1,460 Days</dc:title>
  <dc:subject>PptxGenJS Presentation</dc:subject>
  <dc:creator>Lance Morrison</dc:creator>
  <cp:lastModifiedBy>Lance Morrison</cp:lastModifiedBy>
  <cp:revision>1</cp:revision>
  <dcterms:created xsi:type="dcterms:W3CDTF">2026-09-02T22:34:57Z</dcterms:created>
  <dcterms:modified xsi:type="dcterms:W3CDTF">2026-09-02T22:34:57Z</dcterms:modified>
</cp:coreProperties>
</file>